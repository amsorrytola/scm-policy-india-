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5759450" cy="3240088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87640" y="42480"/>
            <a:ext cx="5183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287640" y="673560"/>
            <a:ext cx="5183280" cy="166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87640" y="114840"/>
            <a:ext cx="5183280" cy="48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287640" y="673560"/>
            <a:ext cx="5183280" cy="166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49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3060000" y="539640"/>
            <a:ext cx="3960360" cy="3960720"/>
          </a:xfrm>
          <a:custGeom>
            <a:avLst/>
            <a:gdLst/>
            <a:ahLst/>
            <a:rect l="0" t="0" r="r" b="b"/>
            <a:pathLst>
              <a:path w="11001" h="11002">
                <a:moveTo>
                  <a:pt x="11001" y="5502"/>
                </a:moveTo>
                <a:cubicBezTo>
                  <a:pt x="11001" y="2463"/>
                  <a:pt x="8538" y="0"/>
                  <a:pt x="5500" y="0"/>
                </a:cubicBezTo>
                <a:cubicBezTo>
                  <a:pt x="2462" y="0"/>
                  <a:pt x="0" y="2463"/>
                  <a:pt x="0" y="5502"/>
                </a:cubicBezTo>
                <a:cubicBezTo>
                  <a:pt x="0" y="8539"/>
                  <a:pt x="2462" y="11002"/>
                  <a:pt x="5500" y="11002"/>
                </a:cubicBezTo>
                <a:cubicBezTo>
                  <a:pt x="8538" y="11002"/>
                  <a:pt x="11001" y="8539"/>
                  <a:pt x="11001" y="5502"/>
                </a:cubicBezTo>
                <a:close/>
              </a:path>
            </a:pathLst>
          </a:custGeom>
          <a:solidFill>
            <a:srgbClr val="1a6ab5">
              <a:alpha val="18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-360" y="-360"/>
            <a:ext cx="1620720" cy="3240720"/>
          </a:xfrm>
          <a:custGeom>
            <a:avLst/>
            <a:gdLst/>
            <a:ahLst/>
            <a:rect l="0" t="0" r="r" b="b"/>
            <a:pathLst>
              <a:path w="4502" h="9002">
                <a:moveTo>
                  <a:pt x="0" y="0"/>
                </a:moveTo>
                <a:lnTo>
                  <a:pt x="4502" y="0"/>
                </a:lnTo>
                <a:cubicBezTo>
                  <a:pt x="2502" y="3001"/>
                  <a:pt x="2502" y="6002"/>
                  <a:pt x="3502" y="9002"/>
                </a:cubicBezTo>
                <a:lnTo>
                  <a:pt x="0" y="9002"/>
                </a:lnTo>
                <a:lnTo>
                  <a:pt x="0" y="0"/>
                </a:lnTo>
                <a:close/>
              </a:path>
            </a:pathLst>
          </a:custGeom>
          <a:solidFill>
            <a:srgbClr val="0a3a66">
              <a:alpha val="55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305640" y="503640"/>
            <a:ext cx="0" cy="2232360"/>
          </a:xfrm>
          <a:prstGeom prst="line">
            <a:avLst/>
          </a:prstGeom>
          <a:ln w="2520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305640" y="431640"/>
            <a:ext cx="5094360" cy="0"/>
          </a:xfrm>
          <a:prstGeom prst="line">
            <a:avLst/>
          </a:prstGeom>
          <a:ln w="504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360000" y="443520"/>
            <a:ext cx="83448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fffff"/>
                </a:solidFill>
                <a:latin typeface="LMSans10"/>
                <a:ea typeface="LMSans10"/>
              </a:rPr>
              <a:t>Causal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288800" y="443520"/>
            <a:ext cx="222264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fffff"/>
                </a:solidFill>
                <a:latin typeface="LMSans10"/>
                <a:ea typeface="LMSans10"/>
              </a:rPr>
              <a:t>Impact of Bihar’s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60000" y="808560"/>
            <a:ext cx="164520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4a261"/>
                </a:solidFill>
                <a:latin typeface="LMSans10"/>
                <a:ea typeface="LMSans10"/>
              </a:rPr>
              <a:t>2016 Alcohol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101680" y="808560"/>
            <a:ext cx="138744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4a261"/>
                </a:solidFill>
                <a:latin typeface="LMSans10"/>
                <a:ea typeface="LMSans10"/>
              </a:rPr>
              <a:t>Prohibition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360000" y="1297440"/>
            <a:ext cx="10537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e5e7eb"/>
                </a:solidFill>
                <a:latin typeface="LMSans10"/>
                <a:ea typeface="LMSans10"/>
              </a:rPr>
              <a:t>A Synthetic Control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456200" y="1297440"/>
            <a:ext cx="11710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e5e7eb"/>
                </a:solidFill>
                <a:latin typeface="LMSans10"/>
                <a:ea typeface="LMSans10"/>
              </a:rPr>
              <a:t>&amp; Bayesian Structural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60000" y="1449360"/>
            <a:ext cx="10872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e5e7eb"/>
                </a:solidFill>
                <a:latin typeface="LMSans10"/>
                <a:ea typeface="LMSans10"/>
              </a:rPr>
              <a:t>Time Series Analysis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60000" y="1927440"/>
            <a:ext cx="14698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fffff"/>
                </a:solidFill>
                <a:latin typeface="LMSans10"/>
                <a:ea typeface="LMSans10"/>
              </a:rPr>
              <a:t>Mohammed Talha Ansari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884240" y="192744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f4a261"/>
                </a:solidFill>
                <a:latin typeface="LMSans10"/>
                <a:ea typeface="LMSans10"/>
              </a:rPr>
              <a:t>|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1988640" y="1944720"/>
            <a:ext cx="531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e5e7eb"/>
                </a:solidFill>
                <a:latin typeface="LMMono10"/>
                <a:ea typeface="LMMono10"/>
              </a:rPr>
              <a:t>23322016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60000" y="2157120"/>
            <a:ext cx="1561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e5e7eb"/>
                </a:solidFill>
                <a:latin typeface="LMSans9"/>
                <a:ea typeface="LMSans9"/>
              </a:rPr>
              <a:t>BS-MS Economics, IIT Roorkee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60000" y="2343600"/>
            <a:ext cx="1494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e5e7eb"/>
                </a:solidFill>
                <a:latin typeface="LMSans9"/>
                <a:ea typeface="LMSans9"/>
              </a:rPr>
              <a:t>HST-102 Time Series Analysis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60000" y="2793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Font Awesome 5 Free Solid"/>
                <a:ea typeface="Font Awesome 5 Free Solid"/>
              </a:rPr>
              <a:t>z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02200" y="2784600"/>
            <a:ext cx="44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Sans8"/>
                <a:ea typeface="LMSans8"/>
              </a:rPr>
              <a:t>May 2026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088640" y="2784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4a261"/>
                </a:solidFill>
                <a:latin typeface="LMSans8"/>
                <a:ea typeface="LMSans8"/>
              </a:rPr>
              <a:t>|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1262160" y="2793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3674880" y="610920"/>
            <a:ext cx="1594440" cy="1476360"/>
          </a:xfrm>
          <a:custGeom>
            <a:avLst/>
            <a:gdLst/>
            <a:ahLst/>
            <a:rect l="0" t="0" r="r" b="b"/>
            <a:pathLst>
              <a:path w="4429" h="4101">
                <a:moveTo>
                  <a:pt x="0" y="3890"/>
                </a:moveTo>
                <a:lnTo>
                  <a:pt x="0" y="211"/>
                </a:lnTo>
                <a:cubicBezTo>
                  <a:pt x="0" y="95"/>
                  <a:pt x="94" y="0"/>
                  <a:pt x="211" y="0"/>
                </a:cubicBezTo>
                <a:lnTo>
                  <a:pt x="4218" y="0"/>
                </a:lnTo>
                <a:cubicBezTo>
                  <a:pt x="4334" y="0"/>
                  <a:pt x="4429" y="95"/>
                  <a:pt x="4429" y="211"/>
                </a:cubicBezTo>
                <a:lnTo>
                  <a:pt x="4429" y="3890"/>
                </a:lnTo>
                <a:cubicBezTo>
                  <a:pt x="4429" y="4007"/>
                  <a:pt x="4334" y="4101"/>
                  <a:pt x="4218" y="4101"/>
                </a:cubicBezTo>
                <a:lnTo>
                  <a:pt x="211" y="4101"/>
                </a:lnTo>
                <a:cubicBezTo>
                  <a:pt x="94" y="4101"/>
                  <a:pt x="0" y="4007"/>
                  <a:pt x="0" y="3890"/>
                </a:cubicBezTo>
                <a:close/>
              </a:path>
            </a:pathLst>
          </a:custGeom>
          <a:noFill/>
          <a:ln w="7560">
            <a:solidFill>
              <a:srgbClr val="ffffff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413720" y="2798640"/>
            <a:ext cx="154908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e5e7eb"/>
                </a:solidFill>
                <a:latin typeface="LMMono8"/>
                <a:ea typeface="LMMono8"/>
              </a:rPr>
              <a:t>amsorrytola/scm-policy-india-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3748680" y="773280"/>
            <a:ext cx="1446480" cy="0"/>
          </a:xfrm>
          <a:prstGeom prst="line">
            <a:avLst/>
          </a:prstGeom>
          <a:ln w="504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3792960" y="1909800"/>
            <a:ext cx="1357920" cy="0"/>
          </a:xfrm>
          <a:prstGeom prst="line">
            <a:avLst/>
          </a:prstGeom>
          <a:ln w="5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 flipV="1">
            <a:off x="3792960" y="876600"/>
            <a:ext cx="0" cy="1033200"/>
          </a:xfrm>
          <a:prstGeom prst="line">
            <a:avLst/>
          </a:prstGeom>
          <a:ln w="5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 flipV="1">
            <a:off x="4353840" y="876600"/>
            <a:ext cx="0" cy="1033200"/>
          </a:xfrm>
          <a:prstGeom prst="line">
            <a:avLst/>
          </a:prstGeom>
          <a:ln w="8640">
            <a:solidFill>
              <a:srgbClr val="f4a261"/>
            </a:solidFill>
            <a:custDash>
              <a:ds d="437500" sp="437500"/>
            </a:custDash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797640" y="632880"/>
            <a:ext cx="1420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Road accident deaths — Bihar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792960" y="1157040"/>
            <a:ext cx="1328760" cy="208800"/>
          </a:xfrm>
          <a:custGeom>
            <a:avLst/>
            <a:gdLst/>
            <a:ahLst/>
            <a:rect l="0" t="0" r="r" b="b"/>
            <a:pathLst>
              <a:path fill="none" w="3691" h="580">
                <a:moveTo>
                  <a:pt x="0" y="0"/>
                </a:moveTo>
                <a:cubicBezTo>
                  <a:pt x="0" y="0"/>
                  <a:pt x="276" y="46"/>
                  <a:pt x="451" y="82"/>
                </a:cubicBezTo>
                <a:cubicBezTo>
                  <a:pt x="626" y="119"/>
                  <a:pt x="727" y="149"/>
                  <a:pt x="902" y="189"/>
                </a:cubicBezTo>
                <a:cubicBezTo>
                  <a:pt x="1077" y="229"/>
                  <a:pt x="1225" y="265"/>
                  <a:pt x="1353" y="287"/>
                </a:cubicBezTo>
                <a:cubicBezTo>
                  <a:pt x="1480" y="310"/>
                  <a:pt x="1438" y="280"/>
                  <a:pt x="1558" y="304"/>
                </a:cubicBezTo>
                <a:cubicBezTo>
                  <a:pt x="1677" y="328"/>
                  <a:pt x="1801" y="369"/>
                  <a:pt x="1968" y="410"/>
                </a:cubicBezTo>
                <a:cubicBezTo>
                  <a:pt x="2135" y="452"/>
                  <a:pt x="2244" y="485"/>
                  <a:pt x="2420" y="517"/>
                </a:cubicBezTo>
                <a:cubicBezTo>
                  <a:pt x="2595" y="550"/>
                  <a:pt x="2696" y="566"/>
                  <a:pt x="2871" y="575"/>
                </a:cubicBezTo>
                <a:cubicBezTo>
                  <a:pt x="3046" y="585"/>
                  <a:pt x="3163" y="578"/>
                  <a:pt x="3322" y="567"/>
                </a:cubicBezTo>
                <a:cubicBezTo>
                  <a:pt x="3481" y="556"/>
                  <a:pt x="3691" y="517"/>
                  <a:pt x="3691" y="517"/>
                </a:cubicBezTo>
              </a:path>
            </a:pathLst>
          </a:custGeom>
          <a:ln w="12600">
            <a:solidFill>
              <a:srgbClr val="ffffff"/>
            </a:solidFill>
            <a:custDash>
              <a:ds d="300000" sp="300000"/>
            </a:custDash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3792960" y="994680"/>
            <a:ext cx="1328760" cy="497160"/>
          </a:xfrm>
          <a:custGeom>
            <a:avLst/>
            <a:gdLst/>
            <a:ahLst/>
            <a:rect l="0" t="0" r="r" b="b"/>
            <a:pathLst>
              <a:path fill="none" w="3691" h="1381">
                <a:moveTo>
                  <a:pt x="0" y="369"/>
                </a:moveTo>
                <a:cubicBezTo>
                  <a:pt x="0" y="369"/>
                  <a:pt x="301" y="424"/>
                  <a:pt x="451" y="451"/>
                </a:cubicBezTo>
                <a:cubicBezTo>
                  <a:pt x="601" y="479"/>
                  <a:pt x="752" y="499"/>
                  <a:pt x="902" y="533"/>
                </a:cubicBezTo>
                <a:cubicBezTo>
                  <a:pt x="1052" y="567"/>
                  <a:pt x="1244" y="619"/>
                  <a:pt x="1353" y="656"/>
                </a:cubicBezTo>
                <a:cubicBezTo>
                  <a:pt x="1462" y="694"/>
                  <a:pt x="1455" y="639"/>
                  <a:pt x="1558" y="756"/>
                </a:cubicBezTo>
                <a:cubicBezTo>
                  <a:pt x="1660" y="872"/>
                  <a:pt x="1824" y="1278"/>
                  <a:pt x="1968" y="1354"/>
                </a:cubicBezTo>
                <a:cubicBezTo>
                  <a:pt x="2111" y="1431"/>
                  <a:pt x="2269" y="1331"/>
                  <a:pt x="2420" y="1215"/>
                </a:cubicBezTo>
                <a:cubicBezTo>
                  <a:pt x="2570" y="1099"/>
                  <a:pt x="2721" y="825"/>
                  <a:pt x="2871" y="656"/>
                </a:cubicBezTo>
                <a:cubicBezTo>
                  <a:pt x="3021" y="488"/>
                  <a:pt x="3185" y="314"/>
                  <a:pt x="3322" y="205"/>
                </a:cubicBezTo>
                <a:cubicBezTo>
                  <a:pt x="3458" y="96"/>
                  <a:pt x="3691" y="0"/>
                  <a:pt x="3691" y="0"/>
                </a:cubicBezTo>
              </a:path>
            </a:pathLst>
          </a:custGeom>
          <a:ln w="20160">
            <a:solidFill>
              <a:srgbClr val="f4a261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3778200" y="111312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82" y="40"/>
                </a:moveTo>
                <a:cubicBezTo>
                  <a:pt x="82" y="18"/>
                  <a:pt x="64" y="0"/>
                  <a:pt x="42" y="0"/>
                </a:cubicBezTo>
                <a:cubicBezTo>
                  <a:pt x="18" y="0"/>
                  <a:pt x="0" y="18"/>
                  <a:pt x="0" y="40"/>
                </a:cubicBezTo>
                <a:cubicBezTo>
                  <a:pt x="0" y="63"/>
                  <a:pt x="18" y="82"/>
                  <a:pt x="42" y="82"/>
                </a:cubicBezTo>
                <a:cubicBezTo>
                  <a:pt x="64" y="82"/>
                  <a:pt x="82" y="63"/>
                  <a:pt x="82" y="40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4339080" y="125172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82" y="42"/>
                </a:moveTo>
                <a:cubicBezTo>
                  <a:pt x="82" y="19"/>
                  <a:pt x="63" y="0"/>
                  <a:pt x="41" y="0"/>
                </a:cubicBezTo>
                <a:cubicBezTo>
                  <a:pt x="18" y="0"/>
                  <a:pt x="0" y="19"/>
                  <a:pt x="0" y="42"/>
                </a:cubicBezTo>
                <a:cubicBezTo>
                  <a:pt x="0" y="64"/>
                  <a:pt x="18" y="82"/>
                  <a:pt x="41" y="82"/>
                </a:cubicBezTo>
                <a:cubicBezTo>
                  <a:pt x="63" y="82"/>
                  <a:pt x="82" y="64"/>
                  <a:pt x="82" y="42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5104800" y="978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93" y="46"/>
                </a:moveTo>
                <a:cubicBezTo>
                  <a:pt x="93" y="21"/>
                  <a:pt x="72" y="0"/>
                  <a:pt x="47" y="0"/>
                </a:cubicBezTo>
                <a:cubicBezTo>
                  <a:pt x="20" y="0"/>
                  <a:pt x="0" y="21"/>
                  <a:pt x="0" y="46"/>
                </a:cubicBezTo>
                <a:cubicBezTo>
                  <a:pt x="0" y="72"/>
                  <a:pt x="20" y="93"/>
                  <a:pt x="47" y="93"/>
                </a:cubicBezTo>
                <a:cubicBezTo>
                  <a:pt x="72" y="93"/>
                  <a:pt x="93" y="72"/>
                  <a:pt x="93" y="46"/>
                </a:cubicBez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4594320" y="838440"/>
            <a:ext cx="51120" cy="18000"/>
          </a:xfrm>
          <a:custGeom>
            <a:avLst/>
            <a:gdLst/>
            <a:ahLst/>
            <a:rect l="0" t="0" r="r" b="b"/>
            <a:pathLst>
              <a:path w="142" h="50">
                <a:moveTo>
                  <a:pt x="0" y="50"/>
                </a:moveTo>
                <a:lnTo>
                  <a:pt x="142" y="50"/>
                </a:lnTo>
                <a:lnTo>
                  <a:pt x="142" y="0"/>
                </a:lnTo>
                <a:lnTo>
                  <a:pt x="0" y="0"/>
                </a:lnTo>
                <a:lnTo>
                  <a:pt x="0" y="50"/>
                </a:lnTo>
                <a:close/>
              </a:path>
            </a:pathLst>
          </a:custGeom>
          <a:solidFill>
            <a:srgbClr val="f4a2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4273200" y="1941840"/>
            <a:ext cx="16236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4a261"/>
                </a:solidFill>
                <a:latin typeface="LMSans8"/>
                <a:ea typeface="LMSans8"/>
              </a:rPr>
              <a:t>2016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889520" y="844200"/>
            <a:ext cx="50760" cy="0"/>
          </a:xfrm>
          <a:prstGeom prst="line">
            <a:avLst/>
          </a:prstGeom>
          <a:ln w="10080">
            <a:solidFill>
              <a:srgbClr val="ffffff">
                <a:alpha val="70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659120" y="786240"/>
            <a:ext cx="18648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00" spc="-1" strike="noStrike">
                <a:solidFill>
                  <a:srgbClr val="f4a261"/>
                </a:solidFill>
                <a:latin typeface="LMSans10"/>
                <a:ea typeface="LMSans10"/>
              </a:rPr>
              <a:t>Bihar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53600" y="778680"/>
            <a:ext cx="31608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LMSans8"/>
                <a:ea typeface="LMSans8"/>
              </a:rPr>
              <a:t>Synthetic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359640" y="770040"/>
            <a:ext cx="2419920" cy="970200"/>
          </a:xfrm>
          <a:custGeom>
            <a:avLst/>
            <a:gdLst/>
            <a:ahLst/>
            <a:rect l="0" t="0" r="r" b="b"/>
            <a:pathLst>
              <a:path w="6722" h="2695">
                <a:moveTo>
                  <a:pt x="0" y="2568"/>
                </a:moveTo>
                <a:lnTo>
                  <a:pt x="0" y="126"/>
                </a:lnTo>
                <a:cubicBezTo>
                  <a:pt x="0" y="57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7"/>
                  <a:pt x="6722" y="126"/>
                </a:cubicBezTo>
                <a:lnTo>
                  <a:pt x="6722" y="2568"/>
                </a:lnTo>
                <a:cubicBezTo>
                  <a:pt x="6722" y="2638"/>
                  <a:pt x="6665" y="2695"/>
                  <a:pt x="6595" y="2695"/>
                </a:cubicBezTo>
                <a:lnTo>
                  <a:pt x="127" y="2695"/>
                </a:lnTo>
                <a:cubicBezTo>
                  <a:pt x="57" y="2695"/>
                  <a:pt x="0" y="2638"/>
                  <a:pt x="0" y="256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367560" y="989640"/>
            <a:ext cx="2404080" cy="743040"/>
          </a:xfrm>
          <a:custGeom>
            <a:avLst/>
            <a:gdLst/>
            <a:ahLst/>
            <a:rect l="0" t="0" r="r" b="b"/>
            <a:pathLst>
              <a:path w="6678" h="2064">
                <a:moveTo>
                  <a:pt x="0" y="1958"/>
                </a:moveTo>
                <a:lnTo>
                  <a:pt x="0" y="0"/>
                </a:lnTo>
                <a:lnTo>
                  <a:pt x="6678" y="0"/>
                </a:lnTo>
                <a:lnTo>
                  <a:pt x="6678" y="1958"/>
                </a:lnTo>
                <a:cubicBezTo>
                  <a:pt x="6678" y="2017"/>
                  <a:pt x="6631" y="2064"/>
                  <a:pt x="6573" y="2064"/>
                </a:cubicBezTo>
                <a:lnTo>
                  <a:pt x="105" y="2064"/>
                </a:lnTo>
                <a:cubicBezTo>
                  <a:pt x="47" y="2064"/>
                  <a:pt x="0" y="2017"/>
                  <a:pt x="0" y="1958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367560" y="777600"/>
            <a:ext cx="2404080" cy="212400"/>
          </a:xfrm>
          <a:custGeom>
            <a:avLst/>
            <a:gdLst/>
            <a:ahLst/>
            <a:rect l="0" t="0" r="r" b="b"/>
            <a:pathLst>
              <a:path w="6678" h="590">
                <a:moveTo>
                  <a:pt x="0" y="590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90"/>
                </a:lnTo>
                <a:lnTo>
                  <a:pt x="0" y="59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0080" y="5760"/>
            <a:ext cx="5097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Outline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66920" y="7974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'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57720" y="787680"/>
            <a:ext cx="8208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Part I — Setup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63680" y="101160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13080" y="1011240"/>
            <a:ext cx="1383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Motivation &amp; policy context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66920" y="117612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2.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16320" y="1175760"/>
            <a:ext cx="927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Research questions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66920" y="134028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3.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16320" y="1340280"/>
            <a:ext cx="1126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Identification challenge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63680" y="150480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4.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13080" y="1504800"/>
            <a:ext cx="665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Data &amp; panel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359640" y="2019960"/>
            <a:ext cx="2419920" cy="812520"/>
          </a:xfrm>
          <a:custGeom>
            <a:avLst/>
            <a:gdLst/>
            <a:ahLst/>
            <a:rect l="0" t="0" r="r" b="b"/>
            <a:pathLst>
              <a:path w="6722" h="2257">
                <a:moveTo>
                  <a:pt x="0" y="2130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7"/>
                  <a:pt x="6722" y="127"/>
                </a:cubicBezTo>
                <a:lnTo>
                  <a:pt x="6722" y="2130"/>
                </a:lnTo>
                <a:cubicBezTo>
                  <a:pt x="6722" y="2200"/>
                  <a:pt x="6665" y="2257"/>
                  <a:pt x="6595" y="2257"/>
                </a:cubicBezTo>
                <a:lnTo>
                  <a:pt x="127" y="2257"/>
                </a:lnTo>
                <a:cubicBezTo>
                  <a:pt x="57" y="2257"/>
                  <a:pt x="0" y="2200"/>
                  <a:pt x="0" y="213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67560" y="2246400"/>
            <a:ext cx="2404080" cy="578160"/>
          </a:xfrm>
          <a:custGeom>
            <a:avLst/>
            <a:gdLst/>
            <a:ahLst/>
            <a:rect l="0" t="0" r="r" b="b"/>
            <a:pathLst>
              <a:path w="6678" h="1606">
                <a:moveTo>
                  <a:pt x="0" y="1501"/>
                </a:moveTo>
                <a:lnTo>
                  <a:pt x="0" y="0"/>
                </a:lnTo>
                <a:lnTo>
                  <a:pt x="6678" y="0"/>
                </a:lnTo>
                <a:lnTo>
                  <a:pt x="6678" y="1501"/>
                </a:lnTo>
                <a:cubicBezTo>
                  <a:pt x="6678" y="1559"/>
                  <a:pt x="6631" y="1606"/>
                  <a:pt x="6573" y="1606"/>
                </a:cubicBezTo>
                <a:lnTo>
                  <a:pt x="105" y="1606"/>
                </a:lnTo>
                <a:cubicBezTo>
                  <a:pt x="47" y="1606"/>
                  <a:pt x="0" y="1559"/>
                  <a:pt x="0" y="1501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367560" y="2027520"/>
            <a:ext cx="2404080" cy="219240"/>
          </a:xfrm>
          <a:custGeom>
            <a:avLst/>
            <a:gdLst/>
            <a:ahLst/>
            <a:rect l="0" t="0" r="r" b="b"/>
            <a:pathLst>
              <a:path w="6678" h="609">
                <a:moveTo>
                  <a:pt x="0" y="609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609"/>
                </a:lnTo>
                <a:lnTo>
                  <a:pt x="0" y="60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315440" y="1504800"/>
            <a:ext cx="602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construction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66920" y="20538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29280" y="2044080"/>
            <a:ext cx="12380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Part II — Methodology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66920" y="226800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5.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16320" y="2268000"/>
            <a:ext cx="861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Synthetic Control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513080" y="2268000"/>
            <a:ext cx="377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Method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66920" y="243252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6.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16320" y="2432520"/>
            <a:ext cx="572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Convex hull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224720" y="2432520"/>
            <a:ext cx="678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problem &amp; fix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63680" y="259704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7.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13080" y="2597040"/>
            <a:ext cx="959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Bayesian Structural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2980800" y="770040"/>
            <a:ext cx="2419560" cy="945720"/>
          </a:xfrm>
          <a:custGeom>
            <a:avLst/>
            <a:gdLst/>
            <a:ahLst/>
            <a:rect l="0" t="0" r="r" b="b"/>
            <a:pathLst>
              <a:path w="6721" h="2627">
                <a:moveTo>
                  <a:pt x="0" y="2501"/>
                </a:moveTo>
                <a:lnTo>
                  <a:pt x="0" y="126"/>
                </a:lnTo>
                <a:cubicBezTo>
                  <a:pt x="0" y="57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7"/>
                  <a:pt x="6721" y="126"/>
                </a:cubicBezTo>
                <a:lnTo>
                  <a:pt x="6721" y="2501"/>
                </a:lnTo>
                <a:cubicBezTo>
                  <a:pt x="6721" y="2571"/>
                  <a:pt x="6664" y="2627"/>
                  <a:pt x="6594" y="2627"/>
                </a:cubicBezTo>
                <a:lnTo>
                  <a:pt x="126" y="2627"/>
                </a:lnTo>
                <a:cubicBezTo>
                  <a:pt x="56" y="2627"/>
                  <a:pt x="0" y="2571"/>
                  <a:pt x="0" y="250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988360" y="960120"/>
            <a:ext cx="2404080" cy="748080"/>
          </a:xfrm>
          <a:custGeom>
            <a:avLst/>
            <a:gdLst/>
            <a:ahLst/>
            <a:rect l="0" t="0" r="r" b="b"/>
            <a:pathLst>
              <a:path w="6678" h="2078">
                <a:moveTo>
                  <a:pt x="0" y="1973"/>
                </a:moveTo>
                <a:lnTo>
                  <a:pt x="0" y="0"/>
                </a:lnTo>
                <a:lnTo>
                  <a:pt x="6678" y="0"/>
                </a:lnTo>
                <a:lnTo>
                  <a:pt x="6678" y="1973"/>
                </a:lnTo>
                <a:cubicBezTo>
                  <a:pt x="6678" y="2031"/>
                  <a:pt x="6631" y="2078"/>
                  <a:pt x="6573" y="2078"/>
                </a:cubicBezTo>
                <a:lnTo>
                  <a:pt x="105" y="2078"/>
                </a:lnTo>
                <a:cubicBezTo>
                  <a:pt x="47" y="2078"/>
                  <a:pt x="0" y="2031"/>
                  <a:pt x="0" y="1973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2988360" y="777600"/>
            <a:ext cx="2404080" cy="182880"/>
          </a:xfrm>
          <a:custGeom>
            <a:avLst/>
            <a:gdLst/>
            <a:ahLst/>
            <a:rect l="0" t="0" r="r" b="b"/>
            <a:pathLst>
              <a:path w="6678" h="508">
                <a:moveTo>
                  <a:pt x="0" y="508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08"/>
                </a:lnTo>
                <a:lnTo>
                  <a:pt x="0" y="50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600920" y="2597040"/>
            <a:ext cx="575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Time Series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3087720" y="7902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¢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264120" y="780480"/>
            <a:ext cx="968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Part III — Results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087720" y="98712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8.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237120" y="987120"/>
            <a:ext cx="1556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Road-accident deaths (primary)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087720" y="115164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9.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237120" y="1151640"/>
            <a:ext cx="1160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Own tax revenue (fiscal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432680" y="1151640"/>
            <a:ext cx="3132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proxy)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084480" y="1316160"/>
            <a:ext cx="160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10.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296520" y="1315800"/>
            <a:ext cx="1216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NSDP per-capita growth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3084480" y="1480680"/>
            <a:ext cx="160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11.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2980800" y="1995480"/>
            <a:ext cx="2419560" cy="805320"/>
          </a:xfrm>
          <a:custGeom>
            <a:avLst/>
            <a:gdLst/>
            <a:ahLst/>
            <a:rect l="0" t="0" r="r" b="b"/>
            <a:pathLst>
              <a:path w="6721" h="2237">
                <a:moveTo>
                  <a:pt x="0" y="2110"/>
                </a:moveTo>
                <a:lnTo>
                  <a:pt x="0" y="128"/>
                </a:lnTo>
                <a:cubicBezTo>
                  <a:pt x="0" y="58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8"/>
                  <a:pt x="6721" y="128"/>
                </a:cubicBezTo>
                <a:lnTo>
                  <a:pt x="6721" y="2110"/>
                </a:lnTo>
                <a:cubicBezTo>
                  <a:pt x="6721" y="2180"/>
                  <a:pt x="6664" y="2237"/>
                  <a:pt x="6594" y="2237"/>
                </a:cubicBezTo>
                <a:lnTo>
                  <a:pt x="126" y="2237"/>
                </a:lnTo>
                <a:cubicBezTo>
                  <a:pt x="56" y="2237"/>
                  <a:pt x="0" y="2180"/>
                  <a:pt x="0" y="211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2988360" y="2222280"/>
            <a:ext cx="2404080" cy="570960"/>
          </a:xfrm>
          <a:custGeom>
            <a:avLst/>
            <a:gdLst/>
            <a:ahLst/>
            <a:rect l="0" t="0" r="r" b="b"/>
            <a:pathLst>
              <a:path w="6678" h="1586">
                <a:moveTo>
                  <a:pt x="0" y="1480"/>
                </a:moveTo>
                <a:lnTo>
                  <a:pt x="0" y="0"/>
                </a:lnTo>
                <a:lnTo>
                  <a:pt x="6678" y="0"/>
                </a:lnTo>
                <a:lnTo>
                  <a:pt x="6678" y="1480"/>
                </a:lnTo>
                <a:cubicBezTo>
                  <a:pt x="6678" y="1538"/>
                  <a:pt x="6631" y="1586"/>
                  <a:pt x="6573" y="1586"/>
                </a:cubicBezTo>
                <a:lnTo>
                  <a:pt x="105" y="1586"/>
                </a:lnTo>
                <a:cubicBezTo>
                  <a:pt x="47" y="1586"/>
                  <a:pt x="0" y="1538"/>
                  <a:pt x="0" y="1480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2988360" y="2003040"/>
            <a:ext cx="2404080" cy="219600"/>
          </a:xfrm>
          <a:custGeom>
            <a:avLst/>
            <a:gdLst/>
            <a:ahLst/>
            <a:rect l="0" t="0" r="r" b="b"/>
            <a:pathLst>
              <a:path w="6678" h="610">
                <a:moveTo>
                  <a:pt x="0" y="610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6"/>
                </a:cubicBezTo>
                <a:lnTo>
                  <a:pt x="6678" y="610"/>
                </a:lnTo>
                <a:lnTo>
                  <a:pt x="0" y="61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296520" y="1480320"/>
            <a:ext cx="1194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Cross-outcome synthesis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087720" y="2030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è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3264120" y="2020320"/>
            <a:ext cx="9792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Part IV — Closing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3084480" y="2244240"/>
            <a:ext cx="160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12.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3296520" y="2243880"/>
            <a:ext cx="1224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Robustness &amp; limitations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084480" y="2408400"/>
            <a:ext cx="160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13.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3296520" y="2408400"/>
            <a:ext cx="1218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Interactive website demo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084480" y="2572920"/>
            <a:ext cx="160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14.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3296520" y="2572920"/>
            <a:ext cx="1073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Conclusions &amp; Q &amp; 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359640" y="693360"/>
            <a:ext cx="2772720" cy="688680"/>
          </a:xfrm>
          <a:custGeom>
            <a:avLst/>
            <a:gdLst/>
            <a:ahLst/>
            <a:rect l="0" t="0" r="r" b="b"/>
            <a:pathLst>
              <a:path w="7702" h="1913">
                <a:moveTo>
                  <a:pt x="0" y="1787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7575" y="0"/>
                </a:lnTo>
                <a:cubicBezTo>
                  <a:pt x="7645" y="0"/>
                  <a:pt x="7702" y="57"/>
                  <a:pt x="7702" y="127"/>
                </a:cubicBezTo>
                <a:lnTo>
                  <a:pt x="7702" y="1787"/>
                </a:lnTo>
                <a:cubicBezTo>
                  <a:pt x="7702" y="1856"/>
                  <a:pt x="7645" y="1913"/>
                  <a:pt x="7575" y="1913"/>
                </a:cubicBezTo>
                <a:lnTo>
                  <a:pt x="127" y="1913"/>
                </a:lnTo>
                <a:cubicBezTo>
                  <a:pt x="57" y="1913"/>
                  <a:pt x="0" y="1856"/>
                  <a:pt x="0" y="1787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367560" y="701280"/>
            <a:ext cx="2757240" cy="673200"/>
          </a:xfrm>
          <a:custGeom>
            <a:avLst/>
            <a:gdLst/>
            <a:ahLst/>
            <a:rect l="0" t="0" r="r" b="b"/>
            <a:pathLst>
              <a:path w="7659" h="1870">
                <a:moveTo>
                  <a:pt x="0" y="1765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7553" y="0"/>
                </a:lnTo>
                <a:cubicBezTo>
                  <a:pt x="7611" y="0"/>
                  <a:pt x="7659" y="47"/>
                  <a:pt x="7659" y="105"/>
                </a:cubicBezTo>
                <a:lnTo>
                  <a:pt x="7659" y="1765"/>
                </a:lnTo>
                <a:cubicBezTo>
                  <a:pt x="7659" y="1823"/>
                  <a:pt x="7611" y="1870"/>
                  <a:pt x="7553" y="1870"/>
                </a:cubicBezTo>
                <a:lnTo>
                  <a:pt x="105" y="1870"/>
                </a:lnTo>
                <a:cubicBezTo>
                  <a:pt x="47" y="1870"/>
                  <a:pt x="0" y="1823"/>
                  <a:pt x="0" y="1765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0080" y="5760"/>
            <a:ext cx="3257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Motivation — Why Study Bihar’s Prohibition?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62600" y="722880"/>
            <a:ext cx="5662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00000"/>
                </a:solidFill>
                <a:latin typeface="LMSans10"/>
                <a:ea typeface="LMSans10"/>
              </a:rPr>
              <a:t>The policy.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065960" y="722880"/>
            <a:ext cx="409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Effective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508040" y="722880"/>
            <a:ext cx="6638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dc823c"/>
                </a:solidFill>
                <a:latin typeface="LMSans10"/>
                <a:ea typeface="LMSans10"/>
              </a:rPr>
              <a:t>April 5, 2016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157480" y="722880"/>
            <a:ext cx="906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, Bihar enacted to-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66920" y="861840"/>
            <a:ext cx="2589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tal prohibition on the sale and consumption of alcohol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49280" y="1001160"/>
            <a:ext cx="1310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— </a:t>
            </a:r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the largest sub-national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794240" y="1001160"/>
            <a:ext cx="1235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prohibition by population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66920" y="1140480"/>
            <a:ext cx="1719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in modern history (~120M people).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53520" y="1512360"/>
            <a:ext cx="26510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Why this case is methodologically interesting: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96800" y="17265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37200" y="1716840"/>
            <a:ext cx="1937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Sharp, well-dated discontinuity — ideal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2596320" y="1716840"/>
            <a:ext cx="473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for causal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37200" y="1855800"/>
            <a:ext cx="349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designs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96800" y="20556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37200" y="2045520"/>
            <a:ext cx="909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Single treated unit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582200" y="20556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738440" y="2045520"/>
            <a:ext cx="1325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DiD parallel-trends hard to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7200" y="2184840"/>
            <a:ext cx="1328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defend; SCM is the natural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999080" y="2184840"/>
            <a:ext cx="303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choice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96800" y="23842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637200" y="2374560"/>
            <a:ext cx="21250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Multiple competing channels (safety, fiscal,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3384000" y="693360"/>
            <a:ext cx="2016360" cy="506880"/>
          </a:xfrm>
          <a:custGeom>
            <a:avLst/>
            <a:gdLst/>
            <a:ahLst/>
            <a:rect l="0" t="0" r="r" b="b"/>
            <a:pathLst>
              <a:path w="5601" h="1408">
                <a:moveTo>
                  <a:pt x="0" y="1268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268"/>
                </a:lnTo>
                <a:cubicBezTo>
                  <a:pt x="5601" y="1345"/>
                  <a:pt x="5538" y="1408"/>
                  <a:pt x="5460" y="1408"/>
                </a:cubicBezTo>
                <a:lnTo>
                  <a:pt x="140" y="1408"/>
                </a:lnTo>
                <a:cubicBezTo>
                  <a:pt x="63" y="1408"/>
                  <a:pt x="0" y="1345"/>
                  <a:pt x="0" y="1268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3384000" y="693360"/>
            <a:ext cx="2016360" cy="506880"/>
          </a:xfrm>
          <a:custGeom>
            <a:avLst/>
            <a:gdLst/>
            <a:ahLst/>
            <a:rect l="0" t="0" r="r" b="b"/>
            <a:pathLst>
              <a:path w="5601" h="1408">
                <a:moveTo>
                  <a:pt x="0" y="1268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268"/>
                </a:lnTo>
                <a:cubicBezTo>
                  <a:pt x="5601" y="1345"/>
                  <a:pt x="5538" y="1408"/>
                  <a:pt x="5460" y="1408"/>
                </a:cubicBezTo>
                <a:lnTo>
                  <a:pt x="140" y="1408"/>
                </a:lnTo>
                <a:cubicBezTo>
                  <a:pt x="63" y="1408"/>
                  <a:pt x="0" y="1345"/>
                  <a:pt x="0" y="126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37200" y="2513880"/>
            <a:ext cx="2346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economic) — direction of net effect is empirical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015080" y="652320"/>
            <a:ext cx="74916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4a261"/>
                </a:solidFill>
                <a:latin typeface="LMSans10"/>
                <a:ea typeface="LMSans10"/>
              </a:rPr>
              <a:t>120M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384000" y="1436760"/>
            <a:ext cx="2016360" cy="545400"/>
          </a:xfrm>
          <a:custGeom>
            <a:avLst/>
            <a:gdLst/>
            <a:ahLst/>
            <a:rect l="0" t="0" r="r" b="b"/>
            <a:pathLst>
              <a:path w="5601" h="1515">
                <a:moveTo>
                  <a:pt x="0" y="137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375"/>
                </a:lnTo>
                <a:cubicBezTo>
                  <a:pt x="5601" y="1452"/>
                  <a:pt x="5538" y="1515"/>
                  <a:pt x="5460" y="1515"/>
                </a:cubicBezTo>
                <a:lnTo>
                  <a:pt x="140" y="1515"/>
                </a:lnTo>
                <a:cubicBezTo>
                  <a:pt x="63" y="1515"/>
                  <a:pt x="0" y="1452"/>
                  <a:pt x="0" y="1375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3384000" y="1436760"/>
            <a:ext cx="2016360" cy="545400"/>
          </a:xfrm>
          <a:custGeom>
            <a:avLst/>
            <a:gdLst/>
            <a:ahLst/>
            <a:rect l="0" t="0" r="r" b="b"/>
            <a:pathLst>
              <a:path w="5601" h="1515">
                <a:moveTo>
                  <a:pt x="0" y="1375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375"/>
                </a:lnTo>
                <a:cubicBezTo>
                  <a:pt x="5601" y="1452"/>
                  <a:pt x="5538" y="1515"/>
                  <a:pt x="5460" y="1515"/>
                </a:cubicBezTo>
                <a:lnTo>
                  <a:pt x="140" y="1515"/>
                </a:lnTo>
                <a:cubicBezTo>
                  <a:pt x="63" y="1515"/>
                  <a:pt x="0" y="1452"/>
                  <a:pt x="0" y="1375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932280" y="977040"/>
            <a:ext cx="898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affected population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748320" y="1452240"/>
            <a:ext cx="277920" cy="38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Ñ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973320" y="1428840"/>
            <a:ext cx="112536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4a261"/>
                </a:solidFill>
                <a:latin typeface="LMSans10"/>
                <a:ea typeface="LMSans10"/>
              </a:rPr>
              <a:t>4,000 Cr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384000" y="2218680"/>
            <a:ext cx="2016360" cy="512280"/>
          </a:xfrm>
          <a:custGeom>
            <a:avLst/>
            <a:gdLst/>
            <a:ahLst/>
            <a:rect l="0" t="0" r="r" b="b"/>
            <a:pathLst>
              <a:path w="5601" h="1423">
                <a:moveTo>
                  <a:pt x="0" y="1283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283"/>
                </a:lnTo>
                <a:cubicBezTo>
                  <a:pt x="5601" y="1360"/>
                  <a:pt x="5538" y="1423"/>
                  <a:pt x="5460" y="1423"/>
                </a:cubicBezTo>
                <a:lnTo>
                  <a:pt x="140" y="1423"/>
                </a:lnTo>
                <a:cubicBezTo>
                  <a:pt x="63" y="1423"/>
                  <a:pt x="0" y="1360"/>
                  <a:pt x="0" y="1283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384000" y="2218680"/>
            <a:ext cx="2016360" cy="512280"/>
          </a:xfrm>
          <a:custGeom>
            <a:avLst/>
            <a:gdLst/>
            <a:ahLst/>
            <a:rect l="0" t="0" r="r" b="b"/>
            <a:pathLst>
              <a:path w="5601" h="1423">
                <a:moveTo>
                  <a:pt x="0" y="1283"/>
                </a:moveTo>
                <a:lnTo>
                  <a:pt x="0" y="141"/>
                </a:lnTo>
                <a:cubicBezTo>
                  <a:pt x="0" y="63"/>
                  <a:pt x="63" y="0"/>
                  <a:pt x="140" y="0"/>
                </a:cubicBezTo>
                <a:lnTo>
                  <a:pt x="5460" y="0"/>
                </a:lnTo>
                <a:cubicBezTo>
                  <a:pt x="5538" y="0"/>
                  <a:pt x="5601" y="63"/>
                  <a:pt x="5601" y="141"/>
                </a:cubicBezTo>
                <a:lnTo>
                  <a:pt x="5601" y="1283"/>
                </a:lnTo>
                <a:cubicBezTo>
                  <a:pt x="5601" y="1360"/>
                  <a:pt x="5538" y="1423"/>
                  <a:pt x="5460" y="1423"/>
                </a:cubicBezTo>
                <a:lnTo>
                  <a:pt x="140" y="1423"/>
                </a:lnTo>
                <a:cubicBezTo>
                  <a:pt x="63" y="1423"/>
                  <a:pt x="0" y="1360"/>
                  <a:pt x="0" y="128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473280" y="1753200"/>
            <a:ext cx="18082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pre-prohibition state excise (FY15–16)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3672720" y="2177640"/>
            <a:ext cx="1501920" cy="39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90" spc="-1" strike="noStrike">
                <a:solidFill>
                  <a:srgbClr val="f4a261"/>
                </a:solidFill>
                <a:latin typeface="LMSans10"/>
                <a:ea typeface="LMSans10"/>
              </a:rPr>
              <a:t>3 outcomes</a:t>
            </a:r>
            <a:endParaRPr b="0" lang="en-US" sz="21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3767040" y="2502360"/>
            <a:ext cx="6393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safety / fiscal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473000" y="2502360"/>
            <a:ext cx="529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/ economic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359640" y="505440"/>
            <a:ext cx="5040720" cy="1053360"/>
          </a:xfrm>
          <a:custGeom>
            <a:avLst/>
            <a:gdLst/>
            <a:ahLst/>
            <a:rect l="0" t="0" r="r" b="b"/>
            <a:pathLst>
              <a:path w="14002" h="2926">
                <a:moveTo>
                  <a:pt x="0" y="2799"/>
                </a:moveTo>
                <a:lnTo>
                  <a:pt x="0" y="128"/>
                </a:lnTo>
                <a:cubicBezTo>
                  <a:pt x="0" y="57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7"/>
                  <a:pt x="14002" y="128"/>
                </a:cubicBezTo>
                <a:lnTo>
                  <a:pt x="14002" y="2799"/>
                </a:lnTo>
                <a:cubicBezTo>
                  <a:pt x="14002" y="2869"/>
                  <a:pt x="13945" y="2926"/>
                  <a:pt x="13875" y="2926"/>
                </a:cubicBezTo>
                <a:lnTo>
                  <a:pt x="127" y="2926"/>
                </a:lnTo>
                <a:cubicBezTo>
                  <a:pt x="57" y="2926"/>
                  <a:pt x="0" y="2869"/>
                  <a:pt x="0" y="2799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367560" y="732240"/>
            <a:ext cx="5025240" cy="819000"/>
          </a:xfrm>
          <a:custGeom>
            <a:avLst/>
            <a:gdLst/>
            <a:ahLst/>
            <a:rect l="0" t="0" r="r" b="b"/>
            <a:pathLst>
              <a:path w="13959" h="2275">
                <a:moveTo>
                  <a:pt x="0" y="2169"/>
                </a:moveTo>
                <a:lnTo>
                  <a:pt x="0" y="0"/>
                </a:lnTo>
                <a:lnTo>
                  <a:pt x="13959" y="0"/>
                </a:lnTo>
                <a:lnTo>
                  <a:pt x="13959" y="2169"/>
                </a:lnTo>
                <a:cubicBezTo>
                  <a:pt x="13959" y="2228"/>
                  <a:pt x="13911" y="2275"/>
                  <a:pt x="13853" y="2275"/>
                </a:cubicBezTo>
                <a:lnTo>
                  <a:pt x="105" y="2275"/>
                </a:lnTo>
                <a:cubicBezTo>
                  <a:pt x="47" y="2275"/>
                  <a:pt x="0" y="2228"/>
                  <a:pt x="0" y="2169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367560" y="513000"/>
            <a:ext cx="5025240" cy="219600"/>
          </a:xfrm>
          <a:custGeom>
            <a:avLst/>
            <a:gdLst/>
            <a:ahLst/>
            <a:rect l="0" t="0" r="r" b="b"/>
            <a:pathLst>
              <a:path w="13959" h="610">
                <a:moveTo>
                  <a:pt x="0" y="610"/>
                </a:moveTo>
                <a:lnTo>
                  <a:pt x="0" y="107"/>
                </a:lnTo>
                <a:cubicBezTo>
                  <a:pt x="0" y="48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8"/>
                  <a:pt x="13959" y="107"/>
                </a:cubicBezTo>
                <a:lnTo>
                  <a:pt x="13959" y="610"/>
                </a:lnTo>
                <a:lnTo>
                  <a:pt x="0" y="61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00080" y="5760"/>
            <a:ext cx="1363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Research Questions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66920" y="540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?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14880" y="530280"/>
            <a:ext cx="22791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Three questions, one identification strategy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583560" y="75384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LMSans9"/>
                <a:ea typeface="LMSans9"/>
              </a:rPr>
              <a:t>1.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43760" y="753840"/>
            <a:ext cx="739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Did prohibition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516680" y="754200"/>
            <a:ext cx="14745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dc823c"/>
                </a:solidFill>
                <a:latin typeface="LMSans10"/>
                <a:ea typeface="LMSans10"/>
              </a:rPr>
              <a:t>reduce road-accident deaths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3024000" y="753840"/>
            <a:ext cx="1328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relative to a counterfactual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85880" y="753840"/>
            <a:ext cx="893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Bihar that did not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44120" y="893160"/>
            <a:ext cx="886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enact prohibition?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83560" y="110808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LMSans9"/>
                <a:ea typeface="LMSans9"/>
              </a:rPr>
              <a:t>2.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43760" y="1108080"/>
            <a:ext cx="739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Did prohibition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516680" y="1108440"/>
            <a:ext cx="15490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dc823c"/>
                </a:solidFill>
                <a:latin typeface="LMSans10"/>
                <a:ea typeface="LMSans10"/>
              </a:rPr>
              <a:t>reduce state own-tax revenue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095280" y="1108080"/>
            <a:ext cx="1835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via the loss of the excise component?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83560" y="132336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LMSans9"/>
                <a:ea typeface="LMSans9"/>
              </a:rPr>
              <a:t>3.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43760" y="1323360"/>
            <a:ext cx="739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Did prohibition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516680" y="1323360"/>
            <a:ext cx="2068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dc823c"/>
                </a:solidFill>
                <a:latin typeface="LMSans10"/>
                <a:ea typeface="LMSans10"/>
              </a:rPr>
              <a:t>accelerate or depress per-capita growth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3609000" y="1323360"/>
            <a:ext cx="1469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relative to comparable states?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0000" y="1744920"/>
            <a:ext cx="796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Identification.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248480" y="1744920"/>
            <a:ext cx="38581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Construct a</a:t>
            </a:r>
            <a:r>
              <a:rPr b="0" i="1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synthetic Bihar</a:t>
            </a:r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 as a weighted average of donor states whose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60000" y="1917000"/>
            <a:ext cx="46429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pre-2016 trajectory tracks Bihar’s, then read the post-2016 gap as the treatment effect.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55680" y="2089080"/>
            <a:ext cx="20336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Triangulate with a Bayesian structural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2413800" y="2089080"/>
            <a:ext cx="753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counterfactual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359640" y="2480760"/>
            <a:ext cx="5040720" cy="373680"/>
          </a:xfrm>
          <a:custGeom>
            <a:avLst/>
            <a:gdLst/>
            <a:ahLst/>
            <a:rect l="0" t="0" r="r" b="b"/>
            <a:pathLst>
              <a:path w="14002" h="1038">
                <a:moveTo>
                  <a:pt x="0" y="911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6"/>
                  <a:pt x="14002" y="126"/>
                </a:cubicBezTo>
                <a:lnTo>
                  <a:pt x="14002" y="911"/>
                </a:lnTo>
                <a:cubicBezTo>
                  <a:pt x="14002" y="981"/>
                  <a:pt x="13945" y="1038"/>
                  <a:pt x="13875" y="1038"/>
                </a:cubicBezTo>
                <a:lnTo>
                  <a:pt x="127" y="1038"/>
                </a:lnTo>
                <a:cubicBezTo>
                  <a:pt x="57" y="1038"/>
                  <a:pt x="0" y="981"/>
                  <a:pt x="0" y="911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367560" y="2488320"/>
            <a:ext cx="5025240" cy="358560"/>
          </a:xfrm>
          <a:custGeom>
            <a:avLst/>
            <a:gdLst/>
            <a:ahLst/>
            <a:rect l="0" t="0" r="r" b="b"/>
            <a:pathLst>
              <a:path w="13959" h="996">
                <a:moveTo>
                  <a:pt x="0" y="890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7"/>
                  <a:pt x="13959" y="105"/>
                </a:cubicBezTo>
                <a:lnTo>
                  <a:pt x="13959" y="890"/>
                </a:lnTo>
                <a:cubicBezTo>
                  <a:pt x="13959" y="948"/>
                  <a:pt x="13911" y="996"/>
                  <a:pt x="13853" y="996"/>
                </a:cubicBezTo>
                <a:lnTo>
                  <a:pt x="105" y="996"/>
                </a:lnTo>
                <a:cubicBezTo>
                  <a:pt x="47" y="996"/>
                  <a:pt x="0" y="948"/>
                  <a:pt x="0" y="890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209040" y="2089080"/>
            <a:ext cx="4442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a3a66"/>
                </a:solidFill>
                <a:latin typeface="LMSans10"/>
                <a:ea typeface="LMSans10"/>
              </a:rPr>
              <a:t>(BSTS).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461520" y="2516040"/>
            <a:ext cx="4718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Why three outcomes?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Each isolates a distinct welfare dimension — Q1 the</a:t>
            </a:r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 intended public-health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gain, Q2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66920" y="2635920"/>
            <a:ext cx="703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</a:t>
            </a:r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 direct fiscal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212120" y="2635920"/>
            <a:ext cx="2529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cost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 Q3 the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net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economic effect of competing channels.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94680" y="5760"/>
            <a:ext cx="19756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The Identification Challenge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360000" y="576000"/>
            <a:ext cx="10630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Standard tools fall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470240" y="576000"/>
            <a:ext cx="3315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short.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96800" y="7898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37200" y="780120"/>
            <a:ext cx="2109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DiD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886320" y="780120"/>
            <a:ext cx="768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requires parallel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687320" y="780120"/>
            <a:ext cx="1065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pre-trends — Bihar is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37200" y="919440"/>
            <a:ext cx="2105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an outlier on income, urbanisation, literacy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96800" y="11188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37200" y="1109160"/>
            <a:ext cx="1209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IV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96680" y="1109160"/>
            <a:ext cx="200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has no obvious instrument for state-wide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37200" y="1248120"/>
            <a:ext cx="281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policy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96800" y="14479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37200" y="1438200"/>
            <a:ext cx="909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Single treated unit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582200" y="14479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738440" y="1438200"/>
            <a:ext cx="980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no within-treatment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359640" y="2004840"/>
            <a:ext cx="2419920" cy="594360"/>
          </a:xfrm>
          <a:custGeom>
            <a:avLst/>
            <a:gdLst/>
            <a:ahLst/>
            <a:rect l="0" t="0" r="r" b="b"/>
            <a:pathLst>
              <a:path w="6722" h="1651">
                <a:moveTo>
                  <a:pt x="0" y="1524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7"/>
                  <a:pt x="6722" y="127"/>
                </a:cubicBezTo>
                <a:lnTo>
                  <a:pt x="6722" y="1524"/>
                </a:lnTo>
                <a:cubicBezTo>
                  <a:pt x="6722" y="1594"/>
                  <a:pt x="6665" y="1651"/>
                  <a:pt x="6595" y="1651"/>
                </a:cubicBezTo>
                <a:lnTo>
                  <a:pt x="127" y="1651"/>
                </a:lnTo>
                <a:cubicBezTo>
                  <a:pt x="57" y="1651"/>
                  <a:pt x="0" y="1594"/>
                  <a:pt x="0" y="1524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367560" y="2012400"/>
            <a:ext cx="2404080" cy="579240"/>
          </a:xfrm>
          <a:custGeom>
            <a:avLst/>
            <a:gdLst/>
            <a:ahLst/>
            <a:rect l="0" t="0" r="r" b="b"/>
            <a:pathLst>
              <a:path w="6678" h="1609">
                <a:moveTo>
                  <a:pt x="0" y="1503"/>
                </a:moveTo>
                <a:lnTo>
                  <a:pt x="0" y="107"/>
                </a:lnTo>
                <a:cubicBezTo>
                  <a:pt x="0" y="48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8"/>
                  <a:pt x="6678" y="107"/>
                </a:cubicBezTo>
                <a:lnTo>
                  <a:pt x="6678" y="1503"/>
                </a:lnTo>
                <a:cubicBezTo>
                  <a:pt x="6678" y="1562"/>
                  <a:pt x="6631" y="1609"/>
                  <a:pt x="6573" y="1609"/>
                </a:cubicBezTo>
                <a:lnTo>
                  <a:pt x="105" y="1609"/>
                </a:lnTo>
                <a:cubicBezTo>
                  <a:pt x="47" y="1609"/>
                  <a:pt x="0" y="1562"/>
                  <a:pt x="0" y="1503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34320" y="1577160"/>
            <a:ext cx="4244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variation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66920" y="2040120"/>
            <a:ext cx="13327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SCM matches the structure.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864440" y="2040120"/>
            <a:ext cx="814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One treated unit,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66920" y="2160360"/>
            <a:ext cx="221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many donors, long pre-period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exactly the set-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66920" y="2280600"/>
            <a:ext cx="2198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ting Abadie–Diamond–Hainmueller (2010) intro-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2980800" y="781560"/>
            <a:ext cx="2419560" cy="1359720"/>
          </a:xfrm>
          <a:custGeom>
            <a:avLst/>
            <a:gdLst/>
            <a:ahLst/>
            <a:rect l="0" t="0" r="r" b="b"/>
            <a:pathLst>
              <a:path w="6721" h="3777">
                <a:moveTo>
                  <a:pt x="0" y="3651"/>
                </a:moveTo>
                <a:lnTo>
                  <a:pt x="0" y="126"/>
                </a:lnTo>
                <a:cubicBezTo>
                  <a:pt x="0" y="56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6"/>
                  <a:pt x="6721" y="126"/>
                </a:cubicBezTo>
                <a:lnTo>
                  <a:pt x="6721" y="3651"/>
                </a:lnTo>
                <a:cubicBezTo>
                  <a:pt x="6721" y="3721"/>
                  <a:pt x="6664" y="3777"/>
                  <a:pt x="6594" y="3777"/>
                </a:cubicBezTo>
                <a:lnTo>
                  <a:pt x="126" y="3777"/>
                </a:lnTo>
                <a:cubicBezTo>
                  <a:pt x="56" y="3777"/>
                  <a:pt x="0" y="3721"/>
                  <a:pt x="0" y="365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988360" y="1000080"/>
            <a:ext cx="2404080" cy="1133640"/>
          </a:xfrm>
          <a:custGeom>
            <a:avLst/>
            <a:gdLst/>
            <a:ahLst/>
            <a:rect l="0" t="0" r="r" b="b"/>
            <a:pathLst>
              <a:path w="6678" h="3149">
                <a:moveTo>
                  <a:pt x="0" y="3044"/>
                </a:moveTo>
                <a:lnTo>
                  <a:pt x="0" y="0"/>
                </a:lnTo>
                <a:lnTo>
                  <a:pt x="6678" y="0"/>
                </a:lnTo>
                <a:lnTo>
                  <a:pt x="6678" y="3044"/>
                </a:lnTo>
                <a:cubicBezTo>
                  <a:pt x="6678" y="3102"/>
                  <a:pt x="6631" y="3149"/>
                  <a:pt x="6573" y="3149"/>
                </a:cubicBezTo>
                <a:lnTo>
                  <a:pt x="105" y="3149"/>
                </a:lnTo>
                <a:cubicBezTo>
                  <a:pt x="47" y="3149"/>
                  <a:pt x="0" y="3102"/>
                  <a:pt x="0" y="3044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2988360" y="789120"/>
            <a:ext cx="2404080" cy="211320"/>
          </a:xfrm>
          <a:custGeom>
            <a:avLst/>
            <a:gdLst/>
            <a:ahLst/>
            <a:rect l="0" t="0" r="r" b="b"/>
            <a:pathLst>
              <a:path w="6678" h="587">
                <a:moveTo>
                  <a:pt x="0" y="587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87"/>
                </a:lnTo>
                <a:lnTo>
                  <a:pt x="0" y="587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66920" y="2400840"/>
            <a:ext cx="995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duced the method for.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087720" y="8157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278520" y="806040"/>
            <a:ext cx="6087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Convex hull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926520" y="806040"/>
            <a:ext cx="3376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caveat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087720" y="1027800"/>
            <a:ext cx="2180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Bihar’s pre-period income and urbanisation lie at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3087720" y="1148040"/>
            <a:ext cx="1515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lower edge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of the donor pool.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682160" y="1148040"/>
            <a:ext cx="60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 naive SCM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3087720" y="1268280"/>
            <a:ext cx="2120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optimiser collapses to a</a:t>
            </a:r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 corner solution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(100%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087720" y="1388520"/>
            <a:ext cx="541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UP weight).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3087720" y="1562760"/>
            <a:ext cx="168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Fix: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3601080" y="1562760"/>
            <a:ext cx="316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include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104360" y="1562760"/>
            <a:ext cx="290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lagged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582080" y="1562760"/>
            <a:ext cx="427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outcomes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198400" y="1562760"/>
            <a:ext cx="102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087720" y="1697040"/>
            <a:ext cx="9608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special_predictors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210920" y="168264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(Abadie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722840" y="1682640"/>
            <a:ext cx="217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2010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097600" y="1682640"/>
            <a:ext cx="201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§IV)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071520" y="1802880"/>
            <a:ext cx="2097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— 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this anchors the synthetic to Bihar’s actual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087720" y="1923120"/>
            <a:ext cx="2027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trajectory, not just its socio-economic profile.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5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00080" y="5760"/>
            <a:ext cx="1011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Data — Panel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159200" y="5760"/>
            <a:ext cx="8892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Construction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56040" y="516960"/>
            <a:ext cx="3650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f4c81"/>
                </a:solidFill>
                <a:latin typeface="LMSans10"/>
                <a:ea typeface="LMSans10"/>
              </a:rPr>
              <a:t>Annual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61760" y="516960"/>
            <a:ext cx="12200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f4c81"/>
                </a:solidFill>
                <a:latin typeface="LMSans10"/>
                <a:ea typeface="LMSans10"/>
              </a:rPr>
              <a:t>state panel, 2010–2022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015640" y="516600"/>
            <a:ext cx="5950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— 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15 states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649240" y="526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×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2779200" y="516600"/>
            <a:ext cx="986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13 years = 195 obs.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807720" y="516600"/>
            <a:ext cx="1353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Telangana excluded (only 2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359640" y="956880"/>
            <a:ext cx="5040000" cy="0"/>
          </a:xfrm>
          <a:prstGeom prst="line">
            <a:avLst/>
          </a:prstGeom>
          <a:ln w="108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284040" y="1002240"/>
            <a:ext cx="1227600" cy="204840"/>
          </a:xfrm>
          <a:custGeom>
            <a:avLst/>
            <a:gdLst/>
            <a:ahLst/>
            <a:rect l="0" t="0" r="r" b="b"/>
            <a:pathLst>
              <a:path w="3410" h="569">
                <a:moveTo>
                  <a:pt x="0" y="569"/>
                </a:moveTo>
                <a:lnTo>
                  <a:pt x="3410" y="569"/>
                </a:lnTo>
                <a:lnTo>
                  <a:pt x="3410" y="0"/>
                </a:lnTo>
                <a:lnTo>
                  <a:pt x="0" y="0"/>
                </a:lnTo>
                <a:lnTo>
                  <a:pt x="0" y="56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60000" y="688680"/>
            <a:ext cx="2059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pre-treatment obs after 2014 bifurcation).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511280" y="1002240"/>
            <a:ext cx="2752200" cy="204840"/>
          </a:xfrm>
          <a:custGeom>
            <a:avLst/>
            <a:gdLst/>
            <a:ahLst/>
            <a:rect l="0" t="0" r="r" b="b"/>
            <a:pathLst>
              <a:path w="7645" h="569">
                <a:moveTo>
                  <a:pt x="0" y="569"/>
                </a:moveTo>
                <a:lnTo>
                  <a:pt x="7645" y="569"/>
                </a:lnTo>
                <a:lnTo>
                  <a:pt x="7645" y="0"/>
                </a:lnTo>
                <a:lnTo>
                  <a:pt x="0" y="0"/>
                </a:lnTo>
                <a:lnTo>
                  <a:pt x="0" y="56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60000" y="969840"/>
            <a:ext cx="3754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Variable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4263120" y="1002240"/>
            <a:ext cx="1212840" cy="204840"/>
          </a:xfrm>
          <a:custGeom>
            <a:avLst/>
            <a:gdLst/>
            <a:ahLst/>
            <a:rect l="0" t="0" r="r" b="b"/>
            <a:pathLst>
              <a:path w="3369" h="569">
                <a:moveTo>
                  <a:pt x="0" y="569"/>
                </a:moveTo>
                <a:lnTo>
                  <a:pt x="3369" y="569"/>
                </a:lnTo>
                <a:lnTo>
                  <a:pt x="3369" y="0"/>
                </a:lnTo>
                <a:lnTo>
                  <a:pt x="0" y="0"/>
                </a:lnTo>
                <a:lnTo>
                  <a:pt x="0" y="569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587240" y="1054080"/>
            <a:ext cx="520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Description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359640" y="1234800"/>
            <a:ext cx="5040000" cy="0"/>
          </a:xfrm>
          <a:prstGeom prst="line">
            <a:avLst/>
          </a:prstGeom>
          <a:ln w="684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339080" y="969840"/>
            <a:ext cx="3117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Source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60000" y="1259640"/>
            <a:ext cx="10674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road_accident_deaths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587240" y="1245600"/>
            <a:ext cx="140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Persons killed in road accidents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4339080" y="1245600"/>
            <a:ext cx="1056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MoRTH PDFs 2010–23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60000" y="1379880"/>
            <a:ext cx="9608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own_tax_revenue_cr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587240" y="1365840"/>
            <a:ext cx="1555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State own-tax revenue (composite,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188520" y="13744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3269880" y="1365840"/>
            <a:ext cx="146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Cr)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339080" y="1365840"/>
            <a:ext cx="925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RBI Handbook T168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360000" y="1500120"/>
            <a:ext cx="10141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nsdp_pc_current_inr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587240" y="1486080"/>
            <a:ext cx="1753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Net State Domestic Product per capita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339080" y="1486080"/>
            <a:ext cx="872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RBI Handbook T19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60000" y="1620360"/>
            <a:ext cx="8010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nsdp_growth_yoy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587240" y="1606320"/>
            <a:ext cx="201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YoY % growth of NSDP per capita (derived)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339080" y="1606320"/>
            <a:ext cx="916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Computed from T19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60000" y="1740600"/>
            <a:ext cx="8010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urban_share_pct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587240" y="1726560"/>
            <a:ext cx="1043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Urban population share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339080" y="1726560"/>
            <a:ext cx="100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Census 2011 + interp.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60000" y="1860840"/>
            <a:ext cx="9075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Mono8"/>
                <a:ea typeface="LMMono8"/>
              </a:rPr>
              <a:t>literacy_rate_pct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587240" y="1846800"/>
            <a:ext cx="1006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Literacy rate (age 7+)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359640" y="2029320"/>
            <a:ext cx="5040000" cy="0"/>
          </a:xfrm>
          <a:prstGeom prst="line">
            <a:avLst/>
          </a:prstGeom>
          <a:ln w="108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359640" y="2239200"/>
            <a:ext cx="5040720" cy="370800"/>
          </a:xfrm>
          <a:custGeom>
            <a:avLst/>
            <a:gdLst/>
            <a:ahLst/>
            <a:rect l="0" t="0" r="r" b="b"/>
            <a:pathLst>
              <a:path w="14002" h="1030">
                <a:moveTo>
                  <a:pt x="0" y="907"/>
                </a:moveTo>
                <a:lnTo>
                  <a:pt x="0" y="123"/>
                </a:lnTo>
                <a:cubicBezTo>
                  <a:pt x="0" y="55"/>
                  <a:pt x="56" y="0"/>
                  <a:pt x="123" y="0"/>
                </a:cubicBezTo>
                <a:lnTo>
                  <a:pt x="13879" y="0"/>
                </a:lnTo>
                <a:cubicBezTo>
                  <a:pt x="13947" y="0"/>
                  <a:pt x="14002" y="55"/>
                  <a:pt x="14002" y="123"/>
                </a:cubicBezTo>
                <a:lnTo>
                  <a:pt x="14002" y="907"/>
                </a:lnTo>
                <a:cubicBezTo>
                  <a:pt x="14002" y="975"/>
                  <a:pt x="13947" y="1030"/>
                  <a:pt x="13879" y="1030"/>
                </a:cubicBezTo>
                <a:lnTo>
                  <a:pt x="123" y="1030"/>
                </a:lnTo>
                <a:cubicBezTo>
                  <a:pt x="56" y="1030"/>
                  <a:pt x="0" y="975"/>
                  <a:pt x="0" y="907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66120" y="2245320"/>
            <a:ext cx="5027760" cy="358560"/>
          </a:xfrm>
          <a:custGeom>
            <a:avLst/>
            <a:gdLst/>
            <a:ahLst/>
            <a:rect l="0" t="0" r="r" b="b"/>
            <a:pathLst>
              <a:path w="13966" h="996">
                <a:moveTo>
                  <a:pt x="0" y="890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13861" y="0"/>
                </a:lnTo>
                <a:cubicBezTo>
                  <a:pt x="13919" y="0"/>
                  <a:pt x="13966" y="47"/>
                  <a:pt x="13966" y="106"/>
                </a:cubicBezTo>
                <a:lnTo>
                  <a:pt x="13966" y="890"/>
                </a:lnTo>
                <a:cubicBezTo>
                  <a:pt x="13966" y="949"/>
                  <a:pt x="13919" y="996"/>
                  <a:pt x="13861" y="996"/>
                </a:cubicBezTo>
                <a:lnTo>
                  <a:pt x="105" y="996"/>
                </a:lnTo>
                <a:cubicBezTo>
                  <a:pt x="47" y="996"/>
                  <a:pt x="0" y="949"/>
                  <a:pt x="0" y="890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339080" y="1846800"/>
            <a:ext cx="100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Census 2011 + interp.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49280" y="2273040"/>
            <a:ext cx="826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Acquisition stack.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334520" y="2273040"/>
            <a:ext cx="1527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MoRTH PDFs via Wayback CDX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2907360" y="2281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052440" y="2287080"/>
            <a:ext cx="3740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camelot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466080" y="2273040"/>
            <a:ext cx="1100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stream-mode extraction.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35720" y="2273040"/>
            <a:ext cx="65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RBI behind F5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52880" y="2393280"/>
            <a:ext cx="1145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BIG-IP TSPD cookie wall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1641600" y="2393280"/>
            <a:ext cx="945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— 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two-step warmup.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630160" y="2393280"/>
            <a:ext cx="166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Full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2831400" y="2393280"/>
            <a:ext cx="695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provenance log: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576600" y="2407320"/>
            <a:ext cx="1335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data/raw/bihar/SOURCES.md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921200" y="239328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81" name="" descr=""/>
          <p:cNvPicPr/>
          <p:nvPr/>
        </p:nvPicPr>
        <p:blipFill>
          <a:blip r:embed="rId1"/>
          <a:stretch/>
        </p:blipFill>
        <p:spPr>
          <a:xfrm>
            <a:off x="360000" y="696960"/>
            <a:ext cx="2922840" cy="1441440"/>
          </a:xfrm>
          <a:prstGeom prst="rect">
            <a:avLst/>
          </a:prstGeom>
          <a:ln w="0">
            <a:noFill/>
          </a:ln>
        </p:spPr>
      </p:pic>
      <p:sp>
        <p:nvSpPr>
          <p:cNvPr id="282" name=""/>
          <p:cNvSpPr txBox="1"/>
          <p:nvPr/>
        </p:nvSpPr>
        <p:spPr>
          <a:xfrm>
            <a:off x="100080" y="5760"/>
            <a:ext cx="28278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Pre-Treatment EDA — Donor Selection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3379320" y="644040"/>
            <a:ext cx="198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Top correlated donors (pre-2016):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3520800" y="8582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3658320" y="848520"/>
            <a:ext cx="1718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Jharkhand, Odisha, UP, MP, West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3661200" y="987480"/>
            <a:ext cx="3344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Bengal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3520800" y="11872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661200" y="1177200"/>
            <a:ext cx="1598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Geographic neighbours &amp; similar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661200" y="1316520"/>
            <a:ext cx="925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income trajectories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520800" y="15159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661200" y="1506240"/>
            <a:ext cx="585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Pre-period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296960" y="15159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420440" y="150624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478760" y="15159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3384000" y="1890720"/>
            <a:ext cx="2016360" cy="614160"/>
          </a:xfrm>
          <a:custGeom>
            <a:avLst/>
            <a:gdLst/>
            <a:ahLst/>
            <a:rect l="0" t="0" r="r" b="b"/>
            <a:pathLst>
              <a:path w="5601" h="1706">
                <a:moveTo>
                  <a:pt x="0" y="1579"/>
                </a:moveTo>
                <a:lnTo>
                  <a:pt x="0" y="127"/>
                </a:lnTo>
                <a:cubicBezTo>
                  <a:pt x="0" y="57"/>
                  <a:pt x="56" y="0"/>
                  <a:pt x="126" y="0"/>
                </a:cubicBezTo>
                <a:lnTo>
                  <a:pt x="5474" y="0"/>
                </a:lnTo>
                <a:cubicBezTo>
                  <a:pt x="5544" y="0"/>
                  <a:pt x="5601" y="57"/>
                  <a:pt x="5601" y="127"/>
                </a:cubicBezTo>
                <a:lnTo>
                  <a:pt x="5601" y="1579"/>
                </a:lnTo>
                <a:cubicBezTo>
                  <a:pt x="5601" y="1649"/>
                  <a:pt x="5544" y="1706"/>
                  <a:pt x="5474" y="1706"/>
                </a:cubicBezTo>
                <a:lnTo>
                  <a:pt x="126" y="1706"/>
                </a:lnTo>
                <a:cubicBezTo>
                  <a:pt x="56" y="1706"/>
                  <a:pt x="0" y="1649"/>
                  <a:pt x="0" y="1579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3391560" y="1898280"/>
            <a:ext cx="2000880" cy="599040"/>
          </a:xfrm>
          <a:custGeom>
            <a:avLst/>
            <a:gdLst/>
            <a:ahLst/>
            <a:rect l="0" t="0" r="r" b="b"/>
            <a:pathLst>
              <a:path w="5558" h="1664">
                <a:moveTo>
                  <a:pt x="0" y="1558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5453" y="0"/>
                </a:lnTo>
                <a:cubicBezTo>
                  <a:pt x="5511" y="0"/>
                  <a:pt x="5558" y="47"/>
                  <a:pt x="5558" y="106"/>
                </a:cubicBezTo>
                <a:lnTo>
                  <a:pt x="5558" y="1558"/>
                </a:lnTo>
                <a:cubicBezTo>
                  <a:pt x="5558" y="1616"/>
                  <a:pt x="5511" y="1664"/>
                  <a:pt x="5453" y="1664"/>
                </a:cubicBezTo>
                <a:lnTo>
                  <a:pt x="105" y="1664"/>
                </a:lnTo>
                <a:cubicBezTo>
                  <a:pt x="47" y="1664"/>
                  <a:pt x="0" y="1616"/>
                  <a:pt x="0" y="1558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511520" y="1506240"/>
            <a:ext cx="5310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9 for top 3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485520" y="1926000"/>
            <a:ext cx="808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Why this matters.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335840" y="1926000"/>
            <a:ext cx="962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Donor pool must span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490920" y="2046240"/>
            <a:ext cx="1616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Bihar’s pre-trend in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outcome space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164920" y="2046240"/>
            <a:ext cx="144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Se-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490920" y="2166480"/>
            <a:ext cx="1745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lecting on outcome correlation is more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490920" y="2286720"/>
            <a:ext cx="1796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robust than selecting on covariates alone.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7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00080" y="5760"/>
            <a:ext cx="20505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Method — Synthetic Control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56040" y="687240"/>
            <a:ext cx="681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Treated unit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i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069560" y="687240"/>
            <a:ext cx="1289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= 1 (Bihar) and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J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donors.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2404440" y="687240"/>
            <a:ext cx="756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Choose weights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197880" y="687240"/>
            <a:ext cx="113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a3a66"/>
                </a:solidFill>
                <a:latin typeface="LMSans10"/>
                <a:ea typeface="LMSans10"/>
              </a:rPr>
              <a:t>w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315240" y="687240"/>
            <a:ext cx="255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= (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w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564360" y="74376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2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3610800" y="696960"/>
            <a:ext cx="26604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, . . . ,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871080" y="68724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w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951000" y="744480"/>
            <a:ext cx="14112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J</a:t>
            </a:r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+1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105080" y="68724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50440" y="689040"/>
            <a:ext cx="75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MathSymbols6"/>
                <a:ea typeface="LMMathSymbols6"/>
              </a:rPr>
              <a:t>⊤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359640" y="974160"/>
            <a:ext cx="5040720" cy="410040"/>
          </a:xfrm>
          <a:custGeom>
            <a:avLst/>
            <a:gdLst/>
            <a:ahLst/>
            <a:rect l="0" t="0" r="r" b="b"/>
            <a:pathLst>
              <a:path w="14002" h="1139">
                <a:moveTo>
                  <a:pt x="0" y="1012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7"/>
                  <a:pt x="14002" y="127"/>
                </a:cubicBezTo>
                <a:lnTo>
                  <a:pt x="14002" y="1012"/>
                </a:lnTo>
                <a:cubicBezTo>
                  <a:pt x="14002" y="1082"/>
                  <a:pt x="13945" y="1139"/>
                  <a:pt x="13875" y="1139"/>
                </a:cubicBezTo>
                <a:lnTo>
                  <a:pt x="127" y="1139"/>
                </a:lnTo>
                <a:cubicBezTo>
                  <a:pt x="57" y="1139"/>
                  <a:pt x="0" y="1082"/>
                  <a:pt x="0" y="101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367560" y="981720"/>
            <a:ext cx="5025240" cy="394920"/>
          </a:xfrm>
          <a:custGeom>
            <a:avLst/>
            <a:gdLst/>
            <a:ahLst/>
            <a:rect l="0" t="0" r="r" b="b"/>
            <a:pathLst>
              <a:path w="13959" h="1097">
                <a:moveTo>
                  <a:pt x="0" y="991"/>
                </a:moveTo>
                <a:lnTo>
                  <a:pt x="0" y="107"/>
                </a:lnTo>
                <a:cubicBezTo>
                  <a:pt x="0" y="48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8"/>
                  <a:pt x="13959" y="107"/>
                </a:cubicBezTo>
                <a:lnTo>
                  <a:pt x="13959" y="991"/>
                </a:lnTo>
                <a:cubicBezTo>
                  <a:pt x="13959" y="1050"/>
                  <a:pt x="13911" y="1097"/>
                  <a:pt x="13853" y="1097"/>
                </a:cubicBezTo>
                <a:lnTo>
                  <a:pt x="105" y="1097"/>
                </a:lnTo>
                <a:cubicBezTo>
                  <a:pt x="47" y="1097"/>
                  <a:pt x="0" y="1050"/>
                  <a:pt x="0" y="991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4268880" y="687240"/>
            <a:ext cx="410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to solve: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143360" y="1055520"/>
            <a:ext cx="126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237680" y="1054440"/>
            <a:ext cx="8820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MathSymbols7"/>
                <a:ea typeface="LMMathSymbols7"/>
              </a:rPr>
              <a:t>∗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366200" y="1055520"/>
            <a:ext cx="546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= arg min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721520" y="1180800"/>
            <a:ext cx="882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90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787400" y="1188360"/>
            <a:ext cx="15300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MathSymbols7"/>
                <a:ea typeface="LMMathSymbols7"/>
              </a:rPr>
              <a:t>∈</a:t>
            </a:r>
            <a:r>
              <a:rPr b="0" i="1" lang="en-US" sz="690" spc="-1" strike="noStrike">
                <a:solidFill>
                  <a:srgbClr val="000000"/>
                </a:solidFill>
                <a:latin typeface="LMMathSymbols7"/>
                <a:ea typeface="LMMathSymbols7"/>
              </a:rPr>
              <a:t>W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998720" y="95868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998720" y="103464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068920" y="105552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153520" y="1118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1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2234880" y="10663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−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361600" y="105552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445840" y="1118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0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520360" y="1055520"/>
            <a:ext cx="126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614680" y="95868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614680" y="1034640"/>
            <a:ext cx="126000" cy="33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684880" y="114984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V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2789280" y="10663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,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2972160" y="10663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W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3142440" y="105552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=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276000" y="9259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3360600" y="1055520"/>
            <a:ext cx="2138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:</a:t>
            </a:r>
            <a:r>
              <a:rPr b="0" i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604680" y="1118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j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3678480" y="10663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Symbols10"/>
                <a:ea typeface="LMMathSymbols10"/>
              </a:rPr>
              <a:t>≥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812040" y="105552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0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875400" y="10663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,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3966840" y="94608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170600" y="105552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w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257000" y="11181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j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330800" y="1055520"/>
            <a:ext cx="2034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= 1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527720" y="92592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MathExtension10"/>
                <a:ea typeface="LMMathExtension10"/>
              </a:rPr>
              <a:t>o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360000" y="14778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31640" y="152208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1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478440" y="14778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55840" y="1477800"/>
            <a:ext cx="1349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predictor vector for treated;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1902600" y="152208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0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949040" y="14778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026800" y="14778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K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2136960" y="14864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244600" y="1477800"/>
            <a:ext cx="86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J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donor matrix;</a:t>
            </a:r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V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3147120" y="1477800"/>
            <a:ext cx="2082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predictor-importance weight matrix (chosen to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60000" y="1598040"/>
            <a:ext cx="1265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minimise pre-period MSPE).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356040" y="1830600"/>
            <a:ext cx="19558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f4c81"/>
                </a:solidFill>
                <a:latin typeface="LMSans10"/>
                <a:ea typeface="LMSans10"/>
              </a:rPr>
              <a:t>Two consequences of the convex-hull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2332800" y="1830600"/>
            <a:ext cx="5540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f4c81"/>
                </a:solidFill>
                <a:latin typeface="LMSans10"/>
                <a:ea typeface="LMSans10"/>
              </a:rPr>
              <a:t>constraint: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496800" y="2030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637200" y="2020320"/>
            <a:ext cx="4757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Synthetic Bihar cannot extrapolate beyond the donor envelope — good for honest counterfactuals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496800" y="22197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37200" y="2210040"/>
            <a:ext cx="2396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Near a corner, weights collapse to a single donor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3050640" y="22197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3206520" y="2210040"/>
            <a:ext cx="1925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poor pre-fit + spurious post-period gap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8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94680" y="5760"/>
            <a:ext cx="1178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The Convex Hull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5" name="" descr=""/>
          <p:cNvPicPr/>
          <p:nvPr/>
        </p:nvPicPr>
        <p:blipFill>
          <a:blip r:embed="rId1"/>
          <a:stretch/>
        </p:blipFill>
        <p:spPr>
          <a:xfrm>
            <a:off x="360000" y="516600"/>
            <a:ext cx="2519640" cy="1992600"/>
          </a:xfrm>
          <a:prstGeom prst="rect">
            <a:avLst/>
          </a:prstGeom>
          <a:ln w="0">
            <a:noFill/>
          </a:ln>
        </p:spPr>
      </p:pic>
      <p:sp>
        <p:nvSpPr>
          <p:cNvPr id="376" name=""/>
          <p:cNvSpPr txBox="1"/>
          <p:nvPr/>
        </p:nvSpPr>
        <p:spPr>
          <a:xfrm>
            <a:off x="1324080" y="5760"/>
            <a:ext cx="1640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Problem — And Its Fix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74840" y="2538000"/>
            <a:ext cx="1754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Bihar persistently</a:t>
            </a:r>
            <a:r>
              <a:rPr b="0" i="1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 below</a:t>
            </a:r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 the donor pool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280960" y="2538000"/>
            <a:ext cx="480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average 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50200" y="2658240"/>
            <a:ext cx="95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road-accident deaths.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075120" y="458280"/>
            <a:ext cx="9334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Without the fix.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218040" y="6724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358800" y="662760"/>
            <a:ext cx="2010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Match on socio-economic predictors only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3218040" y="8622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3358800" y="852480"/>
            <a:ext cx="1628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Optimiser picks 100% UP weight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3218040" y="10519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3358800" y="1042200"/>
            <a:ext cx="596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Pre-RMSPE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991680" y="10519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ef4444"/>
                </a:solidFill>
                <a:latin typeface="LMMathSymbols9"/>
                <a:ea typeface="LMMathSymbols9"/>
              </a:rPr>
              <a:t>∼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082760" y="1042560"/>
            <a:ext cx="6696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1,300 deaths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749840" y="1042200"/>
            <a:ext cx="494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; post gap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3358800" y="1181520"/>
            <a:ext cx="579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meaningless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075120" y="1428840"/>
            <a:ext cx="2326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With lagged-outcome anchoring (Abadie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3081600" y="1567800"/>
            <a:ext cx="6238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2010 §IV).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3218040" y="1782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358800" y="1772280"/>
            <a:ext cx="15490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Each pre-period year’s outcome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4937400" y="1782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093640" y="177228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3358800" y="1927080"/>
            <a:ext cx="10202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Mono9"/>
                <a:ea typeface="LMMono9"/>
              </a:rPr>
              <a:t>special_predictor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218040" y="2111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3358800" y="2101320"/>
            <a:ext cx="1027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Pre-RMSPE drops to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4423320" y="2101320"/>
            <a:ext cx="5022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1b9e4b"/>
                </a:solidFill>
                <a:latin typeface="LMSans10"/>
                <a:ea typeface="LMSans10"/>
              </a:rPr>
              <a:t>42 deaths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4963680" y="2101320"/>
            <a:ext cx="112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(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5008680" y="2111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&lt;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5112720" y="2101320"/>
            <a:ext cx="2872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1% of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3358800" y="2240280"/>
            <a:ext cx="1070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mean) — excellent fit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5433120" y="304740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9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08" name="" descr=""/>
          <p:cNvPicPr/>
          <p:nvPr/>
        </p:nvPicPr>
        <p:blipFill>
          <a:blip r:embed="rId1"/>
          <a:stretch/>
        </p:blipFill>
        <p:spPr>
          <a:xfrm>
            <a:off x="1116000" y="384120"/>
            <a:ext cx="3527640" cy="1579680"/>
          </a:xfrm>
          <a:prstGeom prst="rect">
            <a:avLst/>
          </a:prstGeom>
          <a:ln w="0">
            <a:noFill/>
          </a:ln>
        </p:spPr>
      </p:pic>
      <p:sp>
        <p:nvSpPr>
          <p:cNvPr id="409" name=""/>
          <p:cNvSpPr/>
          <p:nvPr/>
        </p:nvSpPr>
        <p:spPr>
          <a:xfrm>
            <a:off x="359640" y="2276280"/>
            <a:ext cx="1613520" cy="424440"/>
          </a:xfrm>
          <a:custGeom>
            <a:avLst/>
            <a:gdLst/>
            <a:ahLst/>
            <a:rect l="0" t="0" r="r" b="b"/>
            <a:pathLst>
              <a:path w="4482" h="1179">
                <a:moveTo>
                  <a:pt x="0" y="1038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038"/>
                </a:lnTo>
                <a:cubicBezTo>
                  <a:pt x="4482" y="1116"/>
                  <a:pt x="4419" y="1179"/>
                  <a:pt x="4341" y="1179"/>
                </a:cubicBezTo>
                <a:lnTo>
                  <a:pt x="141" y="1179"/>
                </a:lnTo>
                <a:cubicBezTo>
                  <a:pt x="63" y="1179"/>
                  <a:pt x="0" y="1116"/>
                  <a:pt x="0" y="1038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359640" y="2276280"/>
            <a:ext cx="1613520" cy="424440"/>
          </a:xfrm>
          <a:custGeom>
            <a:avLst/>
            <a:gdLst/>
            <a:ahLst/>
            <a:rect l="0" t="0" r="r" b="b"/>
            <a:pathLst>
              <a:path w="4482" h="1179">
                <a:moveTo>
                  <a:pt x="0" y="1038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038"/>
                </a:lnTo>
                <a:cubicBezTo>
                  <a:pt x="4482" y="1116"/>
                  <a:pt x="4419" y="1179"/>
                  <a:pt x="4341" y="1179"/>
                </a:cubicBezTo>
                <a:lnTo>
                  <a:pt x="141" y="1179"/>
                </a:lnTo>
                <a:cubicBezTo>
                  <a:pt x="63" y="1179"/>
                  <a:pt x="0" y="1116"/>
                  <a:pt x="0" y="103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0080" y="5760"/>
            <a:ext cx="3513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Result — Bihar vs Synthetic Bihar (Road Deaths)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904680" y="2293200"/>
            <a:ext cx="389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4a261"/>
                </a:solidFill>
                <a:latin typeface="LMSans10"/>
                <a:ea typeface="LMSans10"/>
              </a:rPr>
              <a:t>22.87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1292400" y="2306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120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×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2073240" y="2276280"/>
            <a:ext cx="1613520" cy="550800"/>
          </a:xfrm>
          <a:custGeom>
            <a:avLst/>
            <a:gdLst/>
            <a:ahLst/>
            <a:rect l="0" t="0" r="r" b="b"/>
            <a:pathLst>
              <a:path w="4482" h="1530">
                <a:moveTo>
                  <a:pt x="0" y="1390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390"/>
                </a:lnTo>
                <a:cubicBezTo>
                  <a:pt x="4482" y="1468"/>
                  <a:pt x="4419" y="1530"/>
                  <a:pt x="4341" y="1530"/>
                </a:cubicBezTo>
                <a:lnTo>
                  <a:pt x="141" y="1530"/>
                </a:lnTo>
                <a:cubicBezTo>
                  <a:pt x="63" y="1530"/>
                  <a:pt x="0" y="1468"/>
                  <a:pt x="0" y="1390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073240" y="2276280"/>
            <a:ext cx="1613520" cy="550800"/>
          </a:xfrm>
          <a:custGeom>
            <a:avLst/>
            <a:gdLst/>
            <a:ahLst/>
            <a:rect l="0" t="0" r="r" b="b"/>
            <a:pathLst>
              <a:path w="4482" h="1530">
                <a:moveTo>
                  <a:pt x="0" y="1390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390"/>
                </a:lnTo>
                <a:cubicBezTo>
                  <a:pt x="4482" y="1468"/>
                  <a:pt x="4419" y="1530"/>
                  <a:pt x="4341" y="1530"/>
                </a:cubicBezTo>
                <a:lnTo>
                  <a:pt x="141" y="1530"/>
                </a:lnTo>
                <a:cubicBezTo>
                  <a:pt x="63" y="1530"/>
                  <a:pt x="0" y="1468"/>
                  <a:pt x="0" y="139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81040" y="2471760"/>
            <a:ext cx="11498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RMSPE ratio (post/pre)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2514960" y="2299680"/>
            <a:ext cx="7246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4a261"/>
                </a:solidFill>
                <a:latin typeface="LMSans10"/>
                <a:ea typeface="LMSans10"/>
              </a:rPr>
              <a:t>+360 / yr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2419920" y="2478240"/>
            <a:ext cx="898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avg post-treatment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3786840" y="2276280"/>
            <a:ext cx="1613520" cy="424440"/>
          </a:xfrm>
          <a:custGeom>
            <a:avLst/>
            <a:gdLst/>
            <a:ahLst/>
            <a:rect l="0" t="0" r="r" b="b"/>
            <a:pathLst>
              <a:path w="4482" h="1179">
                <a:moveTo>
                  <a:pt x="0" y="1038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038"/>
                </a:lnTo>
                <a:cubicBezTo>
                  <a:pt x="4482" y="1116"/>
                  <a:pt x="4419" y="1179"/>
                  <a:pt x="4341" y="1179"/>
                </a:cubicBezTo>
                <a:lnTo>
                  <a:pt x="141" y="1179"/>
                </a:lnTo>
                <a:cubicBezTo>
                  <a:pt x="63" y="1179"/>
                  <a:pt x="0" y="1116"/>
                  <a:pt x="0" y="1038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786840" y="2276280"/>
            <a:ext cx="1613520" cy="424440"/>
          </a:xfrm>
          <a:custGeom>
            <a:avLst/>
            <a:gdLst/>
            <a:ahLst/>
            <a:rect l="0" t="0" r="r" b="b"/>
            <a:pathLst>
              <a:path w="4482" h="1179">
                <a:moveTo>
                  <a:pt x="0" y="1038"/>
                </a:moveTo>
                <a:lnTo>
                  <a:pt x="0" y="140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0"/>
                </a:cubicBezTo>
                <a:lnTo>
                  <a:pt x="4482" y="1038"/>
                </a:lnTo>
                <a:cubicBezTo>
                  <a:pt x="4482" y="1116"/>
                  <a:pt x="4419" y="1179"/>
                  <a:pt x="4341" y="1179"/>
                </a:cubicBezTo>
                <a:lnTo>
                  <a:pt x="141" y="1179"/>
                </a:lnTo>
                <a:cubicBezTo>
                  <a:pt x="63" y="1179"/>
                  <a:pt x="0" y="1116"/>
                  <a:pt x="0" y="103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2578680" y="2598480"/>
            <a:ext cx="5965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gap (deaths)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253040" y="2293200"/>
            <a:ext cx="1544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4a261"/>
                </a:solidFill>
                <a:latin typeface="LMSans10"/>
                <a:ea typeface="LMSans10"/>
              </a:rPr>
              <a:t>p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385880" y="2306160"/>
            <a:ext cx="1515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20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≈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550400" y="2293200"/>
            <a:ext cx="389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4a261"/>
                </a:solidFill>
                <a:latin typeface="LMSans10"/>
                <a:ea typeface="LMSans10"/>
              </a:rPr>
              <a:t>0.071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981240" y="2471760"/>
            <a:ext cx="5997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permutation,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637520" y="2471760"/>
            <a:ext cx="5403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rank 2 / 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10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30" name="" descr=""/>
          <p:cNvPicPr/>
          <p:nvPr/>
        </p:nvPicPr>
        <p:blipFill>
          <a:blip r:embed="rId1"/>
          <a:stretch/>
        </p:blipFill>
        <p:spPr>
          <a:xfrm>
            <a:off x="360000" y="563760"/>
            <a:ext cx="2771640" cy="986040"/>
          </a:xfrm>
          <a:prstGeom prst="rect">
            <a:avLst/>
          </a:prstGeom>
          <a:ln w="0">
            <a:noFill/>
          </a:ln>
        </p:spPr>
      </p:pic>
      <p:sp>
        <p:nvSpPr>
          <p:cNvPr id="431" name=""/>
          <p:cNvSpPr txBox="1"/>
          <p:nvPr/>
        </p:nvSpPr>
        <p:spPr>
          <a:xfrm>
            <a:off x="94680" y="5760"/>
            <a:ext cx="2416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Treatment Effect — Year by Year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3283200" y="789120"/>
            <a:ext cx="2117160" cy="498240"/>
          </a:xfrm>
          <a:custGeom>
            <a:avLst/>
            <a:gdLst/>
            <a:ahLst/>
            <a:rect l="0" t="0" r="r" b="b"/>
            <a:pathLst>
              <a:path w="5881" h="1384">
                <a:moveTo>
                  <a:pt x="0" y="1257"/>
                </a:moveTo>
                <a:lnTo>
                  <a:pt x="0" y="127"/>
                </a:lnTo>
                <a:cubicBezTo>
                  <a:pt x="0" y="57"/>
                  <a:pt x="56" y="0"/>
                  <a:pt x="126" y="0"/>
                </a:cubicBezTo>
                <a:lnTo>
                  <a:pt x="5754" y="0"/>
                </a:lnTo>
                <a:cubicBezTo>
                  <a:pt x="5824" y="0"/>
                  <a:pt x="5881" y="57"/>
                  <a:pt x="5881" y="127"/>
                </a:cubicBezTo>
                <a:lnTo>
                  <a:pt x="5881" y="1257"/>
                </a:lnTo>
                <a:cubicBezTo>
                  <a:pt x="5881" y="1327"/>
                  <a:pt x="5824" y="1384"/>
                  <a:pt x="5754" y="1384"/>
                </a:cubicBezTo>
                <a:lnTo>
                  <a:pt x="126" y="1384"/>
                </a:lnTo>
                <a:cubicBezTo>
                  <a:pt x="56" y="1384"/>
                  <a:pt x="0" y="1327"/>
                  <a:pt x="0" y="1257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290760" y="797040"/>
            <a:ext cx="2101680" cy="482760"/>
          </a:xfrm>
          <a:custGeom>
            <a:avLst/>
            <a:gdLst/>
            <a:ahLst/>
            <a:rect l="0" t="0" r="r" b="b"/>
            <a:pathLst>
              <a:path w="5838" h="1341">
                <a:moveTo>
                  <a:pt x="0" y="1236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5733" y="0"/>
                </a:lnTo>
                <a:cubicBezTo>
                  <a:pt x="5791" y="0"/>
                  <a:pt x="5838" y="47"/>
                  <a:pt x="5838" y="105"/>
                </a:cubicBezTo>
                <a:lnTo>
                  <a:pt x="5838" y="1236"/>
                </a:lnTo>
                <a:cubicBezTo>
                  <a:pt x="5838" y="1294"/>
                  <a:pt x="5791" y="1341"/>
                  <a:pt x="5733" y="1341"/>
                </a:cubicBezTo>
                <a:lnTo>
                  <a:pt x="105" y="1341"/>
                </a:lnTo>
                <a:cubicBezTo>
                  <a:pt x="47" y="1341"/>
                  <a:pt x="0" y="1294"/>
                  <a:pt x="0" y="1236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278520" y="505800"/>
            <a:ext cx="119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Two distinct phases: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390120" y="828720"/>
            <a:ext cx="11210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2016–2017 (lives saved).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4570200" y="837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∼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4654080" y="828720"/>
            <a:ext cx="636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600–900 fewer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3390120" y="948960"/>
            <a:ext cx="1873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deaths than counterfactual; consistent with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3283200" y="1513080"/>
            <a:ext cx="2117160" cy="598680"/>
          </a:xfrm>
          <a:custGeom>
            <a:avLst/>
            <a:gdLst/>
            <a:ahLst/>
            <a:rect l="0" t="0" r="r" b="b"/>
            <a:pathLst>
              <a:path w="5881" h="1663">
                <a:moveTo>
                  <a:pt x="0" y="1535"/>
                </a:moveTo>
                <a:lnTo>
                  <a:pt x="0" y="127"/>
                </a:lnTo>
                <a:cubicBezTo>
                  <a:pt x="0" y="57"/>
                  <a:pt x="56" y="0"/>
                  <a:pt x="126" y="0"/>
                </a:cubicBezTo>
                <a:lnTo>
                  <a:pt x="5754" y="0"/>
                </a:lnTo>
                <a:cubicBezTo>
                  <a:pt x="5824" y="0"/>
                  <a:pt x="5881" y="57"/>
                  <a:pt x="5881" y="127"/>
                </a:cubicBezTo>
                <a:lnTo>
                  <a:pt x="5881" y="1535"/>
                </a:lnTo>
                <a:cubicBezTo>
                  <a:pt x="5881" y="1605"/>
                  <a:pt x="5824" y="1663"/>
                  <a:pt x="5754" y="1663"/>
                </a:cubicBezTo>
                <a:lnTo>
                  <a:pt x="126" y="1663"/>
                </a:lnTo>
                <a:cubicBezTo>
                  <a:pt x="56" y="1663"/>
                  <a:pt x="0" y="1605"/>
                  <a:pt x="0" y="1535"/>
                </a:cubicBez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3290760" y="1520640"/>
            <a:ext cx="2101680" cy="583560"/>
          </a:xfrm>
          <a:custGeom>
            <a:avLst/>
            <a:gdLst/>
            <a:ahLst/>
            <a:rect l="0" t="0" r="r" b="b"/>
            <a:pathLst>
              <a:path w="5838" h="1621">
                <a:moveTo>
                  <a:pt x="0" y="1515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5733" y="0"/>
                </a:lnTo>
                <a:cubicBezTo>
                  <a:pt x="5791" y="0"/>
                  <a:pt x="5838" y="47"/>
                  <a:pt x="5838" y="106"/>
                </a:cubicBezTo>
                <a:lnTo>
                  <a:pt x="5838" y="1515"/>
                </a:lnTo>
                <a:cubicBezTo>
                  <a:pt x="5838" y="1574"/>
                  <a:pt x="5791" y="1621"/>
                  <a:pt x="5733" y="1621"/>
                </a:cubicBezTo>
                <a:lnTo>
                  <a:pt x="105" y="1621"/>
                </a:lnTo>
                <a:cubicBezTo>
                  <a:pt x="47" y="1621"/>
                  <a:pt x="0" y="1574"/>
                  <a:pt x="0" y="1515"/>
                </a:cubicBezTo>
                <a:close/>
              </a:path>
            </a:pathLst>
          </a:custGeom>
          <a:solidFill>
            <a:srgbClr val="fe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390120" y="1069200"/>
            <a:ext cx="1018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immediate compliance.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390120" y="1552680"/>
            <a:ext cx="1309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2018–2022 (effect reverses).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4743000" y="1552680"/>
            <a:ext cx="55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 climbs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3390120" y="1672920"/>
            <a:ext cx="259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above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3728160" y="1672920"/>
            <a:ext cx="404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synthetic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208760" y="1672920"/>
            <a:ext cx="10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384800" y="1672920"/>
            <a:ext cx="331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+1,000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4791600" y="1672920"/>
            <a:ext cx="102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957920" y="1672920"/>
            <a:ext cx="331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+3,300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3390120" y="1792800"/>
            <a:ext cx="1872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deaths/yr — consistent with illicit-market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3283200" y="2337480"/>
            <a:ext cx="2117160" cy="366840"/>
          </a:xfrm>
          <a:custGeom>
            <a:avLst/>
            <a:gdLst/>
            <a:ahLst/>
            <a:rect l="0" t="0" r="r" b="b"/>
            <a:pathLst>
              <a:path w="5881" h="1019">
                <a:moveTo>
                  <a:pt x="0" y="892"/>
                </a:moveTo>
                <a:lnTo>
                  <a:pt x="0" y="127"/>
                </a:lnTo>
                <a:cubicBezTo>
                  <a:pt x="0" y="56"/>
                  <a:pt x="56" y="0"/>
                  <a:pt x="126" y="0"/>
                </a:cubicBezTo>
                <a:lnTo>
                  <a:pt x="5754" y="0"/>
                </a:lnTo>
                <a:cubicBezTo>
                  <a:pt x="5824" y="0"/>
                  <a:pt x="5881" y="56"/>
                  <a:pt x="5881" y="127"/>
                </a:cubicBezTo>
                <a:lnTo>
                  <a:pt x="5881" y="892"/>
                </a:lnTo>
                <a:cubicBezTo>
                  <a:pt x="5881" y="962"/>
                  <a:pt x="5824" y="1019"/>
                  <a:pt x="5754" y="1019"/>
                </a:cubicBezTo>
                <a:lnTo>
                  <a:pt x="126" y="1019"/>
                </a:lnTo>
                <a:cubicBezTo>
                  <a:pt x="56" y="1019"/>
                  <a:pt x="0" y="962"/>
                  <a:pt x="0" y="892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3290760" y="2345040"/>
            <a:ext cx="2101680" cy="351720"/>
          </a:xfrm>
          <a:custGeom>
            <a:avLst/>
            <a:gdLst/>
            <a:ahLst/>
            <a:rect l="0" t="0" r="r" b="b"/>
            <a:pathLst>
              <a:path w="5838" h="977">
                <a:moveTo>
                  <a:pt x="0" y="871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5733" y="0"/>
                </a:lnTo>
                <a:cubicBezTo>
                  <a:pt x="5791" y="0"/>
                  <a:pt x="5838" y="47"/>
                  <a:pt x="5838" y="105"/>
                </a:cubicBezTo>
                <a:lnTo>
                  <a:pt x="5838" y="871"/>
                </a:lnTo>
                <a:cubicBezTo>
                  <a:pt x="5838" y="930"/>
                  <a:pt x="5791" y="977"/>
                  <a:pt x="5733" y="977"/>
                </a:cubicBezTo>
                <a:lnTo>
                  <a:pt x="105" y="977"/>
                </a:lnTo>
                <a:cubicBezTo>
                  <a:pt x="47" y="977"/>
                  <a:pt x="0" y="930"/>
                  <a:pt x="0" y="871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390120" y="1913040"/>
            <a:ext cx="1675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substitution and weaker enforcement.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3390120" y="2372760"/>
            <a:ext cx="709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Donor weights: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171320" y="2372760"/>
            <a:ext cx="74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Jharkhand 0.68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4977720" y="237276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Odisha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3390120" y="2492640"/>
            <a:ext cx="651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0.16, UP 0.16.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11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360000" y="574200"/>
            <a:ext cx="3023640" cy="135360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 txBox="1"/>
          <p:nvPr/>
        </p:nvSpPr>
        <p:spPr>
          <a:xfrm>
            <a:off x="100080" y="5760"/>
            <a:ext cx="2123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Inference — In-Space Placebo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3535200" y="516240"/>
            <a:ext cx="1027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Permutation test.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3535200" y="753120"/>
            <a:ext cx="1850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Refit SCM treating each of 13 donors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3535200" y="925200"/>
            <a:ext cx="6224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as if treated.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207680" y="925200"/>
            <a:ext cx="912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Bihar’s gap (navy)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3535200" y="1097280"/>
            <a:ext cx="1879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should stand out from placebos (gray)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3535200" y="1628640"/>
            <a:ext cx="1865160" cy="425160"/>
          </a:xfrm>
          <a:custGeom>
            <a:avLst/>
            <a:gdLst/>
            <a:ahLst/>
            <a:rect l="0" t="0" r="r" b="b"/>
            <a:pathLst>
              <a:path w="5181" h="1181">
                <a:moveTo>
                  <a:pt x="0" y="1040"/>
                </a:moveTo>
                <a:lnTo>
                  <a:pt x="0" y="140"/>
                </a:lnTo>
                <a:cubicBezTo>
                  <a:pt x="0" y="62"/>
                  <a:pt x="63" y="0"/>
                  <a:pt x="140" y="0"/>
                </a:cubicBezTo>
                <a:lnTo>
                  <a:pt x="5040" y="0"/>
                </a:lnTo>
                <a:cubicBezTo>
                  <a:pt x="5118" y="0"/>
                  <a:pt x="5181" y="62"/>
                  <a:pt x="5181" y="140"/>
                </a:cubicBezTo>
                <a:lnTo>
                  <a:pt x="5181" y="1040"/>
                </a:lnTo>
                <a:cubicBezTo>
                  <a:pt x="5181" y="1118"/>
                  <a:pt x="5118" y="1181"/>
                  <a:pt x="5040" y="1181"/>
                </a:cubicBezTo>
                <a:lnTo>
                  <a:pt x="140" y="1181"/>
                </a:lnTo>
                <a:cubicBezTo>
                  <a:pt x="63" y="1181"/>
                  <a:pt x="0" y="1118"/>
                  <a:pt x="0" y="1040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3535200" y="1628640"/>
            <a:ext cx="1865160" cy="425160"/>
          </a:xfrm>
          <a:custGeom>
            <a:avLst/>
            <a:gdLst/>
            <a:ahLst/>
            <a:rect l="0" t="0" r="r" b="b"/>
            <a:pathLst>
              <a:path w="5181" h="1181">
                <a:moveTo>
                  <a:pt x="0" y="1040"/>
                </a:moveTo>
                <a:lnTo>
                  <a:pt x="0" y="140"/>
                </a:lnTo>
                <a:cubicBezTo>
                  <a:pt x="0" y="62"/>
                  <a:pt x="63" y="0"/>
                  <a:pt x="140" y="0"/>
                </a:cubicBezTo>
                <a:lnTo>
                  <a:pt x="5040" y="0"/>
                </a:lnTo>
                <a:cubicBezTo>
                  <a:pt x="5118" y="0"/>
                  <a:pt x="5181" y="62"/>
                  <a:pt x="5181" y="140"/>
                </a:cubicBezTo>
                <a:lnTo>
                  <a:pt x="5181" y="1040"/>
                </a:lnTo>
                <a:cubicBezTo>
                  <a:pt x="5181" y="1118"/>
                  <a:pt x="5118" y="1181"/>
                  <a:pt x="5040" y="1181"/>
                </a:cubicBezTo>
                <a:lnTo>
                  <a:pt x="140" y="1181"/>
                </a:lnTo>
                <a:cubicBezTo>
                  <a:pt x="63" y="1181"/>
                  <a:pt x="0" y="1118"/>
                  <a:pt x="0" y="104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3535200" y="1269360"/>
            <a:ext cx="925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if the effect is real.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4050360" y="1652040"/>
            <a:ext cx="87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4a261"/>
                </a:solidFill>
                <a:latin typeface="LMSans10"/>
                <a:ea typeface="LMSans10"/>
              </a:rPr>
              <a:t>Rank 2 / 14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222800" y="1830600"/>
            <a:ext cx="1029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4326840" y="1839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4456800" y="1830600"/>
            <a:ext cx="2552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0.071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535200" y="2208240"/>
            <a:ext cx="1745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Only Maharashtra has a larger ratio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535200" y="2379960"/>
            <a:ext cx="1820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consistent with its own outlier post-2018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535200" y="2552040"/>
            <a:ext cx="1351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trajectory unrelated to 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4927680" y="2552040"/>
            <a:ext cx="28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policy.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82" name="" descr=""/>
          <p:cNvPicPr/>
          <p:nvPr/>
        </p:nvPicPr>
        <p:blipFill>
          <a:blip r:embed="rId1"/>
          <a:stretch/>
        </p:blipFill>
        <p:spPr>
          <a:xfrm>
            <a:off x="360000" y="745560"/>
            <a:ext cx="3023640" cy="1353960"/>
          </a:xfrm>
          <a:prstGeom prst="rect">
            <a:avLst/>
          </a:prstGeom>
          <a:ln w="0">
            <a:noFill/>
          </a:ln>
        </p:spPr>
      </p:pic>
      <p:sp>
        <p:nvSpPr>
          <p:cNvPr id="483" name=""/>
          <p:cNvSpPr txBox="1"/>
          <p:nvPr/>
        </p:nvSpPr>
        <p:spPr>
          <a:xfrm>
            <a:off x="100080" y="5760"/>
            <a:ext cx="2123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Robustness — Leave-One-Out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3535200" y="687600"/>
            <a:ext cx="1448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Drop each donor in turn.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535200" y="924480"/>
            <a:ext cx="1622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If a single donor were driving the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535200" y="1096560"/>
            <a:ext cx="1838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result, removing it would collapse the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3535200" y="1268640"/>
            <a:ext cx="47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synthetic.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056120" y="1268640"/>
            <a:ext cx="5022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Instead all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595040" y="1268640"/>
            <a:ext cx="675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13 LOO refits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3535200" y="1818000"/>
            <a:ext cx="1865160" cy="613800"/>
          </a:xfrm>
          <a:custGeom>
            <a:avLst/>
            <a:gdLst/>
            <a:ahLst/>
            <a:rect l="0" t="0" r="r" b="b"/>
            <a:pathLst>
              <a:path w="5181" h="1705">
                <a:moveTo>
                  <a:pt x="0" y="1579"/>
                </a:moveTo>
                <a:lnTo>
                  <a:pt x="0" y="126"/>
                </a:lnTo>
                <a:cubicBezTo>
                  <a:pt x="0" y="56"/>
                  <a:pt x="56" y="0"/>
                  <a:pt x="126" y="0"/>
                </a:cubicBezTo>
                <a:lnTo>
                  <a:pt x="5054" y="0"/>
                </a:lnTo>
                <a:cubicBezTo>
                  <a:pt x="5124" y="0"/>
                  <a:pt x="5181" y="56"/>
                  <a:pt x="5181" y="126"/>
                </a:cubicBezTo>
                <a:lnTo>
                  <a:pt x="5181" y="1579"/>
                </a:lnTo>
                <a:cubicBezTo>
                  <a:pt x="5181" y="1649"/>
                  <a:pt x="5124" y="1705"/>
                  <a:pt x="5054" y="1705"/>
                </a:cubicBezTo>
                <a:lnTo>
                  <a:pt x="126" y="1705"/>
                </a:lnTo>
                <a:cubicBezTo>
                  <a:pt x="56" y="1705"/>
                  <a:pt x="0" y="1649"/>
                  <a:pt x="0" y="1579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3542760" y="1825560"/>
            <a:ext cx="1849680" cy="598680"/>
          </a:xfrm>
          <a:custGeom>
            <a:avLst/>
            <a:gdLst/>
            <a:ahLst/>
            <a:rect l="0" t="0" r="r" b="b"/>
            <a:pathLst>
              <a:path w="5138" h="1663">
                <a:moveTo>
                  <a:pt x="0" y="1558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5033" y="0"/>
                </a:lnTo>
                <a:cubicBezTo>
                  <a:pt x="5091" y="0"/>
                  <a:pt x="5138" y="47"/>
                  <a:pt x="5138" y="105"/>
                </a:cubicBezTo>
                <a:lnTo>
                  <a:pt x="5138" y="1558"/>
                </a:lnTo>
                <a:cubicBezTo>
                  <a:pt x="5138" y="1616"/>
                  <a:pt x="5091" y="1663"/>
                  <a:pt x="5033" y="1663"/>
                </a:cubicBezTo>
                <a:lnTo>
                  <a:pt x="105" y="1663"/>
                </a:lnTo>
                <a:cubicBezTo>
                  <a:pt x="47" y="1663"/>
                  <a:pt x="0" y="1616"/>
                  <a:pt x="0" y="1558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3535200" y="1440720"/>
            <a:ext cx="1598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trace nearly the same trajectory.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3642120" y="1852920"/>
            <a:ext cx="28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Result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3979080" y="1852920"/>
            <a:ext cx="259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is</a:t>
            </a:r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 not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310640" y="1852920"/>
            <a:ext cx="9259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driven by any single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642120" y="1973160"/>
            <a:ext cx="1652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donor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including dropping the dom-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3642120" y="2093400"/>
            <a:ext cx="1590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inant Jharkhand weight produces a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3642120" y="2213640"/>
            <a:ext cx="843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materially identical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4526640" y="2213640"/>
            <a:ext cx="427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synthetic.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00080" y="5760"/>
            <a:ext cx="2187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Method — Bayesian Structural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330640" y="5760"/>
            <a:ext cx="8251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Time Series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359640" y="826920"/>
            <a:ext cx="5040720" cy="306000"/>
          </a:xfrm>
          <a:custGeom>
            <a:avLst/>
            <a:gdLst/>
            <a:ahLst/>
            <a:rect l="0" t="0" r="r" b="b"/>
            <a:pathLst>
              <a:path w="14002" h="850">
                <a:moveTo>
                  <a:pt x="0" y="724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6"/>
                  <a:pt x="14002" y="126"/>
                </a:cubicBezTo>
                <a:lnTo>
                  <a:pt x="14002" y="724"/>
                </a:lnTo>
                <a:cubicBezTo>
                  <a:pt x="14002" y="793"/>
                  <a:pt x="13945" y="850"/>
                  <a:pt x="13875" y="850"/>
                </a:cubicBezTo>
                <a:lnTo>
                  <a:pt x="127" y="850"/>
                </a:lnTo>
                <a:cubicBezTo>
                  <a:pt x="57" y="850"/>
                  <a:pt x="0" y="793"/>
                  <a:pt x="0" y="724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367560" y="834480"/>
            <a:ext cx="5025240" cy="290880"/>
          </a:xfrm>
          <a:custGeom>
            <a:avLst/>
            <a:gdLst/>
            <a:ahLst/>
            <a:rect l="0" t="0" r="r" b="b"/>
            <a:pathLst>
              <a:path w="13959" h="808">
                <a:moveTo>
                  <a:pt x="0" y="703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7"/>
                  <a:pt x="13959" y="105"/>
                </a:cubicBezTo>
                <a:lnTo>
                  <a:pt x="13959" y="703"/>
                </a:lnTo>
                <a:cubicBezTo>
                  <a:pt x="13959" y="761"/>
                  <a:pt x="13911" y="808"/>
                  <a:pt x="13853" y="808"/>
                </a:cubicBezTo>
                <a:lnTo>
                  <a:pt x="105" y="808"/>
                </a:lnTo>
                <a:cubicBezTo>
                  <a:pt x="47" y="808"/>
                  <a:pt x="0" y="761"/>
                  <a:pt x="0" y="703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60000" y="540000"/>
            <a:ext cx="2850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Brodersen et al. (2015) decompose the observed series as: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2063520" y="8805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y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121840" y="9435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2238840" y="8805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=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2407680" y="8913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µ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2483640" y="9435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2593800" y="8805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+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2755440" y="8913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τ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2810880" y="9435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921040" y="8805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+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3082680" y="8913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β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170520" y="875520"/>
            <a:ext cx="8820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MathSymbols7"/>
                <a:ea typeface="LMMathSymbols7"/>
              </a:rPr>
              <a:t>⊤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255840" y="880560"/>
            <a:ext cx="1260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x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3319200" y="9435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3429000" y="880560"/>
            <a:ext cx="1260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9" spc="-1" strike="noStrike">
                <a:solidFill>
                  <a:srgbClr val="000000"/>
                </a:solidFill>
                <a:latin typeface="LMSans10"/>
                <a:ea typeface="LMSans10"/>
              </a:rPr>
              <a:t>+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590640" y="891360"/>
            <a:ext cx="1260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89" spc="-1" strike="noStrike">
                <a:solidFill>
                  <a:srgbClr val="000000"/>
                </a:solidFill>
                <a:latin typeface="LMMathItalic10"/>
                <a:ea typeface="LMMathItalic10"/>
              </a:rPr>
              <a:t>ε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649680" y="943560"/>
            <a:ext cx="882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90" spc="-1" strike="noStrike">
                <a:solidFill>
                  <a:srgbClr val="000000"/>
                </a:solidFill>
                <a:latin typeface="LMSans8"/>
                <a:ea typeface="LMSans8"/>
              </a:rPr>
              <a:t>t</a:t>
            </a:r>
            <a:endParaRPr b="0" lang="en-US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60000" y="12330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µ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424800" y="126612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465840" y="122436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543240" y="1224360"/>
            <a:ext cx="433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local-level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019160" y="1224360"/>
            <a:ext cx="23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trend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319400" y="12330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|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414800" y="12330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τ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462680" y="126612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503720" y="122436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581120" y="1224360"/>
            <a:ext cx="1259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seasonality (omitted, annual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2881440" y="1224360"/>
            <a:ext cx="238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data)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3186720" y="12330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|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3282480" y="12330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i="1" lang="en-US" sz="790" spc="-1" strike="noStrike">
                <a:solidFill>
                  <a:srgbClr val="0a3a66"/>
                </a:solidFill>
                <a:latin typeface="LMMathItalic10"/>
                <a:ea typeface="LMMathItalic10"/>
              </a:rPr>
              <a:t>β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3352680" y="1221120"/>
            <a:ext cx="75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MathSymbols6"/>
                <a:ea typeface="LMMathSymbols6"/>
              </a:rPr>
              <a:t>⊤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3432240" y="1224360"/>
            <a:ext cx="1008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a3a66"/>
                </a:solidFill>
                <a:latin typeface="LMSans10"/>
                <a:ea typeface="LMSans10"/>
              </a:rPr>
              <a:t>x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3482640" y="126612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523680" y="122436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601440" y="1224360"/>
            <a:ext cx="1555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regression on donor outcomes with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60000" y="1344600"/>
            <a:ext cx="910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spike-and-slab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 priors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333440" y="1353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|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1429200" y="1353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ε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478880" y="138636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1549800" y="1353240"/>
            <a:ext cx="1807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∼ </a:t>
            </a:r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766160" y="1344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(0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861920" y="1353240"/>
            <a:ext cx="110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, σ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974600" y="1338120"/>
            <a:ext cx="75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2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021400" y="1344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354240" y="157716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f4c81"/>
                </a:solidFill>
                <a:latin typeface="LMSans10"/>
                <a:ea typeface="LMSans10"/>
              </a:rPr>
              <a:t>Why BSTS triangulates with SCM: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96800" y="17766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37200" y="1766880"/>
            <a:ext cx="951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Different functional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624680" y="1766880"/>
            <a:ext cx="2658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form (linear regression with priors vs. convex average)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4299120" y="17766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455360" y="1766880"/>
            <a:ext cx="404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different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637200" y="1906200"/>
            <a:ext cx="1059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mis-specification risks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496800" y="21056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33240" y="2095920"/>
            <a:ext cx="483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Yields full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154880" y="2095920"/>
            <a:ext cx="425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posterior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618200" y="21056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774440" y="2095920"/>
            <a:ext cx="820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credible intervals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96800" y="22953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37200" y="2285640"/>
            <a:ext cx="369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Caveat: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056960" y="2285640"/>
            <a:ext cx="309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with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367280" y="2342160"/>
            <a:ext cx="10584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pre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508760" y="2285640"/>
            <a:ext cx="189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= 6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723320" y="2295360"/>
            <a:ext cx="1209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≪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873080" y="2285640"/>
            <a:ext cx="1451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J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= 13 the regression overfits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3355560" y="22953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3511800" y="2285640"/>
            <a:ext cx="1877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restrict to top-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k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donors via correlation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2520" y="242496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(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77880" y="2440800"/>
            <a:ext cx="7200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Mono9"/>
                <a:ea typeface="LMMono9"/>
              </a:rPr>
              <a:t>max_donors=3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395360" y="2424960"/>
            <a:ext cx="857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, Brodersen §3.2)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78" name="" descr=""/>
          <p:cNvPicPr/>
          <p:nvPr/>
        </p:nvPicPr>
        <p:blipFill>
          <a:blip r:embed="rId1"/>
          <a:stretch/>
        </p:blipFill>
        <p:spPr>
          <a:xfrm>
            <a:off x="1468800" y="243720"/>
            <a:ext cx="2822040" cy="2021040"/>
          </a:xfrm>
          <a:prstGeom prst="rect">
            <a:avLst/>
          </a:prstGeom>
          <a:ln w="0">
            <a:noFill/>
          </a:ln>
        </p:spPr>
      </p:pic>
      <p:sp>
        <p:nvSpPr>
          <p:cNvPr id="579" name=""/>
          <p:cNvSpPr/>
          <p:nvPr/>
        </p:nvSpPr>
        <p:spPr>
          <a:xfrm>
            <a:off x="359640" y="2540880"/>
            <a:ext cx="2419920" cy="382320"/>
          </a:xfrm>
          <a:custGeom>
            <a:avLst/>
            <a:gdLst/>
            <a:ahLst/>
            <a:rect l="0" t="0" r="r" b="b"/>
            <a:pathLst>
              <a:path w="6722" h="1062">
                <a:moveTo>
                  <a:pt x="0" y="939"/>
                </a:moveTo>
                <a:lnTo>
                  <a:pt x="0" y="123"/>
                </a:lnTo>
                <a:cubicBezTo>
                  <a:pt x="0" y="55"/>
                  <a:pt x="56" y="0"/>
                  <a:pt x="123" y="0"/>
                </a:cubicBezTo>
                <a:lnTo>
                  <a:pt x="6598" y="0"/>
                </a:lnTo>
                <a:cubicBezTo>
                  <a:pt x="6666" y="0"/>
                  <a:pt x="6722" y="55"/>
                  <a:pt x="6722" y="123"/>
                </a:cubicBezTo>
                <a:lnTo>
                  <a:pt x="6722" y="939"/>
                </a:lnTo>
                <a:cubicBezTo>
                  <a:pt x="6722" y="1007"/>
                  <a:pt x="6666" y="1062"/>
                  <a:pt x="6598" y="1062"/>
                </a:cubicBezTo>
                <a:lnTo>
                  <a:pt x="123" y="1062"/>
                </a:lnTo>
                <a:cubicBezTo>
                  <a:pt x="56" y="1062"/>
                  <a:pt x="0" y="1007"/>
                  <a:pt x="0" y="939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66120" y="2547360"/>
            <a:ext cx="2406960" cy="369720"/>
          </a:xfrm>
          <a:custGeom>
            <a:avLst/>
            <a:gdLst/>
            <a:ahLst/>
            <a:rect l="0" t="0" r="r" b="b"/>
            <a:pathLst>
              <a:path w="6686" h="1027">
                <a:moveTo>
                  <a:pt x="0" y="921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80" y="0"/>
                </a:lnTo>
                <a:cubicBezTo>
                  <a:pt x="6639" y="0"/>
                  <a:pt x="6686" y="47"/>
                  <a:pt x="6686" y="105"/>
                </a:cubicBezTo>
                <a:lnTo>
                  <a:pt x="6686" y="921"/>
                </a:lnTo>
                <a:cubicBezTo>
                  <a:pt x="6686" y="980"/>
                  <a:pt x="6639" y="1027"/>
                  <a:pt x="6580" y="1027"/>
                </a:cubicBezTo>
                <a:lnTo>
                  <a:pt x="105" y="1027"/>
                </a:lnTo>
                <a:cubicBezTo>
                  <a:pt x="47" y="1027"/>
                  <a:pt x="0" y="980"/>
                  <a:pt x="0" y="921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00080" y="5760"/>
            <a:ext cx="2750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BSTS Result — Road-Accident Deaths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52880" y="2580480"/>
            <a:ext cx="3636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Donors: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870120" y="2580480"/>
            <a:ext cx="702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Haryana 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1582920" y="25891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612800" y="2580480"/>
            <a:ext cx="854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82), Odisha 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488320" y="25891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2518200" y="2580480"/>
            <a:ext cx="180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67),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47840" y="2700720"/>
            <a:ext cx="567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West Bengal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052280" y="270072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= 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338840" y="2709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980800" y="2540880"/>
            <a:ext cx="2419560" cy="498240"/>
          </a:xfrm>
          <a:custGeom>
            <a:avLst/>
            <a:gdLst/>
            <a:ahLst/>
            <a:rect l="0" t="0" r="r" b="b"/>
            <a:pathLst>
              <a:path w="6721" h="1384">
                <a:moveTo>
                  <a:pt x="0" y="1257"/>
                </a:moveTo>
                <a:lnTo>
                  <a:pt x="0" y="127"/>
                </a:lnTo>
                <a:cubicBezTo>
                  <a:pt x="0" y="57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7"/>
                  <a:pt x="6721" y="127"/>
                </a:cubicBezTo>
                <a:lnTo>
                  <a:pt x="6721" y="1257"/>
                </a:lnTo>
                <a:cubicBezTo>
                  <a:pt x="6721" y="1327"/>
                  <a:pt x="6664" y="1384"/>
                  <a:pt x="6594" y="1384"/>
                </a:cubicBezTo>
                <a:lnTo>
                  <a:pt x="126" y="1384"/>
                </a:lnTo>
                <a:cubicBezTo>
                  <a:pt x="56" y="1384"/>
                  <a:pt x="0" y="1327"/>
                  <a:pt x="0" y="1257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2988360" y="2548440"/>
            <a:ext cx="2404080" cy="483120"/>
          </a:xfrm>
          <a:custGeom>
            <a:avLst/>
            <a:gdLst/>
            <a:ahLst/>
            <a:rect l="0" t="0" r="r" b="b"/>
            <a:pathLst>
              <a:path w="6678" h="1342">
                <a:moveTo>
                  <a:pt x="0" y="1236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8"/>
                  <a:pt x="6678" y="106"/>
                </a:cubicBezTo>
                <a:lnTo>
                  <a:pt x="6678" y="1236"/>
                </a:lnTo>
                <a:cubicBezTo>
                  <a:pt x="6678" y="1295"/>
                  <a:pt x="6631" y="1342"/>
                  <a:pt x="6573" y="1342"/>
                </a:cubicBezTo>
                <a:lnTo>
                  <a:pt x="105" y="1342"/>
                </a:lnTo>
                <a:cubicBezTo>
                  <a:pt x="47" y="1342"/>
                  <a:pt x="0" y="1295"/>
                  <a:pt x="0" y="1236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368720" y="2700720"/>
            <a:ext cx="177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63).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084120" y="2580480"/>
            <a:ext cx="9151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Avg posterior effect: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062240" y="2580480"/>
            <a:ext cx="1207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+1,076 deaths/yr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larger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087720" y="2700720"/>
            <a:ext cx="86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than SCM (+360);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008600" y="2700720"/>
            <a:ext cx="1276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BSTS weights post-2020 di-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3085200" y="2820960"/>
            <a:ext cx="637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vergence fully.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15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02" name="" descr=""/>
          <p:cNvPicPr/>
          <p:nvPr/>
        </p:nvPicPr>
        <p:blipFill>
          <a:blip r:embed="rId1"/>
          <a:stretch/>
        </p:blipFill>
        <p:spPr>
          <a:xfrm>
            <a:off x="1216800" y="432360"/>
            <a:ext cx="3326040" cy="1488960"/>
          </a:xfrm>
          <a:prstGeom prst="rect">
            <a:avLst/>
          </a:prstGeom>
          <a:ln w="0">
            <a:noFill/>
          </a:ln>
        </p:spPr>
      </p:pic>
      <p:sp>
        <p:nvSpPr>
          <p:cNvPr id="603" name=""/>
          <p:cNvSpPr/>
          <p:nvPr/>
        </p:nvSpPr>
        <p:spPr>
          <a:xfrm>
            <a:off x="359640" y="2233440"/>
            <a:ext cx="1613520" cy="521640"/>
          </a:xfrm>
          <a:custGeom>
            <a:avLst/>
            <a:gdLst/>
            <a:ahLst/>
            <a:rect l="0" t="0" r="r" b="b"/>
            <a:pathLst>
              <a:path w="4482" h="1449">
                <a:moveTo>
                  <a:pt x="0" y="1308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1308"/>
                </a:lnTo>
                <a:cubicBezTo>
                  <a:pt x="4482" y="1386"/>
                  <a:pt x="4419" y="1449"/>
                  <a:pt x="4341" y="1449"/>
                </a:cubicBezTo>
                <a:lnTo>
                  <a:pt x="141" y="1449"/>
                </a:lnTo>
                <a:cubicBezTo>
                  <a:pt x="63" y="1449"/>
                  <a:pt x="0" y="1386"/>
                  <a:pt x="0" y="1308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59640" y="2233440"/>
            <a:ext cx="1613520" cy="521640"/>
          </a:xfrm>
          <a:custGeom>
            <a:avLst/>
            <a:gdLst/>
            <a:ahLst/>
            <a:rect l="0" t="0" r="r" b="b"/>
            <a:pathLst>
              <a:path w="4482" h="1449">
                <a:moveTo>
                  <a:pt x="0" y="1308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1308"/>
                </a:lnTo>
                <a:cubicBezTo>
                  <a:pt x="4482" y="1386"/>
                  <a:pt x="4419" y="1449"/>
                  <a:pt x="4341" y="1449"/>
                </a:cubicBezTo>
                <a:lnTo>
                  <a:pt x="141" y="1449"/>
                </a:lnTo>
                <a:cubicBezTo>
                  <a:pt x="63" y="1449"/>
                  <a:pt x="0" y="1386"/>
                  <a:pt x="0" y="130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94680" y="5760"/>
            <a:ext cx="2222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Triangulation — SCM vs BSTS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038960" y="2262240"/>
            <a:ext cx="256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4a261"/>
                </a:solidFill>
                <a:latin typeface="LMSans10"/>
                <a:ea typeface="LMSans10"/>
              </a:rPr>
              <a:t>Sign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600120" y="2411640"/>
            <a:ext cx="11192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Both negative 2016–17,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2073240" y="2233440"/>
            <a:ext cx="1613520" cy="407160"/>
          </a:xfrm>
          <a:custGeom>
            <a:avLst/>
            <a:gdLst/>
            <a:ahLst/>
            <a:rect l="0" t="0" r="r" b="b"/>
            <a:pathLst>
              <a:path w="4482" h="1131">
                <a:moveTo>
                  <a:pt x="0" y="990"/>
                </a:moveTo>
                <a:lnTo>
                  <a:pt x="0" y="142"/>
                </a:lnTo>
                <a:cubicBezTo>
                  <a:pt x="0" y="64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4"/>
                  <a:pt x="4482" y="142"/>
                </a:cubicBezTo>
                <a:lnTo>
                  <a:pt x="4482" y="990"/>
                </a:lnTo>
                <a:cubicBezTo>
                  <a:pt x="4482" y="1068"/>
                  <a:pt x="4419" y="1131"/>
                  <a:pt x="4341" y="1131"/>
                </a:cubicBezTo>
                <a:lnTo>
                  <a:pt x="141" y="1131"/>
                </a:lnTo>
                <a:cubicBezTo>
                  <a:pt x="63" y="1131"/>
                  <a:pt x="0" y="1068"/>
                  <a:pt x="0" y="990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2073240" y="2233440"/>
            <a:ext cx="1613520" cy="407160"/>
          </a:xfrm>
          <a:custGeom>
            <a:avLst/>
            <a:gdLst/>
            <a:ahLst/>
            <a:rect l="0" t="0" r="r" b="b"/>
            <a:pathLst>
              <a:path w="4482" h="1131">
                <a:moveTo>
                  <a:pt x="0" y="990"/>
                </a:moveTo>
                <a:lnTo>
                  <a:pt x="0" y="142"/>
                </a:lnTo>
                <a:cubicBezTo>
                  <a:pt x="0" y="64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4"/>
                  <a:pt x="4482" y="142"/>
                </a:cubicBezTo>
                <a:lnTo>
                  <a:pt x="4482" y="990"/>
                </a:lnTo>
                <a:cubicBezTo>
                  <a:pt x="4482" y="1068"/>
                  <a:pt x="4419" y="1131"/>
                  <a:pt x="4341" y="1131"/>
                </a:cubicBezTo>
                <a:lnTo>
                  <a:pt x="141" y="1131"/>
                </a:lnTo>
                <a:cubicBezTo>
                  <a:pt x="63" y="1131"/>
                  <a:pt x="0" y="1068"/>
                  <a:pt x="0" y="99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684360" y="2531880"/>
            <a:ext cx="9518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both positive 2018+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2609280" y="2262240"/>
            <a:ext cx="5432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4a261"/>
                </a:solidFill>
                <a:latin typeface="LMSans10"/>
                <a:ea typeface="LMSans10"/>
              </a:rPr>
              <a:t>Direction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786840" y="2233440"/>
            <a:ext cx="1613520" cy="392400"/>
          </a:xfrm>
          <a:custGeom>
            <a:avLst/>
            <a:gdLst/>
            <a:ahLst/>
            <a:rect l="0" t="0" r="r" b="b"/>
            <a:pathLst>
              <a:path w="4482" h="1090">
                <a:moveTo>
                  <a:pt x="0" y="949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49"/>
                </a:lnTo>
                <a:cubicBezTo>
                  <a:pt x="4482" y="1027"/>
                  <a:pt x="4419" y="1090"/>
                  <a:pt x="4341" y="1090"/>
                </a:cubicBezTo>
                <a:lnTo>
                  <a:pt x="141" y="1090"/>
                </a:lnTo>
                <a:cubicBezTo>
                  <a:pt x="63" y="1090"/>
                  <a:pt x="0" y="1027"/>
                  <a:pt x="0" y="949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786840" y="2233440"/>
            <a:ext cx="1613520" cy="392400"/>
          </a:xfrm>
          <a:custGeom>
            <a:avLst/>
            <a:gdLst/>
            <a:ahLst/>
            <a:rect l="0" t="0" r="r" b="b"/>
            <a:pathLst>
              <a:path w="4482" h="1090">
                <a:moveTo>
                  <a:pt x="0" y="949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49"/>
                </a:lnTo>
                <a:cubicBezTo>
                  <a:pt x="4482" y="1027"/>
                  <a:pt x="4419" y="1090"/>
                  <a:pt x="4341" y="1090"/>
                </a:cubicBezTo>
                <a:lnTo>
                  <a:pt x="141" y="1090"/>
                </a:lnTo>
                <a:cubicBezTo>
                  <a:pt x="63" y="1090"/>
                  <a:pt x="0" y="1027"/>
                  <a:pt x="0" y="949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2230200" y="2411640"/>
            <a:ext cx="12898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Agree year-by-year (10/10)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4276800" y="2262240"/>
            <a:ext cx="63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f4a261"/>
                </a:solidFill>
                <a:latin typeface="LMSans10"/>
                <a:ea typeface="LMSans10"/>
              </a:rPr>
              <a:t>Magnitude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098240" y="2411640"/>
            <a:ext cx="2750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BSTS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422240" y="24202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51840" y="2411640"/>
            <a:ext cx="1684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2–3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722480" y="24202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ffffff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852080" y="2411640"/>
            <a:ext cx="2340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SCM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24" name="" descr=""/>
          <p:cNvPicPr/>
          <p:nvPr/>
        </p:nvPicPr>
        <p:blipFill>
          <a:blip r:embed="rId1"/>
          <a:stretch/>
        </p:blipFill>
        <p:spPr>
          <a:xfrm>
            <a:off x="360000" y="604080"/>
            <a:ext cx="2771640" cy="2005560"/>
          </a:xfrm>
          <a:prstGeom prst="rect">
            <a:avLst/>
          </a:prstGeom>
          <a:ln w="0">
            <a:noFill/>
          </a:ln>
        </p:spPr>
      </p:pic>
      <p:sp>
        <p:nvSpPr>
          <p:cNvPr id="625" name=""/>
          <p:cNvSpPr txBox="1"/>
          <p:nvPr/>
        </p:nvSpPr>
        <p:spPr>
          <a:xfrm>
            <a:off x="100080" y="5760"/>
            <a:ext cx="2919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Outcome 2 — Own Tax Revenue (Fiscal)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283200" y="546120"/>
            <a:ext cx="1972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Composite proxy, not pure excise.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283200" y="785160"/>
            <a:ext cx="209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Own-tax revenue includes excise + VAT + GST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283200" y="957240"/>
            <a:ext cx="1731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compensation + stamps + vehicle tax.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5076720" y="957240"/>
            <a:ext cx="275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Excise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3279600" y="1129320"/>
            <a:ext cx="165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was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3478680" y="11379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∼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3562560" y="1129320"/>
            <a:ext cx="1588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22–25% of pre-prohibition own-tax.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83200" y="1645920"/>
            <a:ext cx="2117160" cy="425880"/>
          </a:xfrm>
          <a:custGeom>
            <a:avLst/>
            <a:gdLst/>
            <a:ahLst/>
            <a:rect l="0" t="0" r="r" b="b"/>
            <a:pathLst>
              <a:path w="5881" h="1183">
                <a:moveTo>
                  <a:pt x="0" y="1043"/>
                </a:moveTo>
                <a:lnTo>
                  <a:pt x="0" y="140"/>
                </a:lnTo>
                <a:cubicBezTo>
                  <a:pt x="0" y="63"/>
                  <a:pt x="62" y="0"/>
                  <a:pt x="140" y="0"/>
                </a:cubicBezTo>
                <a:lnTo>
                  <a:pt x="5740" y="0"/>
                </a:lnTo>
                <a:cubicBezTo>
                  <a:pt x="5818" y="0"/>
                  <a:pt x="5881" y="63"/>
                  <a:pt x="5881" y="140"/>
                </a:cubicBezTo>
                <a:lnTo>
                  <a:pt x="5881" y="1043"/>
                </a:lnTo>
                <a:cubicBezTo>
                  <a:pt x="5881" y="1120"/>
                  <a:pt x="5818" y="1183"/>
                  <a:pt x="5740" y="1183"/>
                </a:cubicBezTo>
                <a:lnTo>
                  <a:pt x="140" y="1183"/>
                </a:lnTo>
                <a:cubicBezTo>
                  <a:pt x="62" y="1183"/>
                  <a:pt x="0" y="1120"/>
                  <a:pt x="0" y="1043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83200" y="1645920"/>
            <a:ext cx="2117160" cy="425880"/>
          </a:xfrm>
          <a:custGeom>
            <a:avLst/>
            <a:gdLst/>
            <a:ahLst/>
            <a:rect l="0" t="0" r="r" b="b"/>
            <a:pathLst>
              <a:path w="5881" h="1183">
                <a:moveTo>
                  <a:pt x="0" y="1043"/>
                </a:moveTo>
                <a:lnTo>
                  <a:pt x="0" y="140"/>
                </a:lnTo>
                <a:cubicBezTo>
                  <a:pt x="0" y="63"/>
                  <a:pt x="62" y="0"/>
                  <a:pt x="140" y="0"/>
                </a:cubicBezTo>
                <a:lnTo>
                  <a:pt x="5740" y="0"/>
                </a:lnTo>
                <a:cubicBezTo>
                  <a:pt x="5818" y="0"/>
                  <a:pt x="5881" y="63"/>
                  <a:pt x="5881" y="140"/>
                </a:cubicBezTo>
                <a:lnTo>
                  <a:pt x="5881" y="1043"/>
                </a:lnTo>
                <a:cubicBezTo>
                  <a:pt x="5881" y="1120"/>
                  <a:pt x="5818" y="1183"/>
                  <a:pt x="5740" y="1183"/>
                </a:cubicBezTo>
                <a:lnTo>
                  <a:pt x="140" y="1183"/>
                </a:lnTo>
                <a:cubicBezTo>
                  <a:pt x="62" y="1183"/>
                  <a:pt x="0" y="1120"/>
                  <a:pt x="0" y="104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3283200" y="1301400"/>
            <a:ext cx="1358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Effect is therefore</a:t>
            </a:r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 attenuated</a:t>
            </a:r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820680" y="1697040"/>
            <a:ext cx="2217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090" spc="-1" strike="noStrike">
                <a:solidFill>
                  <a:srgbClr val="f4a261"/>
                </a:solidFill>
                <a:latin typeface="LMMathSymbols10"/>
                <a:ea typeface="LMMathSymbols10"/>
              </a:rPr>
              <a:t>−</a:t>
            </a:r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Ñ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040280" y="1685160"/>
            <a:ext cx="864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90" spc="-1" strike="noStrike">
                <a:solidFill>
                  <a:srgbClr val="f4a261"/>
                </a:solidFill>
                <a:latin typeface="LMSans10"/>
                <a:ea typeface="LMSans10"/>
              </a:rPr>
              <a:t>2,017 Cr / yr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83200" y="2279520"/>
            <a:ext cx="2117160" cy="364320"/>
          </a:xfrm>
          <a:custGeom>
            <a:avLst/>
            <a:gdLst/>
            <a:ahLst/>
            <a:rect l="0" t="0" r="r" b="b"/>
            <a:pathLst>
              <a:path w="5881" h="1012">
                <a:moveTo>
                  <a:pt x="0" y="889"/>
                </a:moveTo>
                <a:lnTo>
                  <a:pt x="0" y="123"/>
                </a:lnTo>
                <a:cubicBezTo>
                  <a:pt x="0" y="55"/>
                  <a:pt x="55" y="0"/>
                  <a:pt x="123" y="0"/>
                </a:cubicBezTo>
                <a:lnTo>
                  <a:pt x="5758" y="0"/>
                </a:lnTo>
                <a:cubicBezTo>
                  <a:pt x="5825" y="0"/>
                  <a:pt x="5881" y="55"/>
                  <a:pt x="5881" y="123"/>
                </a:cubicBezTo>
                <a:lnTo>
                  <a:pt x="5881" y="889"/>
                </a:lnTo>
                <a:cubicBezTo>
                  <a:pt x="5881" y="957"/>
                  <a:pt x="5825" y="1012"/>
                  <a:pt x="5758" y="1012"/>
                </a:cubicBezTo>
                <a:lnTo>
                  <a:pt x="123" y="1012"/>
                </a:lnTo>
                <a:cubicBezTo>
                  <a:pt x="55" y="1012"/>
                  <a:pt x="0" y="957"/>
                  <a:pt x="0" y="889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89320" y="2286000"/>
            <a:ext cx="2104560" cy="351720"/>
          </a:xfrm>
          <a:custGeom>
            <a:avLst/>
            <a:gdLst/>
            <a:ahLst/>
            <a:rect l="0" t="0" r="r" b="b"/>
            <a:pathLst>
              <a:path w="5846" h="977">
                <a:moveTo>
                  <a:pt x="0" y="870"/>
                </a:moveTo>
                <a:lnTo>
                  <a:pt x="0" y="105"/>
                </a:lnTo>
                <a:cubicBezTo>
                  <a:pt x="0" y="47"/>
                  <a:pt x="47" y="0"/>
                  <a:pt x="106" y="0"/>
                </a:cubicBezTo>
                <a:lnTo>
                  <a:pt x="5741" y="0"/>
                </a:lnTo>
                <a:cubicBezTo>
                  <a:pt x="5799" y="0"/>
                  <a:pt x="5846" y="47"/>
                  <a:pt x="5846" y="105"/>
                </a:cubicBezTo>
                <a:lnTo>
                  <a:pt x="5846" y="870"/>
                </a:lnTo>
                <a:cubicBezTo>
                  <a:pt x="5846" y="929"/>
                  <a:pt x="5799" y="977"/>
                  <a:pt x="5741" y="977"/>
                </a:cubicBezTo>
                <a:lnTo>
                  <a:pt x="106" y="977"/>
                </a:lnTo>
                <a:cubicBezTo>
                  <a:pt x="47" y="977"/>
                  <a:pt x="0" y="929"/>
                  <a:pt x="0" y="870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3632400" y="1848600"/>
            <a:ext cx="1375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avg post-treatment SCM gap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3376080" y="2313720"/>
            <a:ext cx="351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Donors: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803400" y="2313720"/>
            <a:ext cx="74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Jharkhand 0.84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4623480" y="2313720"/>
            <a:ext cx="403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UP 0.16.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5132160" y="2313720"/>
            <a:ext cx="19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3376080" y="2433600"/>
            <a:ext cx="354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RMSPE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3768480" y="2442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3849480" y="2433600"/>
            <a:ext cx="880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1,091 Cr; ratio 3.16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4735080" y="24422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4818960" y="243360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17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59640" y="582840"/>
            <a:ext cx="2520720" cy="981720"/>
          </a:xfrm>
          <a:custGeom>
            <a:avLst/>
            <a:gdLst/>
            <a:ahLst/>
            <a:rect l="0" t="0" r="r" b="b"/>
            <a:pathLst>
              <a:path w="7002" h="2727">
                <a:moveTo>
                  <a:pt x="0" y="2601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6875" y="0"/>
                </a:lnTo>
                <a:cubicBezTo>
                  <a:pt x="6945" y="0"/>
                  <a:pt x="7002" y="57"/>
                  <a:pt x="7002" y="127"/>
                </a:cubicBezTo>
                <a:lnTo>
                  <a:pt x="7002" y="2601"/>
                </a:lnTo>
                <a:cubicBezTo>
                  <a:pt x="7002" y="2671"/>
                  <a:pt x="6945" y="2727"/>
                  <a:pt x="6875" y="2727"/>
                </a:cubicBezTo>
                <a:lnTo>
                  <a:pt x="127" y="2727"/>
                </a:lnTo>
                <a:cubicBezTo>
                  <a:pt x="57" y="2727"/>
                  <a:pt x="0" y="2671"/>
                  <a:pt x="0" y="2601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67560" y="787320"/>
            <a:ext cx="2504880" cy="769680"/>
          </a:xfrm>
          <a:custGeom>
            <a:avLst/>
            <a:gdLst/>
            <a:ahLst/>
            <a:rect l="0" t="0" r="r" b="b"/>
            <a:pathLst>
              <a:path w="6958" h="2138">
                <a:moveTo>
                  <a:pt x="0" y="2033"/>
                </a:moveTo>
                <a:lnTo>
                  <a:pt x="0" y="0"/>
                </a:lnTo>
                <a:lnTo>
                  <a:pt x="6958" y="0"/>
                </a:lnTo>
                <a:lnTo>
                  <a:pt x="6958" y="2033"/>
                </a:lnTo>
                <a:cubicBezTo>
                  <a:pt x="6958" y="2091"/>
                  <a:pt x="6911" y="2138"/>
                  <a:pt x="6853" y="2138"/>
                </a:cubicBezTo>
                <a:lnTo>
                  <a:pt x="105" y="2138"/>
                </a:lnTo>
                <a:cubicBezTo>
                  <a:pt x="47" y="2138"/>
                  <a:pt x="0" y="2091"/>
                  <a:pt x="0" y="2033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67560" y="590400"/>
            <a:ext cx="2504880" cy="197280"/>
          </a:xfrm>
          <a:custGeom>
            <a:avLst/>
            <a:gdLst/>
            <a:ahLst/>
            <a:rect l="0" t="0" r="r" b="b"/>
            <a:pathLst>
              <a:path w="6958" h="548">
                <a:moveTo>
                  <a:pt x="0" y="548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6853" y="0"/>
                </a:lnTo>
                <a:cubicBezTo>
                  <a:pt x="6911" y="0"/>
                  <a:pt x="6958" y="47"/>
                  <a:pt x="6958" y="106"/>
                </a:cubicBezTo>
                <a:lnTo>
                  <a:pt x="6958" y="548"/>
                </a:lnTo>
                <a:lnTo>
                  <a:pt x="0" y="548"/>
                </a:ln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00080" y="5760"/>
            <a:ext cx="35517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Outcome 3 — Per-Capita Growth (Two Channels)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466920" y="6102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+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29280" y="600480"/>
            <a:ext cx="8982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Positive channels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466920" y="815040"/>
            <a:ext cx="1556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Household reallocation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076480" y="8236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19760" y="815040"/>
            <a:ext cx="560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food, educa-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66920" y="935280"/>
            <a:ext cx="55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tion, savings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466920" y="1080720"/>
            <a:ext cx="2230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Productivity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fewer alcohol-related absences &amp;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466920" y="1200960"/>
            <a:ext cx="409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accidents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66920" y="1346400"/>
            <a:ext cx="1398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Public health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lower hospital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59640" y="1801080"/>
            <a:ext cx="2520720" cy="1095840"/>
          </a:xfrm>
          <a:custGeom>
            <a:avLst/>
            <a:gdLst/>
            <a:ahLst/>
            <a:rect l="0" t="0" r="r" b="b"/>
            <a:pathLst>
              <a:path w="7002" h="3044">
                <a:moveTo>
                  <a:pt x="0" y="2918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6875" y="0"/>
                </a:lnTo>
                <a:cubicBezTo>
                  <a:pt x="6945" y="0"/>
                  <a:pt x="7002" y="57"/>
                  <a:pt x="7002" y="127"/>
                </a:cubicBezTo>
                <a:lnTo>
                  <a:pt x="7002" y="2918"/>
                </a:lnTo>
                <a:cubicBezTo>
                  <a:pt x="7002" y="2988"/>
                  <a:pt x="6945" y="3044"/>
                  <a:pt x="6875" y="3044"/>
                </a:cubicBezTo>
                <a:lnTo>
                  <a:pt x="127" y="3044"/>
                </a:lnTo>
                <a:cubicBezTo>
                  <a:pt x="57" y="3044"/>
                  <a:pt x="0" y="2988"/>
                  <a:pt x="0" y="2918"/>
                </a:cubicBez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67560" y="2007360"/>
            <a:ext cx="2504880" cy="882000"/>
          </a:xfrm>
          <a:custGeom>
            <a:avLst/>
            <a:gdLst/>
            <a:ahLst/>
            <a:rect l="0" t="0" r="r" b="b"/>
            <a:pathLst>
              <a:path w="6958" h="2450">
                <a:moveTo>
                  <a:pt x="0" y="2345"/>
                </a:moveTo>
                <a:lnTo>
                  <a:pt x="0" y="0"/>
                </a:lnTo>
                <a:lnTo>
                  <a:pt x="6958" y="0"/>
                </a:lnTo>
                <a:lnTo>
                  <a:pt x="6958" y="2345"/>
                </a:lnTo>
                <a:cubicBezTo>
                  <a:pt x="6958" y="2403"/>
                  <a:pt x="6911" y="2450"/>
                  <a:pt x="6853" y="2450"/>
                </a:cubicBezTo>
                <a:lnTo>
                  <a:pt x="105" y="2450"/>
                </a:lnTo>
                <a:cubicBezTo>
                  <a:pt x="47" y="2450"/>
                  <a:pt x="0" y="2403"/>
                  <a:pt x="0" y="2345"/>
                </a:cubicBezTo>
                <a:close/>
              </a:path>
            </a:pathLst>
          </a:custGeom>
          <a:solidFill>
            <a:srgbClr val="fe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67560" y="1808640"/>
            <a:ext cx="2504880" cy="199080"/>
          </a:xfrm>
          <a:custGeom>
            <a:avLst/>
            <a:gdLst/>
            <a:ahLst/>
            <a:rect l="0" t="0" r="r" b="b"/>
            <a:pathLst>
              <a:path w="6958" h="553">
                <a:moveTo>
                  <a:pt x="0" y="553"/>
                </a:moveTo>
                <a:lnTo>
                  <a:pt x="0" y="106"/>
                </a:lnTo>
                <a:cubicBezTo>
                  <a:pt x="0" y="47"/>
                  <a:pt x="47" y="0"/>
                  <a:pt x="105" y="0"/>
                </a:cubicBezTo>
                <a:lnTo>
                  <a:pt x="6853" y="0"/>
                </a:lnTo>
                <a:cubicBezTo>
                  <a:pt x="6911" y="0"/>
                  <a:pt x="6958" y="47"/>
                  <a:pt x="6958" y="106"/>
                </a:cubicBezTo>
                <a:lnTo>
                  <a:pt x="6958" y="553"/>
                </a:lnTo>
                <a:lnTo>
                  <a:pt x="0" y="553"/>
                </a:ln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905480" y="1346400"/>
            <a:ext cx="538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trauma load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66920" y="18151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29280" y="1805400"/>
            <a:ext cx="9486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Negative channels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66920" y="2046960"/>
            <a:ext cx="637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Excise loss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1147320" y="2055600"/>
            <a:ext cx="160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∼</a:t>
            </a:r>
            <a:r>
              <a:rPr b="0" lang="en-US" sz="79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1312200" y="2046960"/>
            <a:ext cx="1483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4,000 Cr/yr in lost public invest-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466920" y="2167200"/>
            <a:ext cx="226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ment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466920" y="2312640"/>
            <a:ext cx="5036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Hospitality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1056240" y="2312640"/>
            <a:ext cx="5266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contraction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670400" y="2312640"/>
            <a:ext cx="672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— 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restaurants,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2489760" y="2312640"/>
            <a:ext cx="294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hotels,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66920" y="2432880"/>
            <a:ext cx="334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tourism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66920" y="2578320"/>
            <a:ext cx="230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Bootlegging / shadow economy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— unmeasured by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82" name="" descr=""/>
          <p:cNvPicPr/>
          <p:nvPr/>
        </p:nvPicPr>
        <p:blipFill>
          <a:blip r:embed="rId1"/>
          <a:stretch/>
        </p:blipFill>
        <p:spPr>
          <a:xfrm>
            <a:off x="3081600" y="435600"/>
            <a:ext cx="2318040" cy="1037880"/>
          </a:xfrm>
          <a:prstGeom prst="rect">
            <a:avLst/>
          </a:prstGeom>
          <a:ln w="0">
            <a:noFill/>
          </a:ln>
        </p:spPr>
      </p:pic>
      <p:sp>
        <p:nvSpPr>
          <p:cNvPr id="683" name=""/>
          <p:cNvSpPr txBox="1"/>
          <p:nvPr/>
        </p:nvSpPr>
        <p:spPr>
          <a:xfrm>
            <a:off x="466920" y="2698560"/>
            <a:ext cx="279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NSDP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3135960" y="1514880"/>
            <a:ext cx="346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Donors: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3529440" y="1514880"/>
            <a:ext cx="1806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Odisha 0.66</a:t>
            </a:r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, Rajasthan 0.32, Jharkhand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4140720" y="1635120"/>
            <a:ext cx="220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0.03.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18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690" name="" descr=""/>
          <p:cNvPicPr/>
          <p:nvPr/>
        </p:nvPicPr>
        <p:blipFill>
          <a:blip r:embed="rId1"/>
          <a:stretch/>
        </p:blipFill>
        <p:spPr>
          <a:xfrm>
            <a:off x="360000" y="612000"/>
            <a:ext cx="2469240" cy="1105560"/>
          </a:xfrm>
          <a:prstGeom prst="rect">
            <a:avLst/>
          </a:prstGeom>
          <a:ln w="0">
            <a:noFill/>
          </a:ln>
        </p:spPr>
      </p:pic>
      <p:sp>
        <p:nvSpPr>
          <p:cNvPr id="691" name=""/>
          <p:cNvSpPr txBox="1"/>
          <p:nvPr/>
        </p:nvSpPr>
        <p:spPr>
          <a:xfrm>
            <a:off x="100080" y="5760"/>
            <a:ext cx="1987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Growth — Placebo &amp; BSTS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92" name="" descr=""/>
          <p:cNvPicPr/>
          <p:nvPr/>
        </p:nvPicPr>
        <p:blipFill>
          <a:blip r:embed="rId2"/>
          <a:stretch/>
        </p:blipFill>
        <p:spPr>
          <a:xfrm>
            <a:off x="2930400" y="612000"/>
            <a:ext cx="2469240" cy="1105560"/>
          </a:xfrm>
          <a:prstGeom prst="rect">
            <a:avLst/>
          </a:prstGeom>
          <a:ln w="0">
            <a:noFill/>
          </a:ln>
        </p:spPr>
      </p:pic>
      <p:sp>
        <p:nvSpPr>
          <p:cNvPr id="693" name=""/>
          <p:cNvSpPr txBox="1"/>
          <p:nvPr/>
        </p:nvSpPr>
        <p:spPr>
          <a:xfrm>
            <a:off x="774720" y="1746720"/>
            <a:ext cx="1631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In-space placebo — Bihar rank 6/14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163320" y="1746720"/>
            <a:ext cx="298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SCM (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463200" y="1755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3547080" y="174672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3600720" y="1755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3630600" y="1746720"/>
            <a:ext cx="934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99 pp/yr) vs BSTS (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4571640" y="1755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4655520" y="174672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4709160" y="1755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59640" y="2046600"/>
            <a:ext cx="5040720" cy="499680"/>
          </a:xfrm>
          <a:custGeom>
            <a:avLst/>
            <a:gdLst/>
            <a:ahLst/>
            <a:rect l="0" t="0" r="r" b="b"/>
            <a:pathLst>
              <a:path w="14002" h="1388">
                <a:moveTo>
                  <a:pt x="0" y="1261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7"/>
                  <a:pt x="14002" y="127"/>
                </a:cubicBezTo>
                <a:lnTo>
                  <a:pt x="14002" y="1261"/>
                </a:lnTo>
                <a:cubicBezTo>
                  <a:pt x="14002" y="1331"/>
                  <a:pt x="13945" y="1388"/>
                  <a:pt x="13875" y="1388"/>
                </a:cubicBezTo>
                <a:lnTo>
                  <a:pt x="127" y="1388"/>
                </a:lnTo>
                <a:cubicBezTo>
                  <a:pt x="57" y="1388"/>
                  <a:pt x="0" y="1331"/>
                  <a:pt x="0" y="1261"/>
                </a:cubicBez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67560" y="2054160"/>
            <a:ext cx="5025240" cy="484560"/>
          </a:xfrm>
          <a:custGeom>
            <a:avLst/>
            <a:gdLst/>
            <a:ahLst/>
            <a:rect l="0" t="0" r="r" b="b"/>
            <a:pathLst>
              <a:path w="13959" h="1346">
                <a:moveTo>
                  <a:pt x="0" y="1240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8"/>
                  <a:pt x="13959" y="106"/>
                </a:cubicBezTo>
                <a:lnTo>
                  <a:pt x="13959" y="1240"/>
                </a:lnTo>
                <a:cubicBezTo>
                  <a:pt x="13959" y="1298"/>
                  <a:pt x="13911" y="1346"/>
                  <a:pt x="13853" y="1346"/>
                </a:cubicBezTo>
                <a:lnTo>
                  <a:pt x="105" y="1346"/>
                </a:lnTo>
                <a:cubicBezTo>
                  <a:pt x="47" y="1346"/>
                  <a:pt x="0" y="1298"/>
                  <a:pt x="0" y="1240"/>
                </a:cubicBezTo>
                <a:close/>
              </a:path>
            </a:pathLst>
          </a:custGeom>
          <a:solidFill>
            <a:srgbClr val="fe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4739040" y="1746720"/>
            <a:ext cx="433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28 pp/yr)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466920" y="2087640"/>
            <a:ext cx="9914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Honest interpretation.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523520" y="2087640"/>
            <a:ext cx="1631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Both methods point to Bihar growing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227040" y="209628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∼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3310920" y="2087640"/>
            <a:ext cx="1738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3–4 pp/year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slower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than counterfactual.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124240" y="2087640"/>
            <a:ext cx="1652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But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466920" y="2207880"/>
            <a:ext cx="901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SCM permutation</a:t>
            </a:r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 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438560" y="22165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≈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1562760" y="2207880"/>
            <a:ext cx="102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0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617480" y="22165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647360" y="2207880"/>
            <a:ext cx="3547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43 (rank 6/14) and BSTS uses a single-donor regression to avoid catastrophic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466920" y="232812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overfit.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828720" y="2328120"/>
            <a:ext cx="1951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ef4444"/>
                </a:solidFill>
                <a:latin typeface="LMSans10"/>
                <a:ea typeface="LMSans10"/>
              </a:rPr>
              <a:t>Direction is suggestive; significance is not.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19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59640" y="470880"/>
            <a:ext cx="5040000" cy="0"/>
          </a:xfrm>
          <a:prstGeom prst="line">
            <a:avLst/>
          </a:prstGeom>
          <a:ln w="108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284040" y="516600"/>
            <a:ext cx="1265040" cy="204480"/>
          </a:xfrm>
          <a:custGeom>
            <a:avLst/>
            <a:gdLst/>
            <a:ahLst/>
            <a:rect l="0" t="0" r="r" b="b"/>
            <a:pathLst>
              <a:path w="3514" h="568">
                <a:moveTo>
                  <a:pt x="0" y="568"/>
                </a:moveTo>
                <a:lnTo>
                  <a:pt x="3514" y="568"/>
                </a:lnTo>
                <a:lnTo>
                  <a:pt x="3514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00080" y="5760"/>
            <a:ext cx="17715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Cross-Outcome Synthesis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548720" y="516600"/>
            <a:ext cx="1888200" cy="204480"/>
          </a:xfrm>
          <a:custGeom>
            <a:avLst/>
            <a:gdLst/>
            <a:ahLst/>
            <a:rect l="0" t="0" r="r" b="b"/>
            <a:pathLst>
              <a:path w="5245" h="568">
                <a:moveTo>
                  <a:pt x="0" y="568"/>
                </a:moveTo>
                <a:lnTo>
                  <a:pt x="5245" y="568"/>
                </a:lnTo>
                <a:lnTo>
                  <a:pt x="5245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360000" y="483840"/>
            <a:ext cx="4197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Outcome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436560" y="516600"/>
            <a:ext cx="723600" cy="204480"/>
          </a:xfrm>
          <a:custGeom>
            <a:avLst/>
            <a:gdLst/>
            <a:ahLst/>
            <a:rect l="0" t="0" r="r" b="b"/>
            <a:pathLst>
              <a:path w="2010" h="568">
                <a:moveTo>
                  <a:pt x="0" y="568"/>
                </a:moveTo>
                <a:lnTo>
                  <a:pt x="2010" y="568"/>
                </a:lnTo>
                <a:lnTo>
                  <a:pt x="2010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624680" y="568080"/>
            <a:ext cx="4212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Direction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4159800" y="516600"/>
            <a:ext cx="480960" cy="204480"/>
          </a:xfrm>
          <a:custGeom>
            <a:avLst/>
            <a:gdLst/>
            <a:ahLst/>
            <a:rect l="0" t="0" r="r" b="b"/>
            <a:pathLst>
              <a:path w="1336" h="568">
                <a:moveTo>
                  <a:pt x="0" y="568"/>
                </a:moveTo>
                <a:lnTo>
                  <a:pt x="1336" y="568"/>
                </a:lnTo>
                <a:lnTo>
                  <a:pt x="1336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87480" y="483840"/>
            <a:ext cx="3952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Avg / yr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4640400" y="516600"/>
            <a:ext cx="438840" cy="204480"/>
          </a:xfrm>
          <a:custGeom>
            <a:avLst/>
            <a:gdLst/>
            <a:ahLst/>
            <a:rect l="0" t="0" r="r" b="b"/>
            <a:pathLst>
              <a:path w="1219" h="568">
                <a:moveTo>
                  <a:pt x="0" y="568"/>
                </a:moveTo>
                <a:lnTo>
                  <a:pt x="1219" y="568"/>
                </a:lnTo>
                <a:lnTo>
                  <a:pt x="1219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317840" y="483840"/>
            <a:ext cx="2444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Ratio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5078880" y="516600"/>
            <a:ext cx="397080" cy="204480"/>
          </a:xfrm>
          <a:custGeom>
            <a:avLst/>
            <a:gdLst/>
            <a:ahLst/>
            <a:rect l="0" t="0" r="r" b="b"/>
            <a:pathLst>
              <a:path w="1103" h="568">
                <a:moveTo>
                  <a:pt x="0" y="568"/>
                </a:moveTo>
                <a:lnTo>
                  <a:pt x="1103" y="568"/>
                </a:lnTo>
                <a:lnTo>
                  <a:pt x="1103" y="0"/>
                </a:lnTo>
                <a:lnTo>
                  <a:pt x="0" y="0"/>
                </a:lnTo>
                <a:lnTo>
                  <a:pt x="0" y="56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4768560" y="483840"/>
            <a:ext cx="2340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Rank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359640" y="748800"/>
            <a:ext cx="5040000" cy="0"/>
          </a:xfrm>
          <a:prstGeom prst="line">
            <a:avLst/>
          </a:prstGeom>
          <a:ln w="684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155200" y="483840"/>
            <a:ext cx="1008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LMSans10"/>
                <a:ea typeface="LMSans10"/>
              </a:rPr>
              <a:t>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360000" y="759960"/>
            <a:ext cx="957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Road-accident deaths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624680" y="7686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↓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1714320" y="759960"/>
            <a:ext cx="19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then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1947960" y="7686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↑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2037600" y="759960"/>
            <a:ext cx="37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(reversal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52320" y="759960"/>
            <a:ext cx="47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post-2018)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3512880" y="759960"/>
            <a:ext cx="567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+360 deaths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236120" y="75996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22.87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4480920" y="76860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4716360" y="75996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 / 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154840" y="75996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0.071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360000" y="880200"/>
            <a:ext cx="756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Own tax revenue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1624680" y="8888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↓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1714320" y="880200"/>
            <a:ext cx="561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(attenuated)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3533040" y="888840"/>
            <a:ext cx="160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−</a:t>
            </a:r>
            <a:r>
              <a:rPr b="0" lang="en-US" sz="790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3697920" y="880200"/>
            <a:ext cx="383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2,017 Cr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4289760" y="880200"/>
            <a:ext cx="189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3.16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4480920" y="88884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4895640" y="88020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155200" y="88020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360000" y="1000080"/>
            <a:ext cx="1105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NSDP per-capita growth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624680" y="1008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↓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1714320" y="1000080"/>
            <a:ext cx="535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(suggestive)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3662280" y="1008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3746160" y="100008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3799800" y="1008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Italic8"/>
                <a:ea typeface="LMMathItalic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3829680" y="1000080"/>
            <a:ext cx="252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99 pp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4236120" y="1000080"/>
            <a:ext cx="243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83.86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4480920" y="10087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a3a66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716360" y="1000080"/>
            <a:ext cx="28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6 / 14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359640" y="1182960"/>
            <a:ext cx="5040000" cy="0"/>
          </a:xfrm>
          <a:prstGeom prst="line">
            <a:avLst/>
          </a:prstGeom>
          <a:ln w="10800">
            <a:solidFill>
              <a:srgbClr val="0a3a6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359640" y="1423440"/>
            <a:ext cx="2419920" cy="1281600"/>
          </a:xfrm>
          <a:custGeom>
            <a:avLst/>
            <a:gdLst/>
            <a:ahLst/>
            <a:rect l="0" t="0" r="r" b="b"/>
            <a:pathLst>
              <a:path w="6722" h="3560">
                <a:moveTo>
                  <a:pt x="0" y="3433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6"/>
                  <a:pt x="6722" y="126"/>
                </a:cubicBezTo>
                <a:lnTo>
                  <a:pt x="6722" y="3433"/>
                </a:lnTo>
                <a:cubicBezTo>
                  <a:pt x="6722" y="3503"/>
                  <a:pt x="6665" y="3560"/>
                  <a:pt x="6595" y="3560"/>
                </a:cubicBezTo>
                <a:lnTo>
                  <a:pt x="127" y="3560"/>
                </a:lnTo>
                <a:cubicBezTo>
                  <a:pt x="57" y="3560"/>
                  <a:pt x="0" y="3503"/>
                  <a:pt x="0" y="3433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367560" y="1638720"/>
            <a:ext cx="2404080" cy="1058760"/>
          </a:xfrm>
          <a:custGeom>
            <a:avLst/>
            <a:gdLst/>
            <a:ahLst/>
            <a:rect l="0" t="0" r="r" b="b"/>
            <a:pathLst>
              <a:path w="6678" h="2941">
                <a:moveTo>
                  <a:pt x="0" y="2835"/>
                </a:moveTo>
                <a:lnTo>
                  <a:pt x="0" y="0"/>
                </a:lnTo>
                <a:lnTo>
                  <a:pt x="6678" y="0"/>
                </a:lnTo>
                <a:lnTo>
                  <a:pt x="6678" y="2835"/>
                </a:lnTo>
                <a:cubicBezTo>
                  <a:pt x="6678" y="2894"/>
                  <a:pt x="6631" y="2941"/>
                  <a:pt x="6573" y="2941"/>
                </a:cubicBezTo>
                <a:lnTo>
                  <a:pt x="105" y="2941"/>
                </a:lnTo>
                <a:cubicBezTo>
                  <a:pt x="47" y="2941"/>
                  <a:pt x="0" y="2894"/>
                  <a:pt x="0" y="2835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367560" y="1431000"/>
            <a:ext cx="2404080" cy="208080"/>
          </a:xfrm>
          <a:custGeom>
            <a:avLst/>
            <a:gdLst/>
            <a:ahLst/>
            <a:rect l="0" t="0" r="r" b="b"/>
            <a:pathLst>
              <a:path w="6678" h="578">
                <a:moveTo>
                  <a:pt x="0" y="578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78"/>
                </a:lnTo>
                <a:lnTo>
                  <a:pt x="0" y="578"/>
                </a:ln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154840" y="1000080"/>
            <a:ext cx="189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a3a66"/>
                </a:solidFill>
                <a:latin typeface="LMSans8"/>
                <a:ea typeface="LMSans8"/>
              </a:rPr>
              <a:t>0.43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66920" y="14558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¥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643320" y="1446120"/>
            <a:ext cx="10112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What we can claim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03360" y="16822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744120" y="1672560"/>
            <a:ext cx="1879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Significant short-run reduction in road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744120" y="1811880"/>
            <a:ext cx="858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deaths (2016–17)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03360" y="2011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744120" y="2001600"/>
            <a:ext cx="1698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Composite tax gap consistent with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44120" y="2150280"/>
            <a:ext cx="1836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∼</a:t>
            </a:r>
            <a:r>
              <a:rPr b="0" lang="en-US" sz="900" spc="-1" strike="noStrike">
                <a:solidFill>
                  <a:srgbClr val="0a3a66"/>
                </a:solidFill>
                <a:latin typeface="Font Awesome 5 Free Solid"/>
                <a:ea typeface="Font Awesome 5 Free Solid"/>
              </a:rPr>
              <a:t>Ñ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925560" y="2140560"/>
            <a:ext cx="960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4,000 Cr excise loss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03360" y="23403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739800" y="2330280"/>
            <a:ext cx="1629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Three outcomes paint a coherent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2980800" y="1423440"/>
            <a:ext cx="2419560" cy="1148760"/>
          </a:xfrm>
          <a:custGeom>
            <a:avLst/>
            <a:gdLst/>
            <a:ahLst/>
            <a:rect l="0" t="0" r="r" b="b"/>
            <a:pathLst>
              <a:path w="6721" h="3191">
                <a:moveTo>
                  <a:pt x="0" y="3064"/>
                </a:moveTo>
                <a:lnTo>
                  <a:pt x="0" y="126"/>
                </a:lnTo>
                <a:cubicBezTo>
                  <a:pt x="0" y="56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6"/>
                  <a:pt x="6721" y="126"/>
                </a:cubicBezTo>
                <a:lnTo>
                  <a:pt x="6721" y="3064"/>
                </a:lnTo>
                <a:cubicBezTo>
                  <a:pt x="6721" y="3134"/>
                  <a:pt x="6664" y="3191"/>
                  <a:pt x="6594" y="3191"/>
                </a:cubicBezTo>
                <a:lnTo>
                  <a:pt x="126" y="3191"/>
                </a:lnTo>
                <a:cubicBezTo>
                  <a:pt x="56" y="3191"/>
                  <a:pt x="0" y="3134"/>
                  <a:pt x="0" y="3064"/>
                </a:cubicBez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2988360" y="1638360"/>
            <a:ext cx="2404080" cy="926280"/>
          </a:xfrm>
          <a:custGeom>
            <a:avLst/>
            <a:gdLst/>
            <a:ahLst/>
            <a:rect l="0" t="0" r="r" b="b"/>
            <a:pathLst>
              <a:path w="6678" h="2573">
                <a:moveTo>
                  <a:pt x="0" y="2467"/>
                </a:moveTo>
                <a:lnTo>
                  <a:pt x="0" y="0"/>
                </a:lnTo>
                <a:lnTo>
                  <a:pt x="6678" y="0"/>
                </a:lnTo>
                <a:lnTo>
                  <a:pt x="6678" y="2467"/>
                </a:lnTo>
                <a:cubicBezTo>
                  <a:pt x="6678" y="2525"/>
                  <a:pt x="6631" y="2573"/>
                  <a:pt x="6573" y="2573"/>
                </a:cubicBezTo>
                <a:lnTo>
                  <a:pt x="105" y="2573"/>
                </a:lnTo>
                <a:cubicBezTo>
                  <a:pt x="47" y="2573"/>
                  <a:pt x="0" y="2525"/>
                  <a:pt x="0" y="2467"/>
                </a:cubicBezTo>
                <a:close/>
              </a:path>
            </a:pathLst>
          </a:custGeom>
          <a:solidFill>
            <a:srgbClr val="fe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2988360" y="1431000"/>
            <a:ext cx="2404080" cy="207720"/>
          </a:xfrm>
          <a:custGeom>
            <a:avLst/>
            <a:gdLst/>
            <a:ahLst/>
            <a:rect l="0" t="0" r="r" b="b"/>
            <a:pathLst>
              <a:path w="6678" h="577">
                <a:moveTo>
                  <a:pt x="0" y="577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77"/>
                </a:lnTo>
                <a:lnTo>
                  <a:pt x="0" y="577"/>
                </a:lnTo>
                <a:close/>
              </a:path>
            </a:pathLst>
          </a:custGeom>
          <a:solidFill>
            <a:srgbClr val="f6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744120" y="2469600"/>
            <a:ext cx="335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picture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087720" y="14558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q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3264120" y="1446120"/>
            <a:ext cx="11847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What we cannot claim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224160" y="16822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364920" y="1672560"/>
            <a:ext cx="18342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Long-run reduction in road deaths —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3364920" y="1811520"/>
            <a:ext cx="687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effect reverses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224160" y="2011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364920" y="2001600"/>
            <a:ext cx="1872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Pure-excise impact (proxy attenuates)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224160" y="2201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3364920" y="2191320"/>
            <a:ext cx="1789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Statistically significant growth effect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3360240" y="233028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(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3503880" y="23403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≈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3627360" y="233028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3686040" y="23403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718440" y="2330280"/>
            <a:ext cx="163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43)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20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802" name="" descr=""/>
          <p:cNvPicPr/>
          <p:nvPr/>
        </p:nvPicPr>
        <p:blipFill>
          <a:blip r:embed="rId1"/>
          <a:stretch/>
        </p:blipFill>
        <p:spPr>
          <a:xfrm>
            <a:off x="421920" y="424800"/>
            <a:ext cx="2345760" cy="1050120"/>
          </a:xfrm>
          <a:prstGeom prst="rect">
            <a:avLst/>
          </a:prstGeom>
          <a:ln w="0">
            <a:noFill/>
          </a:ln>
        </p:spPr>
      </p:pic>
      <p:sp>
        <p:nvSpPr>
          <p:cNvPr id="803" name=""/>
          <p:cNvSpPr txBox="1"/>
          <p:nvPr/>
        </p:nvSpPr>
        <p:spPr>
          <a:xfrm>
            <a:off x="100080" y="5760"/>
            <a:ext cx="32439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Robustness — In-Time Placebo &amp; Spec Curve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11360" y="1503720"/>
            <a:ext cx="1675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False treatment in 2015 — ratio 0.42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05" name="" descr=""/>
          <p:cNvPicPr/>
          <p:nvPr/>
        </p:nvPicPr>
        <p:blipFill>
          <a:blip r:embed="rId2"/>
          <a:stretch/>
        </p:blipFill>
        <p:spPr>
          <a:xfrm>
            <a:off x="2991960" y="424800"/>
            <a:ext cx="2345760" cy="1615680"/>
          </a:xfrm>
          <a:prstGeom prst="rect">
            <a:avLst/>
          </a:prstGeom>
          <a:ln w="0">
            <a:noFill/>
          </a:ln>
        </p:spPr>
      </p:pic>
      <p:sp>
        <p:nvSpPr>
          <p:cNvPr id="806" name=""/>
          <p:cNvSpPr txBox="1"/>
          <p:nvPr/>
        </p:nvSpPr>
        <p:spPr>
          <a:xfrm>
            <a:off x="2394360" y="15123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3356640" y="2069280"/>
            <a:ext cx="1262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7 specifications, 6 with ratio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4666320" y="20779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Italic8"/>
                <a:ea typeface="LMMathItalic8"/>
              </a:rPr>
              <a:t>&gt;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4780080" y="206928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17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359640" y="2327760"/>
            <a:ext cx="5040720" cy="499320"/>
          </a:xfrm>
          <a:custGeom>
            <a:avLst/>
            <a:gdLst/>
            <a:ahLst/>
            <a:rect l="0" t="0" r="r" b="b"/>
            <a:pathLst>
              <a:path w="14002" h="1387">
                <a:moveTo>
                  <a:pt x="0" y="1261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6"/>
                  <a:pt x="14002" y="126"/>
                </a:cubicBezTo>
                <a:lnTo>
                  <a:pt x="14002" y="1261"/>
                </a:lnTo>
                <a:cubicBezTo>
                  <a:pt x="14002" y="1330"/>
                  <a:pt x="13945" y="1387"/>
                  <a:pt x="13875" y="1387"/>
                </a:cubicBezTo>
                <a:lnTo>
                  <a:pt x="127" y="1387"/>
                </a:lnTo>
                <a:cubicBezTo>
                  <a:pt x="57" y="1387"/>
                  <a:pt x="0" y="1330"/>
                  <a:pt x="0" y="1261"/>
                </a:cubicBezTo>
                <a:close/>
              </a:path>
            </a:pathLst>
          </a:custGeom>
          <a:solidFill>
            <a:srgbClr val="6fd9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367560" y="2335320"/>
            <a:ext cx="5025240" cy="484200"/>
          </a:xfrm>
          <a:custGeom>
            <a:avLst/>
            <a:gdLst/>
            <a:ahLst/>
            <a:rect l="0" t="0" r="r" b="b"/>
            <a:pathLst>
              <a:path w="13959" h="1345">
                <a:moveTo>
                  <a:pt x="0" y="1240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7"/>
                  <a:pt x="13959" y="105"/>
                </a:cubicBezTo>
                <a:lnTo>
                  <a:pt x="13959" y="1240"/>
                </a:lnTo>
                <a:cubicBezTo>
                  <a:pt x="13959" y="1298"/>
                  <a:pt x="13911" y="1345"/>
                  <a:pt x="13853" y="1345"/>
                </a:cubicBezTo>
                <a:lnTo>
                  <a:pt x="105" y="1345"/>
                </a:lnTo>
                <a:cubicBezTo>
                  <a:pt x="47" y="1345"/>
                  <a:pt x="0" y="1298"/>
                  <a:pt x="0" y="1240"/>
                </a:cubicBezTo>
                <a:close/>
              </a:path>
            </a:pathLst>
          </a:custGeom>
          <a:solidFill>
            <a:srgbClr val="e9f9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887360" y="20779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6b728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466920" y="2363040"/>
            <a:ext cx="7581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In-time placebo.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1297800" y="2363040"/>
            <a:ext cx="1206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Pretend treatment in 2015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2566440" y="2371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⇒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2713320" y="2363040"/>
            <a:ext cx="995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ratio collapses to 0.42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3730320" y="2371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3853440" y="2363040"/>
            <a:ext cx="404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vs. 22.87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4266000" y="237132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4389120" y="2363040"/>
            <a:ext cx="503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for the real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4940640" y="2363040"/>
            <a:ext cx="361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2016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466920" y="2482920"/>
            <a:ext cx="779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1b9e4b"/>
                </a:solidFill>
                <a:latin typeface="LMSans10"/>
                <a:ea typeface="LMSans10"/>
              </a:rPr>
              <a:t>no false positive</a:t>
            </a:r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317240" y="2482920"/>
            <a:ext cx="538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Spec curve.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920960" y="2482920"/>
            <a:ext cx="1252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6 of 7 alt. specs yield ratios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3237120" y="24915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Italic8"/>
                <a:ea typeface="LMMathItalic8"/>
              </a:rPr>
              <a:t>&gt;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3358800" y="2482920"/>
            <a:ext cx="109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17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3468600" y="2491560"/>
            <a:ext cx="1008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MathSymbols8"/>
                <a:ea typeface="LMMathSymbols8"/>
              </a:rPr>
              <a:t>×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3552120" y="2482920"/>
            <a:ext cx="1713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, avg effects +354 to +469 deaths/yr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462600" y="2603160"/>
            <a:ext cx="1389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(literacy-only outlier excluded).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21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359640" y="497160"/>
            <a:ext cx="2419920" cy="1281600"/>
          </a:xfrm>
          <a:custGeom>
            <a:avLst/>
            <a:gdLst/>
            <a:ahLst/>
            <a:rect l="0" t="0" r="r" b="b"/>
            <a:pathLst>
              <a:path w="6722" h="3560">
                <a:moveTo>
                  <a:pt x="0" y="3433"/>
                </a:moveTo>
                <a:lnTo>
                  <a:pt x="0" y="126"/>
                </a:lnTo>
                <a:cubicBezTo>
                  <a:pt x="0" y="57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7"/>
                  <a:pt x="6722" y="126"/>
                </a:cubicBezTo>
                <a:lnTo>
                  <a:pt x="6722" y="3433"/>
                </a:lnTo>
                <a:cubicBezTo>
                  <a:pt x="6722" y="3503"/>
                  <a:pt x="6665" y="3560"/>
                  <a:pt x="6595" y="3560"/>
                </a:cubicBezTo>
                <a:lnTo>
                  <a:pt x="127" y="3560"/>
                </a:lnTo>
                <a:cubicBezTo>
                  <a:pt x="57" y="3560"/>
                  <a:pt x="0" y="3503"/>
                  <a:pt x="0" y="3433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367560" y="712080"/>
            <a:ext cx="2404080" cy="1059120"/>
          </a:xfrm>
          <a:custGeom>
            <a:avLst/>
            <a:gdLst/>
            <a:ahLst/>
            <a:rect l="0" t="0" r="r" b="b"/>
            <a:pathLst>
              <a:path w="6678" h="2942">
                <a:moveTo>
                  <a:pt x="0" y="2836"/>
                </a:moveTo>
                <a:lnTo>
                  <a:pt x="0" y="0"/>
                </a:lnTo>
                <a:lnTo>
                  <a:pt x="6678" y="0"/>
                </a:lnTo>
                <a:lnTo>
                  <a:pt x="6678" y="2836"/>
                </a:lnTo>
                <a:cubicBezTo>
                  <a:pt x="6678" y="2895"/>
                  <a:pt x="6631" y="2942"/>
                  <a:pt x="6573" y="2942"/>
                </a:cubicBezTo>
                <a:lnTo>
                  <a:pt x="105" y="2942"/>
                </a:lnTo>
                <a:cubicBezTo>
                  <a:pt x="47" y="2942"/>
                  <a:pt x="0" y="2895"/>
                  <a:pt x="0" y="2836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367560" y="504720"/>
            <a:ext cx="2404080" cy="207720"/>
          </a:xfrm>
          <a:custGeom>
            <a:avLst/>
            <a:gdLst/>
            <a:ahLst/>
            <a:rect l="0" t="0" r="r" b="b"/>
            <a:pathLst>
              <a:path w="6678" h="577">
                <a:moveTo>
                  <a:pt x="0" y="577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8"/>
                  <a:pt x="6678" y="106"/>
                </a:cubicBezTo>
                <a:lnTo>
                  <a:pt x="6678" y="577"/>
                </a:lnTo>
                <a:lnTo>
                  <a:pt x="0" y="577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100080" y="5760"/>
            <a:ext cx="775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Limitations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66920" y="5295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-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643320" y="519840"/>
            <a:ext cx="2566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Data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603360" y="756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744120" y="746280"/>
            <a:ext cx="14515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NSDP T19 starts FY 2011–12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2229480" y="756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2383920" y="746280"/>
            <a:ext cx="291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only 4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744120" y="885240"/>
            <a:ext cx="779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pre-period years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03360" y="1085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744120" y="1075320"/>
            <a:ext cx="1568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Census 2021 delayed; predictors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744120" y="1214280"/>
            <a:ext cx="1492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interpolated from 2011 anchor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3360" y="14140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744120" y="1404000"/>
            <a:ext cx="1482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Excise sub-head WAF-blocked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2249640" y="14140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359640" y="2022480"/>
            <a:ext cx="2419920" cy="1003320"/>
          </a:xfrm>
          <a:custGeom>
            <a:avLst/>
            <a:gdLst/>
            <a:ahLst/>
            <a:rect l="0" t="0" r="r" b="b"/>
            <a:pathLst>
              <a:path w="6722" h="2787">
                <a:moveTo>
                  <a:pt x="0" y="2660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6595" y="0"/>
                </a:lnTo>
                <a:cubicBezTo>
                  <a:pt x="6665" y="0"/>
                  <a:pt x="6722" y="56"/>
                  <a:pt x="6722" y="126"/>
                </a:cubicBezTo>
                <a:lnTo>
                  <a:pt x="6722" y="2660"/>
                </a:lnTo>
                <a:cubicBezTo>
                  <a:pt x="6722" y="2730"/>
                  <a:pt x="6665" y="2787"/>
                  <a:pt x="6595" y="2787"/>
                </a:cubicBezTo>
                <a:lnTo>
                  <a:pt x="127" y="2787"/>
                </a:lnTo>
                <a:cubicBezTo>
                  <a:pt x="57" y="2787"/>
                  <a:pt x="0" y="2730"/>
                  <a:pt x="0" y="2660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367560" y="2237400"/>
            <a:ext cx="2404080" cy="780480"/>
          </a:xfrm>
          <a:custGeom>
            <a:avLst/>
            <a:gdLst/>
            <a:ahLst/>
            <a:rect l="0" t="0" r="r" b="b"/>
            <a:pathLst>
              <a:path w="6678" h="2168">
                <a:moveTo>
                  <a:pt x="0" y="2063"/>
                </a:moveTo>
                <a:lnTo>
                  <a:pt x="0" y="0"/>
                </a:lnTo>
                <a:lnTo>
                  <a:pt x="6678" y="0"/>
                </a:lnTo>
                <a:lnTo>
                  <a:pt x="6678" y="2063"/>
                </a:lnTo>
                <a:cubicBezTo>
                  <a:pt x="6678" y="2121"/>
                  <a:pt x="6631" y="2168"/>
                  <a:pt x="6573" y="2168"/>
                </a:cubicBezTo>
                <a:lnTo>
                  <a:pt x="105" y="2168"/>
                </a:lnTo>
                <a:cubicBezTo>
                  <a:pt x="47" y="2168"/>
                  <a:pt x="0" y="2121"/>
                  <a:pt x="0" y="2063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367560" y="2030040"/>
            <a:ext cx="2404080" cy="207720"/>
          </a:xfrm>
          <a:custGeom>
            <a:avLst/>
            <a:gdLst/>
            <a:ahLst/>
            <a:rect l="0" t="0" r="r" b="b"/>
            <a:pathLst>
              <a:path w="6678" h="577">
                <a:moveTo>
                  <a:pt x="0" y="577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577"/>
                </a:lnTo>
                <a:lnTo>
                  <a:pt x="0" y="577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744120" y="1543320"/>
            <a:ext cx="797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composite proxy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466920" y="20548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-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43320" y="2045160"/>
            <a:ext cx="68508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Identification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603360" y="2281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744120" y="2271600"/>
            <a:ext cx="1815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Bihar near edge of donor convex hull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603360" y="2471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744120" y="2461320"/>
            <a:ext cx="15886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COVID-19 (2020–21) confounds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744120" y="2600640"/>
            <a:ext cx="977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post-2020 estimates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603360" y="28000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2980800" y="497160"/>
            <a:ext cx="2419560" cy="1287720"/>
          </a:xfrm>
          <a:custGeom>
            <a:avLst/>
            <a:gdLst/>
            <a:ahLst/>
            <a:rect l="0" t="0" r="r" b="b"/>
            <a:pathLst>
              <a:path w="6721" h="3577">
                <a:moveTo>
                  <a:pt x="0" y="3451"/>
                </a:moveTo>
                <a:lnTo>
                  <a:pt x="0" y="126"/>
                </a:lnTo>
                <a:cubicBezTo>
                  <a:pt x="0" y="57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7"/>
                  <a:pt x="6721" y="126"/>
                </a:cubicBezTo>
                <a:lnTo>
                  <a:pt x="6721" y="3451"/>
                </a:lnTo>
                <a:cubicBezTo>
                  <a:pt x="6721" y="3521"/>
                  <a:pt x="6664" y="3577"/>
                  <a:pt x="6594" y="3577"/>
                </a:cubicBezTo>
                <a:lnTo>
                  <a:pt x="126" y="3577"/>
                </a:lnTo>
                <a:cubicBezTo>
                  <a:pt x="56" y="3577"/>
                  <a:pt x="0" y="3521"/>
                  <a:pt x="0" y="345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2988360" y="712440"/>
            <a:ext cx="2404080" cy="1064880"/>
          </a:xfrm>
          <a:custGeom>
            <a:avLst/>
            <a:gdLst/>
            <a:ahLst/>
            <a:rect l="0" t="0" r="r" b="b"/>
            <a:pathLst>
              <a:path w="6678" h="2958">
                <a:moveTo>
                  <a:pt x="0" y="2853"/>
                </a:moveTo>
                <a:lnTo>
                  <a:pt x="0" y="0"/>
                </a:lnTo>
                <a:lnTo>
                  <a:pt x="6678" y="0"/>
                </a:lnTo>
                <a:lnTo>
                  <a:pt x="6678" y="2853"/>
                </a:lnTo>
                <a:cubicBezTo>
                  <a:pt x="6678" y="2911"/>
                  <a:pt x="6631" y="2958"/>
                  <a:pt x="6573" y="2958"/>
                </a:cubicBezTo>
                <a:lnTo>
                  <a:pt x="105" y="2958"/>
                </a:lnTo>
                <a:cubicBezTo>
                  <a:pt x="47" y="2958"/>
                  <a:pt x="0" y="2911"/>
                  <a:pt x="0" y="2853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2988360" y="504720"/>
            <a:ext cx="2404080" cy="208080"/>
          </a:xfrm>
          <a:custGeom>
            <a:avLst/>
            <a:gdLst/>
            <a:ahLst/>
            <a:rect l="0" t="0" r="r" b="b"/>
            <a:pathLst>
              <a:path w="6678" h="578">
                <a:moveTo>
                  <a:pt x="0" y="578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8"/>
                  <a:pt x="6678" y="106"/>
                </a:cubicBezTo>
                <a:lnTo>
                  <a:pt x="6678" y="578"/>
                </a:lnTo>
                <a:lnTo>
                  <a:pt x="0" y="578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744120" y="2790360"/>
            <a:ext cx="1677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Inter-state migration not captured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3087720" y="5295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-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3264120" y="519840"/>
            <a:ext cx="4075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Method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3224160" y="756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3364920" y="746280"/>
            <a:ext cx="8283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BSTS overfits (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4191120" y="802800"/>
            <a:ext cx="10584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a3a66"/>
                </a:solidFill>
                <a:latin typeface="LMSans8"/>
                <a:ea typeface="LMSans8"/>
              </a:rPr>
              <a:t>pre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4332960" y="746280"/>
            <a:ext cx="189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= 6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4547520" y="756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&lt;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4671000" y="746280"/>
            <a:ext cx="387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J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= 13)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5094000" y="7560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364920" y="901080"/>
            <a:ext cx="7200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Mono9"/>
                <a:ea typeface="LMMono9"/>
              </a:rPr>
              <a:t>max_donors=3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4121280" y="885240"/>
            <a:ext cx="570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(subjective)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224160" y="1085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3364920" y="1075320"/>
            <a:ext cx="1939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Growth BSTS uses single donor + 2017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3364920" y="1214280"/>
            <a:ext cx="282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cutoff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24160" y="14140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364920" y="1404000"/>
            <a:ext cx="1812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Permutation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p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from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J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= 14 is coarse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360240" y="154332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(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405600" y="1553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Symbols9"/>
                <a:ea typeface="LMMathSymbols9"/>
              </a:rPr>
              <a:t>≥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529080" y="154332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587760" y="1553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MathItalic9"/>
                <a:ea typeface="LMMathItalic9"/>
              </a:rPr>
              <a:t>/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2980800" y="2028600"/>
            <a:ext cx="2419560" cy="614160"/>
          </a:xfrm>
          <a:custGeom>
            <a:avLst/>
            <a:gdLst/>
            <a:ahLst/>
            <a:rect l="0" t="0" r="r" b="b"/>
            <a:pathLst>
              <a:path w="6721" h="1706">
                <a:moveTo>
                  <a:pt x="0" y="1580"/>
                </a:moveTo>
                <a:lnTo>
                  <a:pt x="0" y="127"/>
                </a:lnTo>
                <a:cubicBezTo>
                  <a:pt x="0" y="57"/>
                  <a:pt x="56" y="0"/>
                  <a:pt x="126" y="0"/>
                </a:cubicBezTo>
                <a:lnTo>
                  <a:pt x="6594" y="0"/>
                </a:lnTo>
                <a:cubicBezTo>
                  <a:pt x="6664" y="0"/>
                  <a:pt x="6721" y="57"/>
                  <a:pt x="6721" y="127"/>
                </a:cubicBezTo>
                <a:lnTo>
                  <a:pt x="6721" y="1580"/>
                </a:lnTo>
                <a:cubicBezTo>
                  <a:pt x="6721" y="1649"/>
                  <a:pt x="6664" y="1706"/>
                  <a:pt x="6594" y="1706"/>
                </a:cubicBezTo>
                <a:lnTo>
                  <a:pt x="126" y="1706"/>
                </a:lnTo>
                <a:cubicBezTo>
                  <a:pt x="56" y="1706"/>
                  <a:pt x="0" y="1649"/>
                  <a:pt x="0" y="1580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2988360" y="2036520"/>
            <a:ext cx="2404080" cy="598680"/>
          </a:xfrm>
          <a:custGeom>
            <a:avLst/>
            <a:gdLst/>
            <a:ahLst/>
            <a:rect l="0" t="0" r="r" b="b"/>
            <a:pathLst>
              <a:path w="6678" h="1663">
                <a:moveTo>
                  <a:pt x="0" y="1558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573" y="0"/>
                </a:lnTo>
                <a:cubicBezTo>
                  <a:pt x="6631" y="0"/>
                  <a:pt x="6678" y="47"/>
                  <a:pt x="6678" y="105"/>
                </a:cubicBezTo>
                <a:lnTo>
                  <a:pt x="6678" y="1558"/>
                </a:lnTo>
                <a:cubicBezTo>
                  <a:pt x="6678" y="1616"/>
                  <a:pt x="6631" y="1663"/>
                  <a:pt x="6573" y="1663"/>
                </a:cubicBezTo>
                <a:lnTo>
                  <a:pt x="105" y="1663"/>
                </a:lnTo>
                <a:cubicBezTo>
                  <a:pt x="47" y="1663"/>
                  <a:pt x="0" y="1616"/>
                  <a:pt x="0" y="1558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646440" y="1543320"/>
            <a:ext cx="1638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14)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3087720" y="2063880"/>
            <a:ext cx="7534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dc823c"/>
                </a:solidFill>
                <a:latin typeface="LMSans10"/>
                <a:ea typeface="LMSans10"/>
              </a:rPr>
              <a:t>Honest framing: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931920" y="2063880"/>
            <a:ext cx="1303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Bihar is a hard SCM case —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3087720" y="2184120"/>
            <a:ext cx="227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short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367800" y="2184120"/>
            <a:ext cx="485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pre-period,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3918240" y="2184120"/>
            <a:ext cx="285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outlier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4260240" y="2184120"/>
            <a:ext cx="625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on covariates,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4962240" y="2184120"/>
            <a:ext cx="329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COVID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087720" y="2304360"/>
            <a:ext cx="522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confounder.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3660480" y="2304360"/>
            <a:ext cx="1631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Triangulating SCM and BSTS is the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087720" y="2424600"/>
            <a:ext cx="80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strongest defence.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22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100080" y="5760"/>
            <a:ext cx="1157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Companion Tool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359640" y="799920"/>
            <a:ext cx="2520720" cy="1771560"/>
          </a:xfrm>
          <a:custGeom>
            <a:avLst/>
            <a:gdLst/>
            <a:ahLst/>
            <a:rect l="0" t="0" r="r" b="b"/>
            <a:pathLst>
              <a:path w="7002" h="4921">
                <a:moveTo>
                  <a:pt x="0" y="4794"/>
                </a:moveTo>
                <a:lnTo>
                  <a:pt x="0" y="126"/>
                </a:lnTo>
                <a:cubicBezTo>
                  <a:pt x="0" y="57"/>
                  <a:pt x="57" y="0"/>
                  <a:pt x="127" y="0"/>
                </a:cubicBezTo>
                <a:lnTo>
                  <a:pt x="6875" y="0"/>
                </a:lnTo>
                <a:cubicBezTo>
                  <a:pt x="6945" y="0"/>
                  <a:pt x="7002" y="57"/>
                  <a:pt x="7002" y="126"/>
                </a:cubicBezTo>
                <a:lnTo>
                  <a:pt x="7002" y="4794"/>
                </a:lnTo>
                <a:cubicBezTo>
                  <a:pt x="7002" y="4864"/>
                  <a:pt x="6945" y="4921"/>
                  <a:pt x="6875" y="4921"/>
                </a:cubicBezTo>
                <a:lnTo>
                  <a:pt x="127" y="4921"/>
                </a:lnTo>
                <a:cubicBezTo>
                  <a:pt x="57" y="4921"/>
                  <a:pt x="0" y="4864"/>
                  <a:pt x="0" y="4794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67560" y="1024920"/>
            <a:ext cx="2504880" cy="1539000"/>
          </a:xfrm>
          <a:custGeom>
            <a:avLst/>
            <a:gdLst/>
            <a:ahLst/>
            <a:rect l="0" t="0" r="r" b="b"/>
            <a:pathLst>
              <a:path w="6958" h="4275">
                <a:moveTo>
                  <a:pt x="0" y="4169"/>
                </a:moveTo>
                <a:lnTo>
                  <a:pt x="0" y="0"/>
                </a:lnTo>
                <a:lnTo>
                  <a:pt x="6958" y="0"/>
                </a:lnTo>
                <a:lnTo>
                  <a:pt x="6958" y="4169"/>
                </a:lnTo>
                <a:cubicBezTo>
                  <a:pt x="6958" y="4228"/>
                  <a:pt x="6911" y="4275"/>
                  <a:pt x="6853" y="4275"/>
                </a:cubicBezTo>
                <a:lnTo>
                  <a:pt x="105" y="4275"/>
                </a:lnTo>
                <a:cubicBezTo>
                  <a:pt x="47" y="4275"/>
                  <a:pt x="0" y="4228"/>
                  <a:pt x="0" y="4169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367560" y="807480"/>
            <a:ext cx="2504880" cy="217800"/>
          </a:xfrm>
          <a:custGeom>
            <a:avLst/>
            <a:gdLst/>
            <a:ahLst/>
            <a:rect l="0" t="0" r="r" b="b"/>
            <a:pathLst>
              <a:path w="6958" h="605">
                <a:moveTo>
                  <a:pt x="0" y="605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853" y="0"/>
                </a:lnTo>
                <a:cubicBezTo>
                  <a:pt x="6911" y="0"/>
                  <a:pt x="6958" y="47"/>
                  <a:pt x="6958" y="105"/>
                </a:cubicBezTo>
                <a:lnTo>
                  <a:pt x="6958" y="605"/>
                </a:lnTo>
                <a:lnTo>
                  <a:pt x="0" y="605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1298880" y="5760"/>
            <a:ext cx="15840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— </a:t>
            </a:r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Interactive Website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66920" y="832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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9720" y="822600"/>
            <a:ext cx="12045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Live, reproducible deck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466920" y="1052280"/>
            <a:ext cx="2934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Stack.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916200" y="1052280"/>
            <a:ext cx="366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FastAPI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1355040" y="1052280"/>
            <a:ext cx="1340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backend serving precomputed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466920" y="1172520"/>
            <a:ext cx="1500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SCM/BSTS JSONs + a live SCM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019600" y="1186920"/>
            <a:ext cx="3207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/refit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377800" y="1172520"/>
            <a:ext cx="409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endpoint.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466920" y="1292760"/>
            <a:ext cx="2204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Next.js 16 / React 19 / Tailwind 4 / Recharts /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466920" y="1413000"/>
            <a:ext cx="801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Zustand frontend.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463320" y="1587240"/>
            <a:ext cx="96228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Three outcome tabs.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1482480" y="1587240"/>
            <a:ext cx="1300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Road accidents, own tax rev-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66920" y="1707480"/>
            <a:ext cx="228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enue, NSDP growth — each with main chart, gap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66920" y="1827720"/>
            <a:ext cx="26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chart,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86960" y="1827720"/>
            <a:ext cx="371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placebo,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1222920" y="1827720"/>
            <a:ext cx="258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donor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533600" y="1827720"/>
            <a:ext cx="369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weights,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961640" y="1827720"/>
            <a:ext cx="401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predictor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2415240" y="1827720"/>
            <a:ext cx="367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balance,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466920" y="1947960"/>
            <a:ext cx="86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downloadable CSV.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63320" y="2121840"/>
            <a:ext cx="9547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AI assistant (Gemini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478520" y="2121840"/>
            <a:ext cx="4701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2.5-flash).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2015280" y="2121840"/>
            <a:ext cx="74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Per-tab dynamic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466920" y="2242080"/>
            <a:ext cx="2324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context — the model answers questions on the active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3081240" y="799920"/>
            <a:ext cx="2319120" cy="1158480"/>
          </a:xfrm>
          <a:custGeom>
            <a:avLst/>
            <a:gdLst/>
            <a:ahLst/>
            <a:rect l="0" t="0" r="r" b="b"/>
            <a:pathLst>
              <a:path w="6442" h="3218">
                <a:moveTo>
                  <a:pt x="0" y="3092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6315" y="0"/>
                </a:lnTo>
                <a:cubicBezTo>
                  <a:pt x="6385" y="0"/>
                  <a:pt x="6442" y="57"/>
                  <a:pt x="6442" y="127"/>
                </a:cubicBezTo>
                <a:lnTo>
                  <a:pt x="6442" y="3092"/>
                </a:lnTo>
                <a:cubicBezTo>
                  <a:pt x="6442" y="3161"/>
                  <a:pt x="6385" y="3218"/>
                  <a:pt x="6315" y="3218"/>
                </a:cubicBezTo>
                <a:lnTo>
                  <a:pt x="127" y="3218"/>
                </a:lnTo>
                <a:cubicBezTo>
                  <a:pt x="57" y="3218"/>
                  <a:pt x="0" y="3161"/>
                  <a:pt x="0" y="3092"/>
                </a:cubicBezTo>
                <a:close/>
              </a:path>
            </a:pathLst>
          </a:custGeom>
          <a:solidFill>
            <a:srgbClr val="dc82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3088800" y="1025280"/>
            <a:ext cx="2303640" cy="925560"/>
          </a:xfrm>
          <a:custGeom>
            <a:avLst/>
            <a:gdLst/>
            <a:ahLst/>
            <a:rect l="0" t="0" r="r" b="b"/>
            <a:pathLst>
              <a:path w="6399" h="2571">
                <a:moveTo>
                  <a:pt x="0" y="2466"/>
                </a:moveTo>
                <a:lnTo>
                  <a:pt x="0" y="0"/>
                </a:lnTo>
                <a:lnTo>
                  <a:pt x="6399" y="0"/>
                </a:lnTo>
                <a:lnTo>
                  <a:pt x="6399" y="2466"/>
                </a:lnTo>
                <a:cubicBezTo>
                  <a:pt x="6399" y="2524"/>
                  <a:pt x="6352" y="2571"/>
                  <a:pt x="6294" y="2571"/>
                </a:cubicBezTo>
                <a:lnTo>
                  <a:pt x="106" y="2571"/>
                </a:lnTo>
                <a:cubicBezTo>
                  <a:pt x="48" y="2571"/>
                  <a:pt x="0" y="2524"/>
                  <a:pt x="0" y="2466"/>
                </a:cubicBezTo>
                <a:close/>
              </a:path>
            </a:pathLst>
          </a:custGeom>
          <a:solidFill>
            <a:srgbClr val="fdf1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66920" y="2362320"/>
            <a:ext cx="2050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outcome with the correct numbers + caveats.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3188520" y="80676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_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3430800" y="794880"/>
            <a:ext cx="575280" cy="20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fffff"/>
                </a:solidFill>
                <a:latin typeface="LMSans10"/>
                <a:ea typeface="LMSans10"/>
              </a:rPr>
              <a:t>Endpoints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3188520" y="107424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363120" y="1074240"/>
            <a:ext cx="607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188520" y="116280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363120" y="1162800"/>
            <a:ext cx="768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3188520" y="125136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3363120" y="1251360"/>
            <a:ext cx="930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/api/case/bihar/scm/tax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3188520" y="133992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3363120" y="1339920"/>
            <a:ext cx="1052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/api/case/bihar/scm/growth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188520" y="142848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363120" y="1428480"/>
            <a:ext cx="810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188520" y="151704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363120" y="1517040"/>
            <a:ext cx="971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/api/case/bihar/bsts/tax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188520" y="1605600"/>
            <a:ext cx="1209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GET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3363120" y="1605600"/>
            <a:ext cx="1091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/api/case/bihar/bsts/growth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188520" y="1694160"/>
            <a:ext cx="1052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POST /api/case/bihar/refit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3081240" y="2194920"/>
            <a:ext cx="2319120" cy="242640"/>
          </a:xfrm>
          <a:custGeom>
            <a:avLst/>
            <a:gdLst/>
            <a:ahLst/>
            <a:rect l="0" t="0" r="r" b="b"/>
            <a:pathLst>
              <a:path w="6442" h="674">
                <a:moveTo>
                  <a:pt x="0" y="551"/>
                </a:moveTo>
                <a:lnTo>
                  <a:pt x="0" y="123"/>
                </a:lnTo>
                <a:cubicBezTo>
                  <a:pt x="0" y="55"/>
                  <a:pt x="55" y="0"/>
                  <a:pt x="123" y="0"/>
                </a:cubicBezTo>
                <a:lnTo>
                  <a:pt x="6319" y="0"/>
                </a:lnTo>
                <a:cubicBezTo>
                  <a:pt x="6387" y="0"/>
                  <a:pt x="6442" y="55"/>
                  <a:pt x="6442" y="123"/>
                </a:cubicBezTo>
                <a:lnTo>
                  <a:pt x="6442" y="551"/>
                </a:lnTo>
                <a:cubicBezTo>
                  <a:pt x="6442" y="619"/>
                  <a:pt x="6387" y="674"/>
                  <a:pt x="6319" y="674"/>
                </a:cubicBezTo>
                <a:lnTo>
                  <a:pt x="123" y="674"/>
                </a:lnTo>
                <a:cubicBezTo>
                  <a:pt x="55" y="674"/>
                  <a:pt x="0" y="619"/>
                  <a:pt x="0" y="551"/>
                </a:cubicBez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3087720" y="2201400"/>
            <a:ext cx="2306160" cy="229680"/>
          </a:xfrm>
          <a:custGeom>
            <a:avLst/>
            <a:gdLst/>
            <a:ahLst/>
            <a:rect l="0" t="0" r="r" b="b"/>
            <a:pathLst>
              <a:path w="6406" h="638">
                <a:moveTo>
                  <a:pt x="0" y="532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6301" y="0"/>
                </a:lnTo>
                <a:cubicBezTo>
                  <a:pt x="6359" y="0"/>
                  <a:pt x="6406" y="47"/>
                  <a:pt x="6406" y="105"/>
                </a:cubicBezTo>
                <a:lnTo>
                  <a:pt x="6406" y="532"/>
                </a:lnTo>
                <a:cubicBezTo>
                  <a:pt x="6406" y="591"/>
                  <a:pt x="6359" y="638"/>
                  <a:pt x="6301" y="638"/>
                </a:cubicBezTo>
                <a:lnTo>
                  <a:pt x="105" y="638"/>
                </a:lnTo>
                <a:cubicBezTo>
                  <a:pt x="47" y="638"/>
                  <a:pt x="0" y="591"/>
                  <a:pt x="0" y="532"/>
                </a:cubicBezTo>
                <a:close/>
              </a:path>
            </a:pathLst>
          </a:custGeom>
          <a:solidFill>
            <a:srgbClr val="f5f5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3188520" y="1782720"/>
            <a:ext cx="5266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POST /api/ask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174480" y="2259000"/>
            <a:ext cx="75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288240" y="2262960"/>
            <a:ext cx="16178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000000"/>
                </a:solidFill>
                <a:latin typeface="LMMono8"/>
                <a:ea typeface="LMMono8"/>
              </a:rPr>
              <a:t>github.com/amsorrytola/scm-policy-india-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23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359640" y="686880"/>
            <a:ext cx="5040720" cy="899280"/>
          </a:xfrm>
          <a:custGeom>
            <a:avLst/>
            <a:gdLst/>
            <a:ahLst/>
            <a:rect l="0" t="0" r="r" b="b"/>
            <a:pathLst>
              <a:path w="14002" h="2498">
                <a:moveTo>
                  <a:pt x="0" y="2372"/>
                </a:moveTo>
                <a:lnTo>
                  <a:pt x="0" y="126"/>
                </a:lnTo>
                <a:cubicBezTo>
                  <a:pt x="0" y="57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7"/>
                  <a:pt x="14002" y="126"/>
                </a:cubicBezTo>
                <a:lnTo>
                  <a:pt x="14002" y="2372"/>
                </a:lnTo>
                <a:cubicBezTo>
                  <a:pt x="14002" y="2442"/>
                  <a:pt x="13945" y="2498"/>
                  <a:pt x="13875" y="2498"/>
                </a:cubicBezTo>
                <a:lnTo>
                  <a:pt x="127" y="2498"/>
                </a:lnTo>
                <a:cubicBezTo>
                  <a:pt x="57" y="2498"/>
                  <a:pt x="0" y="2442"/>
                  <a:pt x="0" y="237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367560" y="905400"/>
            <a:ext cx="5025240" cy="673200"/>
          </a:xfrm>
          <a:custGeom>
            <a:avLst/>
            <a:gdLst/>
            <a:ahLst/>
            <a:rect l="0" t="0" r="r" b="b"/>
            <a:pathLst>
              <a:path w="13959" h="1870">
                <a:moveTo>
                  <a:pt x="0" y="1765"/>
                </a:moveTo>
                <a:lnTo>
                  <a:pt x="0" y="0"/>
                </a:lnTo>
                <a:lnTo>
                  <a:pt x="13959" y="0"/>
                </a:lnTo>
                <a:lnTo>
                  <a:pt x="13959" y="1765"/>
                </a:lnTo>
                <a:cubicBezTo>
                  <a:pt x="13959" y="1823"/>
                  <a:pt x="13911" y="1870"/>
                  <a:pt x="13853" y="1870"/>
                </a:cubicBezTo>
                <a:lnTo>
                  <a:pt x="105" y="1870"/>
                </a:lnTo>
                <a:cubicBezTo>
                  <a:pt x="47" y="1870"/>
                  <a:pt x="0" y="1823"/>
                  <a:pt x="0" y="1765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367560" y="694440"/>
            <a:ext cx="5025240" cy="211320"/>
          </a:xfrm>
          <a:custGeom>
            <a:avLst/>
            <a:gdLst/>
            <a:ahLst/>
            <a:rect l="0" t="0" r="r" b="b"/>
            <a:pathLst>
              <a:path w="13959" h="587">
                <a:moveTo>
                  <a:pt x="0" y="587"/>
                </a:moveTo>
                <a:lnTo>
                  <a:pt x="0" y="105"/>
                </a:lnTo>
                <a:cubicBezTo>
                  <a:pt x="0" y="47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7"/>
                  <a:pt x="13959" y="105"/>
                </a:cubicBezTo>
                <a:lnTo>
                  <a:pt x="13959" y="587"/>
                </a:lnTo>
                <a:lnTo>
                  <a:pt x="0" y="587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100080" y="5760"/>
            <a:ext cx="812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Conclusions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466920" y="7207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/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14880" y="711000"/>
            <a:ext cx="4550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Headline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466920" y="927000"/>
            <a:ext cx="1715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Bihar’s 2016 prohibition produced 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2228760" y="927000"/>
            <a:ext cx="11649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1b9e4b"/>
                </a:solidFill>
                <a:latin typeface="LMSans10"/>
                <a:ea typeface="LMSans10"/>
              </a:rPr>
              <a:t>statistically meaningful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3443760" y="927000"/>
            <a:ext cx="18385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1b9e4b"/>
                </a:solidFill>
                <a:latin typeface="LMSans10"/>
                <a:ea typeface="LMSans10"/>
              </a:rPr>
              <a:t>short-run reduction in road-accident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466920" y="106632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1b9e4b"/>
                </a:solidFill>
                <a:latin typeface="LMSans10"/>
                <a:ea typeface="LMSans10"/>
              </a:rPr>
              <a:t>deaths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844560" y="1066320"/>
            <a:ext cx="744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(rank 2 / 14,</a:t>
            </a:r>
            <a:r>
              <a:rPr b="0" i="1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 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621800" y="1076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Symbols9"/>
                <a:ea typeface="LMMathSymbols9"/>
              </a:rPr>
              <a:t>≈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745280" y="1066320"/>
            <a:ext cx="113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1803600" y="10760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Italic9"/>
                <a:ea typeface="LMMathItalic9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1836360" y="1066320"/>
            <a:ext cx="4626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071) that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334600" y="1066320"/>
            <a:ext cx="8863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reversed by 2018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3210840" y="1066320"/>
            <a:ext cx="616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, alongside 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3861000" y="1066320"/>
            <a:ext cx="80856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persistent fiscal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707720" y="1066320"/>
            <a:ext cx="59040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ef4444"/>
                </a:solidFill>
                <a:latin typeface="LMSans10"/>
                <a:ea typeface="LMSans10"/>
              </a:rPr>
              <a:t>contraction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62240" y="1205280"/>
            <a:ext cx="115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(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508680" y="1215000"/>
            <a:ext cx="1836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Symbols9"/>
                <a:ea typeface="LMMathSymbols9"/>
              </a:rPr>
              <a:t>−</a:t>
            </a:r>
            <a:r>
              <a:rPr b="0" lang="en-US" sz="900" spc="-1" strike="noStrike">
                <a:solidFill>
                  <a:srgbClr val="000000"/>
                </a:solidFill>
                <a:latin typeface="Font Awesome 5 Free Solid"/>
                <a:ea typeface="Font Awesome 5 Free Solid"/>
              </a:rPr>
              <a:t>Ñ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690480" y="1205280"/>
            <a:ext cx="623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2,017 Cr/yr,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370880" y="1205280"/>
            <a:ext cx="3868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attenuated composite) and a</a:t>
            </a:r>
            <a:r>
              <a:rPr b="0" i="1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 suggestive but not significant</a:t>
            </a:r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 growth headwind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462240" y="134460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(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507960" y="1354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Symbols9"/>
                <a:ea typeface="LMMathSymbols9"/>
              </a:rPr>
              <a:t>−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598680" y="1344600"/>
            <a:ext cx="5036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3 pp/yr,</a:t>
            </a:r>
            <a:r>
              <a:rPr b="0" i="1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 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119960" y="1354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Symbols9"/>
                <a:ea typeface="LMMathSymbols9"/>
              </a:rPr>
              <a:t>≈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243440" y="1344600"/>
            <a:ext cx="113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302120" y="13543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00000"/>
                </a:solidFill>
                <a:latin typeface="LMMathItalic9"/>
                <a:ea typeface="LMMathItalic9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334520" y="1344600"/>
            <a:ext cx="195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00000"/>
                </a:solidFill>
                <a:latin typeface="LMSans9"/>
                <a:ea typeface="LMSans9"/>
              </a:rPr>
              <a:t>43).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360000" y="1734480"/>
            <a:ext cx="8845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Methodological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295280" y="1734480"/>
            <a:ext cx="631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89" spc="-1" strike="noStrike">
                <a:solidFill>
                  <a:srgbClr val="0f4c81"/>
                </a:solidFill>
                <a:latin typeface="LMSans10"/>
                <a:ea typeface="LMSans10"/>
              </a:rPr>
              <a:t>takeaways:</a:t>
            </a:r>
            <a:endParaRPr b="0" lang="en-US" sz="9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496800" y="19486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637200" y="1938960"/>
            <a:ext cx="1886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Lagged-outcome anchoring is essential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549160" y="1938960"/>
            <a:ext cx="2606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when the treated unit lies near the donor convex-hull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176440" y="1938960"/>
            <a:ext cx="2232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edge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96800" y="213840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637200" y="2128680"/>
            <a:ext cx="2196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BSTS and SCM agree on direction across all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2864520" y="2128680"/>
            <a:ext cx="2238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three outcomes; triangulation strengthens the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37200" y="2268000"/>
            <a:ext cx="8067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qualitative claim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496800" y="24674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37200" y="2457720"/>
            <a:ext cx="42069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For short pre-periods, sparse BSTS specifications (1–3 donors) dominate the full-pool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862880" y="2457720"/>
            <a:ext cx="3358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default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24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-360" y="-360"/>
            <a:ext cx="5760720" cy="720720"/>
          </a:xfrm>
          <a:custGeom>
            <a:avLst/>
            <a:gdLst/>
            <a:ahLst/>
            <a:rect l="0" t="0" r="r" b="b"/>
            <a:pathLst>
              <a:path w="16002" h="2002">
                <a:moveTo>
                  <a:pt x="0" y="2002"/>
                </a:moveTo>
                <a:lnTo>
                  <a:pt x="0" y="0"/>
                </a:lnTo>
                <a:lnTo>
                  <a:pt x="16002" y="0"/>
                </a:lnTo>
                <a:lnTo>
                  <a:pt x="16002" y="2002"/>
                </a:lnTo>
                <a:lnTo>
                  <a:pt x="0" y="2002"/>
                </a:lnTo>
                <a:close/>
              </a:path>
            </a:pathLst>
          </a:custGeom>
          <a:solidFill>
            <a:srgbClr val="0a3a66">
              <a:alpha val="55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2880000" y="360000"/>
            <a:ext cx="3600360" cy="3600360"/>
          </a:xfrm>
          <a:custGeom>
            <a:avLst/>
            <a:gdLst/>
            <a:ahLst/>
            <a:rect l="0" t="0" r="r" b="b"/>
            <a:pathLst>
              <a:path w="10001" h="10001">
                <a:moveTo>
                  <a:pt x="10001" y="5001"/>
                </a:moveTo>
                <a:cubicBezTo>
                  <a:pt x="10001" y="2238"/>
                  <a:pt x="7762" y="0"/>
                  <a:pt x="5000" y="0"/>
                </a:cubicBezTo>
                <a:cubicBezTo>
                  <a:pt x="2238" y="0"/>
                  <a:pt x="0" y="2238"/>
                  <a:pt x="0" y="5001"/>
                </a:cubicBezTo>
                <a:cubicBezTo>
                  <a:pt x="0" y="7762"/>
                  <a:pt x="2238" y="10001"/>
                  <a:pt x="5000" y="10001"/>
                </a:cubicBezTo>
                <a:cubicBezTo>
                  <a:pt x="7762" y="10001"/>
                  <a:pt x="10001" y="7762"/>
                  <a:pt x="10001" y="5001"/>
                </a:cubicBezTo>
                <a:close/>
              </a:path>
            </a:pathLst>
          </a:custGeom>
          <a:solidFill>
            <a:srgbClr val="1a6ab5">
              <a:alpha val="18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305640" y="432000"/>
            <a:ext cx="0" cy="2376000"/>
          </a:xfrm>
          <a:prstGeom prst="line">
            <a:avLst/>
          </a:prstGeom>
          <a:ln w="25200">
            <a:solidFill>
              <a:srgbClr val="f4a26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681200" y="590760"/>
            <a:ext cx="2494080" cy="687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780" spc="-1" strike="noStrike">
                <a:solidFill>
                  <a:srgbClr val="ffffff"/>
                </a:solidFill>
                <a:latin typeface="LMSans10"/>
                <a:ea typeface="LMSans10"/>
              </a:rPr>
              <a:t>Thank you.</a:t>
            </a:r>
            <a:endParaRPr b="0" lang="en-US" sz="37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359640" y="2189160"/>
            <a:ext cx="1613520" cy="397080"/>
          </a:xfrm>
          <a:custGeom>
            <a:avLst/>
            <a:gdLst/>
            <a:ahLst/>
            <a:rect l="0" t="0" r="r" b="b"/>
            <a:pathLst>
              <a:path w="4482" h="1103">
                <a:moveTo>
                  <a:pt x="0" y="962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62"/>
                </a:lnTo>
                <a:cubicBezTo>
                  <a:pt x="4482" y="1039"/>
                  <a:pt x="4419" y="1103"/>
                  <a:pt x="4341" y="1103"/>
                </a:cubicBezTo>
                <a:lnTo>
                  <a:pt x="141" y="1103"/>
                </a:lnTo>
                <a:cubicBezTo>
                  <a:pt x="63" y="1103"/>
                  <a:pt x="0" y="1039"/>
                  <a:pt x="0" y="962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359640" y="2189160"/>
            <a:ext cx="1613520" cy="397080"/>
          </a:xfrm>
          <a:custGeom>
            <a:avLst/>
            <a:gdLst/>
            <a:ahLst/>
            <a:rect l="0" t="0" r="r" b="b"/>
            <a:pathLst>
              <a:path w="4482" h="1103">
                <a:moveTo>
                  <a:pt x="0" y="962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62"/>
                </a:lnTo>
                <a:cubicBezTo>
                  <a:pt x="4482" y="1039"/>
                  <a:pt x="4419" y="1103"/>
                  <a:pt x="4341" y="1103"/>
                </a:cubicBezTo>
                <a:lnTo>
                  <a:pt x="141" y="1103"/>
                </a:lnTo>
                <a:cubicBezTo>
                  <a:pt x="63" y="1103"/>
                  <a:pt x="0" y="1039"/>
                  <a:pt x="0" y="96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005560" y="1325160"/>
            <a:ext cx="1755000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430" spc="-1" strike="noStrike">
                <a:solidFill>
                  <a:srgbClr val="f4a261"/>
                </a:solidFill>
                <a:latin typeface="LMSans12"/>
                <a:ea typeface="LMSans12"/>
              </a:rPr>
              <a:t>Questions &amp; Discussion</a:t>
            </a:r>
            <a:endParaRPr b="0" lang="en-US" sz="14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099440" y="224604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Brands Regular"/>
                <a:ea typeface="Font Awesome 5 Brands Regular"/>
              </a:rPr>
              <a:t>§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2073240" y="2189160"/>
            <a:ext cx="1613520" cy="379080"/>
          </a:xfrm>
          <a:custGeom>
            <a:avLst/>
            <a:gdLst/>
            <a:ahLst/>
            <a:rect l="0" t="0" r="r" b="b"/>
            <a:pathLst>
              <a:path w="4482" h="1053">
                <a:moveTo>
                  <a:pt x="0" y="912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12"/>
                </a:lnTo>
                <a:cubicBezTo>
                  <a:pt x="4482" y="990"/>
                  <a:pt x="4419" y="1053"/>
                  <a:pt x="4341" y="1053"/>
                </a:cubicBezTo>
                <a:lnTo>
                  <a:pt x="141" y="1053"/>
                </a:lnTo>
                <a:cubicBezTo>
                  <a:pt x="63" y="1053"/>
                  <a:pt x="0" y="990"/>
                  <a:pt x="0" y="912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2073240" y="2189160"/>
            <a:ext cx="1613520" cy="379080"/>
          </a:xfrm>
          <a:custGeom>
            <a:avLst/>
            <a:gdLst/>
            <a:ahLst/>
            <a:rect l="0" t="0" r="r" b="b"/>
            <a:pathLst>
              <a:path w="4482" h="1053">
                <a:moveTo>
                  <a:pt x="0" y="912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912"/>
                </a:lnTo>
                <a:cubicBezTo>
                  <a:pt x="4482" y="990"/>
                  <a:pt x="4419" y="1053"/>
                  <a:pt x="4341" y="1053"/>
                </a:cubicBezTo>
                <a:lnTo>
                  <a:pt x="141" y="1053"/>
                </a:lnTo>
                <a:cubicBezTo>
                  <a:pt x="63" y="1053"/>
                  <a:pt x="0" y="990"/>
                  <a:pt x="0" y="912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591840" y="2405880"/>
            <a:ext cx="11725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LMMono8"/>
                <a:ea typeface="LMMono8"/>
              </a:rPr>
              <a:t>amsorrytola/scm-policy-india-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810880" y="223200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#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3786840" y="2189160"/>
            <a:ext cx="1613520" cy="432720"/>
          </a:xfrm>
          <a:custGeom>
            <a:avLst/>
            <a:gdLst/>
            <a:ahLst/>
            <a:rect l="0" t="0" r="r" b="b"/>
            <a:pathLst>
              <a:path w="4482" h="1202">
                <a:moveTo>
                  <a:pt x="0" y="1061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1061"/>
                </a:lnTo>
                <a:cubicBezTo>
                  <a:pt x="4482" y="1139"/>
                  <a:pt x="4419" y="1202"/>
                  <a:pt x="4341" y="1202"/>
                </a:cubicBezTo>
                <a:lnTo>
                  <a:pt x="141" y="1202"/>
                </a:lnTo>
                <a:cubicBezTo>
                  <a:pt x="63" y="1202"/>
                  <a:pt x="0" y="1139"/>
                  <a:pt x="0" y="1061"/>
                </a:cubicBezTo>
                <a:close/>
              </a:path>
            </a:pathLst>
          </a:custGeom>
          <a:solidFill>
            <a:srgbClr val="0a3a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3786840" y="2189160"/>
            <a:ext cx="1613520" cy="432720"/>
          </a:xfrm>
          <a:custGeom>
            <a:avLst/>
            <a:gdLst/>
            <a:ahLst/>
            <a:rect l="0" t="0" r="r" b="b"/>
            <a:pathLst>
              <a:path w="4482" h="1202">
                <a:moveTo>
                  <a:pt x="0" y="1061"/>
                </a:moveTo>
                <a:lnTo>
                  <a:pt x="0" y="141"/>
                </a:lnTo>
                <a:cubicBezTo>
                  <a:pt x="0" y="63"/>
                  <a:pt x="63" y="0"/>
                  <a:pt x="141" y="0"/>
                </a:cubicBezTo>
                <a:lnTo>
                  <a:pt x="4341" y="0"/>
                </a:lnTo>
                <a:cubicBezTo>
                  <a:pt x="4419" y="0"/>
                  <a:pt x="4482" y="63"/>
                  <a:pt x="4482" y="141"/>
                </a:cubicBezTo>
                <a:lnTo>
                  <a:pt x="4482" y="1061"/>
                </a:lnTo>
                <a:cubicBezTo>
                  <a:pt x="4482" y="1139"/>
                  <a:pt x="4419" y="1202"/>
                  <a:pt x="4341" y="1202"/>
                </a:cubicBezTo>
                <a:lnTo>
                  <a:pt x="141" y="1202"/>
                </a:lnTo>
                <a:cubicBezTo>
                  <a:pt x="63" y="1202"/>
                  <a:pt x="0" y="1139"/>
                  <a:pt x="0" y="106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2402640" y="2381040"/>
            <a:ext cx="95796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LMSans8"/>
                <a:ea typeface="LMSans8"/>
              </a:rPr>
              <a:t>mohammed_ta@hs.iitr.ac.in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4526640" y="2247120"/>
            <a:ext cx="1382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9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</a:t>
            </a:r>
            <a:endParaRPr b="0" lang="en-US" sz="10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4076640" y="2398320"/>
            <a:ext cx="980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ffffff"/>
                </a:solidFill>
                <a:latin typeface="LMSans8"/>
                <a:ea typeface="LMSans8"/>
              </a:rPr>
              <a:t>live demo — see repo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1838880" y="2923200"/>
            <a:ext cx="85860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e5e7eb"/>
                </a:solidFill>
                <a:latin typeface="LMSans8"/>
                <a:ea typeface="LMSans8"/>
              </a:rPr>
              <a:t>Mohammed Talha Ansari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753280" y="2929680"/>
            <a:ext cx="75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600" spc="-1" strike="noStrike">
                <a:solidFill>
                  <a:srgbClr val="e5e7eb"/>
                </a:solidFill>
                <a:latin typeface="LMMathSymbols6"/>
                <a:ea typeface="LMMathSymbols6"/>
              </a:rPr>
              <a:t>·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849040" y="2923200"/>
            <a:ext cx="1075320" cy="113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00" spc="-1" strike="noStrike">
                <a:solidFill>
                  <a:srgbClr val="e5e7eb"/>
                </a:solidFill>
                <a:latin typeface="LMSans8"/>
                <a:ea typeface="LMSans8"/>
              </a:rPr>
              <a:t>BS-MS Economics, IIT Roorkee</a:t>
            </a:r>
            <a:endParaRPr b="0" lang="en-US" sz="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"/>
          <p:cNvSpPr/>
          <p:nvPr/>
        </p:nvSpPr>
        <p:spPr>
          <a:xfrm>
            <a:off x="0" y="0"/>
            <a:ext cx="5760000" cy="3240000"/>
          </a:xfrm>
          <a:custGeom>
            <a:avLst/>
            <a:gdLst/>
            <a:ahLst/>
            <a:rect l="0" t="0" r="r" b="b"/>
            <a:pathLst>
              <a:path w="16000" h="9000">
                <a:moveTo>
                  <a:pt x="0" y="9000"/>
                </a:moveTo>
                <a:lnTo>
                  <a:pt x="16000" y="9000"/>
                </a:lnTo>
                <a:lnTo>
                  <a:pt x="16000" y="0"/>
                </a:lnTo>
                <a:lnTo>
                  <a:pt x="0" y="0"/>
                </a:lnTo>
                <a:lnTo>
                  <a:pt x="0" y="9000"/>
                </a:lnTo>
                <a:close/>
              </a:path>
            </a:pathLst>
          </a:custGeom>
          <a:solidFill>
            <a:srgbClr val="faf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5760000" cy="250560"/>
          </a:xfrm>
          <a:custGeom>
            <a:avLst/>
            <a:gdLst/>
            <a:ahLst/>
            <a:rect l="0" t="0" r="r" b="b"/>
            <a:pathLst>
              <a:path w="16000" h="696">
                <a:moveTo>
                  <a:pt x="0" y="696"/>
                </a:moveTo>
                <a:lnTo>
                  <a:pt x="16000" y="696"/>
                </a:lnTo>
                <a:lnTo>
                  <a:pt x="16000" y="0"/>
                </a:lnTo>
                <a:lnTo>
                  <a:pt x="0" y="0"/>
                </a:lnTo>
                <a:lnTo>
                  <a:pt x="0" y="696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359640" y="457920"/>
            <a:ext cx="5040720" cy="1532880"/>
          </a:xfrm>
          <a:custGeom>
            <a:avLst/>
            <a:gdLst/>
            <a:ahLst/>
            <a:rect l="0" t="0" r="r" b="b"/>
            <a:pathLst>
              <a:path w="14002" h="4258">
                <a:moveTo>
                  <a:pt x="0" y="4131"/>
                </a:moveTo>
                <a:lnTo>
                  <a:pt x="0" y="127"/>
                </a:lnTo>
                <a:cubicBezTo>
                  <a:pt x="0" y="57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7"/>
                  <a:pt x="14002" y="127"/>
                </a:cubicBezTo>
                <a:lnTo>
                  <a:pt x="14002" y="4131"/>
                </a:lnTo>
                <a:cubicBezTo>
                  <a:pt x="14002" y="4201"/>
                  <a:pt x="13945" y="4258"/>
                  <a:pt x="13875" y="4258"/>
                </a:cubicBezTo>
                <a:lnTo>
                  <a:pt x="127" y="4258"/>
                </a:lnTo>
                <a:cubicBezTo>
                  <a:pt x="57" y="4258"/>
                  <a:pt x="0" y="4201"/>
                  <a:pt x="0" y="4131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367560" y="677520"/>
            <a:ext cx="5025240" cy="1305720"/>
          </a:xfrm>
          <a:custGeom>
            <a:avLst/>
            <a:gdLst/>
            <a:ahLst/>
            <a:rect l="0" t="0" r="r" b="b"/>
            <a:pathLst>
              <a:path w="13959" h="3627">
                <a:moveTo>
                  <a:pt x="0" y="3520"/>
                </a:moveTo>
                <a:lnTo>
                  <a:pt x="0" y="0"/>
                </a:lnTo>
                <a:lnTo>
                  <a:pt x="13959" y="0"/>
                </a:lnTo>
                <a:lnTo>
                  <a:pt x="13959" y="3520"/>
                </a:lnTo>
                <a:cubicBezTo>
                  <a:pt x="13959" y="3580"/>
                  <a:pt x="13911" y="3627"/>
                  <a:pt x="13853" y="3627"/>
                </a:cubicBezTo>
                <a:lnTo>
                  <a:pt x="105" y="3627"/>
                </a:lnTo>
                <a:cubicBezTo>
                  <a:pt x="47" y="3627"/>
                  <a:pt x="0" y="3580"/>
                  <a:pt x="0" y="3520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367560" y="465480"/>
            <a:ext cx="5025240" cy="212400"/>
          </a:xfrm>
          <a:custGeom>
            <a:avLst/>
            <a:gdLst/>
            <a:ahLst/>
            <a:rect l="0" t="0" r="r" b="b"/>
            <a:pathLst>
              <a:path w="13959" h="590">
                <a:moveTo>
                  <a:pt x="0" y="590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8"/>
                  <a:pt x="13959" y="106"/>
                </a:cubicBezTo>
                <a:lnTo>
                  <a:pt x="13959" y="590"/>
                </a:lnTo>
                <a:lnTo>
                  <a:pt x="0" y="59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100080" y="5760"/>
            <a:ext cx="750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ffffff"/>
                </a:solidFill>
                <a:latin typeface="LMSans10"/>
                <a:ea typeface="LMSans10"/>
              </a:rPr>
              <a:t>References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66920" y="4852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_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657720" y="475560"/>
            <a:ext cx="68184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Methodology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03360" y="72144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740160" y="711360"/>
            <a:ext cx="200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Abadie, Diamond &amp; Hainmueller (2010).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2784240" y="711360"/>
            <a:ext cx="8618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Synthetic Control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3681000" y="711360"/>
            <a:ext cx="455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Methods.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4189680" y="711360"/>
            <a:ext cx="825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JASA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, 105(490),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740880" y="850680"/>
            <a:ext cx="444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493–505.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03360" y="10501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40160" y="1040400"/>
            <a:ext cx="20001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Abadie, Diamond &amp; Hainmueller (2015).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2784240" y="1040400"/>
            <a:ext cx="24253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Comparative Politics and the SCM.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AJPS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, 59(2),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740880" y="1179720"/>
            <a:ext cx="444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495–510.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03360" y="13791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40160" y="1369440"/>
            <a:ext cx="7351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Abadie (2021).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1523880" y="1369440"/>
            <a:ext cx="12520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Using Synthetic Controls.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2822400" y="1369440"/>
            <a:ext cx="10447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JEL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, 59(2), 391–425.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603360" y="156888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744120" y="1559160"/>
            <a:ext cx="11772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Brodersen et al. (2015).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1971360" y="1559160"/>
            <a:ext cx="77040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Inferring Causal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777400" y="15591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Impact Using BSTS.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AOAS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, 9(1), 247–274.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603360" y="175896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4a261"/>
                </a:solidFill>
                <a:latin typeface="Font Awesome 5 Free Solid"/>
                <a:ea typeface="Font Awesome 5 Free Solid"/>
              </a:rPr>
              <a:t>·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744120" y="1748880"/>
            <a:ext cx="1517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Doudchenko &amp; Imbens (2016).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359640" y="2198520"/>
            <a:ext cx="5040720" cy="700200"/>
          </a:xfrm>
          <a:custGeom>
            <a:avLst/>
            <a:gdLst/>
            <a:ahLst/>
            <a:rect l="0" t="0" r="r" b="b"/>
            <a:pathLst>
              <a:path w="14002" h="1945">
                <a:moveTo>
                  <a:pt x="0" y="1818"/>
                </a:moveTo>
                <a:lnTo>
                  <a:pt x="0" y="126"/>
                </a:lnTo>
                <a:cubicBezTo>
                  <a:pt x="0" y="56"/>
                  <a:pt x="57" y="0"/>
                  <a:pt x="127" y="0"/>
                </a:cubicBezTo>
                <a:lnTo>
                  <a:pt x="13875" y="0"/>
                </a:lnTo>
                <a:cubicBezTo>
                  <a:pt x="13945" y="0"/>
                  <a:pt x="14002" y="56"/>
                  <a:pt x="14002" y="126"/>
                </a:cubicBezTo>
                <a:lnTo>
                  <a:pt x="14002" y="1818"/>
                </a:lnTo>
                <a:cubicBezTo>
                  <a:pt x="14002" y="1888"/>
                  <a:pt x="13945" y="1945"/>
                  <a:pt x="13875" y="1945"/>
                </a:cubicBezTo>
                <a:lnTo>
                  <a:pt x="127" y="1945"/>
                </a:lnTo>
                <a:cubicBezTo>
                  <a:pt x="57" y="1945"/>
                  <a:pt x="0" y="1888"/>
                  <a:pt x="0" y="1818"/>
                </a:cubicBez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367560" y="2418120"/>
            <a:ext cx="5025240" cy="473040"/>
          </a:xfrm>
          <a:custGeom>
            <a:avLst/>
            <a:gdLst/>
            <a:ahLst/>
            <a:rect l="0" t="0" r="r" b="b"/>
            <a:pathLst>
              <a:path w="13959" h="1314">
                <a:moveTo>
                  <a:pt x="0" y="1208"/>
                </a:moveTo>
                <a:lnTo>
                  <a:pt x="0" y="0"/>
                </a:lnTo>
                <a:lnTo>
                  <a:pt x="13959" y="0"/>
                </a:lnTo>
                <a:lnTo>
                  <a:pt x="13959" y="1208"/>
                </a:lnTo>
                <a:cubicBezTo>
                  <a:pt x="13959" y="1266"/>
                  <a:pt x="13911" y="1314"/>
                  <a:pt x="13853" y="1314"/>
                </a:cubicBezTo>
                <a:lnTo>
                  <a:pt x="105" y="1314"/>
                </a:lnTo>
                <a:cubicBezTo>
                  <a:pt x="47" y="1314"/>
                  <a:pt x="0" y="1266"/>
                  <a:pt x="0" y="1208"/>
                </a:cubicBezTo>
                <a:close/>
              </a:path>
            </a:pathLst>
          </a:custGeom>
          <a:solidFill>
            <a:srgbClr val="ecf1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367560" y="2206080"/>
            <a:ext cx="5025240" cy="212400"/>
          </a:xfrm>
          <a:custGeom>
            <a:avLst/>
            <a:gdLst/>
            <a:ahLst/>
            <a:rect l="0" t="0" r="r" b="b"/>
            <a:pathLst>
              <a:path w="13959" h="590">
                <a:moveTo>
                  <a:pt x="0" y="590"/>
                </a:moveTo>
                <a:lnTo>
                  <a:pt x="0" y="106"/>
                </a:lnTo>
                <a:cubicBezTo>
                  <a:pt x="0" y="48"/>
                  <a:pt x="47" y="0"/>
                  <a:pt x="105" y="0"/>
                </a:cubicBezTo>
                <a:lnTo>
                  <a:pt x="13853" y="0"/>
                </a:lnTo>
                <a:cubicBezTo>
                  <a:pt x="13911" y="0"/>
                  <a:pt x="13959" y="48"/>
                  <a:pt x="13959" y="106"/>
                </a:cubicBezTo>
                <a:lnTo>
                  <a:pt x="13959" y="590"/>
                </a:lnTo>
                <a:lnTo>
                  <a:pt x="0" y="590"/>
                </a:lnTo>
                <a:close/>
              </a:path>
            </a:pathLst>
          </a:custGeom>
          <a:solidFill>
            <a:srgbClr val="0f4c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2307600" y="1748880"/>
            <a:ext cx="280656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Balancing, Regression, DiD and SCM.</a:t>
            </a:r>
            <a:r>
              <a:rPr b="0" i="1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NBER WP</a:t>
            </a:r>
            <a:r>
              <a:rPr b="0" lang="en-US" sz="900" spc="-1" strike="noStrike">
                <a:solidFill>
                  <a:srgbClr val="0a3a66"/>
                </a:solidFill>
                <a:latin typeface="LMSans9"/>
                <a:ea typeface="LMSans9"/>
              </a:rPr>
              <a:t> 22791.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466920" y="2225520"/>
            <a:ext cx="1134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ffffff"/>
                </a:solidFill>
                <a:latin typeface="Font Awesome 5 Free Solid"/>
                <a:ea typeface="Font Awesome 5 Free Solid"/>
              </a:rPr>
              <a:t>_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57720" y="221616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LMSans10"/>
                <a:ea typeface="LMSans10"/>
              </a:rPr>
              <a:t>Application &amp; Data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466920" y="2451240"/>
            <a:ext cx="494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Chaudhuri,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1009800" y="2451240"/>
            <a:ext cx="135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K.,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189800" y="2451240"/>
            <a:ext cx="30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&amp; Jha,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1548720" y="2451240"/>
            <a:ext cx="107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N.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698120" y="2451240"/>
            <a:ext cx="331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(2024).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2097720" y="2451240"/>
            <a:ext cx="335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Alcohol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2479680" y="2451240"/>
            <a:ext cx="71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Ban and Crime: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3269880" y="2451240"/>
            <a:ext cx="16192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The ABCs of the Bihar Prohibition.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992480" y="2451240"/>
            <a:ext cx="31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EDCC,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464040" y="2571480"/>
            <a:ext cx="276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72(4).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860760" y="2571480"/>
            <a:ext cx="2613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90" spc="-1" strike="noStrike">
                <a:solidFill>
                  <a:srgbClr val="000000"/>
                </a:solidFill>
                <a:latin typeface="LMSans10"/>
                <a:ea typeface="LMSans10"/>
              </a:rPr>
              <a:t>Data: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198440" y="2571480"/>
            <a:ext cx="816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MoRTH 2010–23;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2090520" y="2571480"/>
            <a:ext cx="17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RBI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2314080" y="2571480"/>
            <a:ext cx="74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Handbook (T19,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3141720" y="2571480"/>
            <a:ext cx="308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T168);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3509640" y="2571480"/>
            <a:ext cx="843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Census 2011 PCA.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4435200" y="2571480"/>
            <a:ext cx="169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Full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4652640" y="2571480"/>
            <a:ext cx="6238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provenance in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66920" y="2705760"/>
            <a:ext cx="1335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Mono8"/>
                <a:ea typeface="LMMono8"/>
              </a:rPr>
              <a:t>data/raw/bihar/SOURCES.md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1811160" y="2691720"/>
            <a:ext cx="100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000000"/>
                </a:solidFill>
                <a:latin typeface="LMSans8"/>
                <a:ea typeface="LMSans8"/>
              </a:rPr>
              <a:t>.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5379480" y="3047400"/>
            <a:ext cx="337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LMSans8"/>
                <a:ea typeface="LMSans8"/>
              </a:rPr>
              <a:t>26 / 26</a:t>
            </a:r>
            <a:endParaRPr b="0" lang="en-US" sz="7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