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5759450" cy="3240088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87640" y="42480"/>
            <a:ext cx="5183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287640" y="673560"/>
            <a:ext cx="5183280" cy="166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87640" y="114840"/>
            <a:ext cx="5183280" cy="48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287640" y="673560"/>
            <a:ext cx="5183280" cy="166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49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2880000" y="360000"/>
            <a:ext cx="4320360" cy="4320360"/>
          </a:xfrm>
          <a:custGeom>
            <a:avLst/>
            <a:gdLst/>
            <a:ahLst/>
            <a:rect l="0" t="0" r="r" b="b"/>
            <a:pathLst>
              <a:path w="12001" h="12001">
                <a:moveTo>
                  <a:pt x="12001" y="6001"/>
                </a:moveTo>
                <a:cubicBezTo>
                  <a:pt x="12001" y="2686"/>
                  <a:pt x="9313" y="0"/>
                  <a:pt x="6000" y="0"/>
                </a:cubicBezTo>
                <a:cubicBezTo>
                  <a:pt x="2686" y="0"/>
                  <a:pt x="0" y="2686"/>
                  <a:pt x="0" y="6001"/>
                </a:cubicBezTo>
                <a:cubicBezTo>
                  <a:pt x="0" y="9314"/>
                  <a:pt x="2686" y="12001"/>
                  <a:pt x="6000" y="12001"/>
                </a:cubicBezTo>
                <a:cubicBezTo>
                  <a:pt x="9313" y="12001"/>
                  <a:pt x="12001" y="9314"/>
                  <a:pt x="12001" y="6001"/>
                </a:cubicBezTo>
                <a:close/>
              </a:path>
            </a:pathLst>
          </a:custGeom>
          <a:solidFill>
            <a:srgbClr val="1a6ab5">
              <a:alpha val="18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-360" y="0"/>
            <a:ext cx="1800720" cy="3240360"/>
          </a:xfrm>
          <a:custGeom>
            <a:avLst/>
            <a:gdLst/>
            <a:ahLst/>
            <a:rect l="0" t="0" r="r" b="b"/>
            <a:pathLst>
              <a:path w="5002" h="9001">
                <a:moveTo>
                  <a:pt x="0" y="0"/>
                </a:moveTo>
                <a:lnTo>
                  <a:pt x="5002" y="0"/>
                </a:lnTo>
                <a:cubicBezTo>
                  <a:pt x="3002" y="3000"/>
                  <a:pt x="3002" y="6001"/>
                  <a:pt x="4002" y="9001"/>
                </a:cubicBezTo>
                <a:lnTo>
                  <a:pt x="0" y="9001"/>
                </a:lnTo>
                <a:lnTo>
                  <a:pt x="0" y="0"/>
                </a:lnTo>
                <a:close/>
              </a:path>
            </a:pathLst>
          </a:custGeom>
          <a:solidFill>
            <a:srgbClr val="0a3a66">
              <a:alpha val="55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305640" y="576000"/>
            <a:ext cx="0" cy="2088000"/>
          </a:xfrm>
          <a:prstGeom prst="line">
            <a:avLst/>
          </a:prstGeom>
          <a:ln w="2520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305640" y="504000"/>
            <a:ext cx="5094360" cy="0"/>
          </a:xfrm>
          <a:prstGeom prst="line">
            <a:avLst/>
          </a:prstGeom>
          <a:ln w="504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360000" y="318600"/>
            <a:ext cx="90756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ffffff"/>
                </a:solidFill>
                <a:latin typeface="LMSans10"/>
                <a:ea typeface="LMSans10"/>
              </a:rPr>
              <a:t>Causal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379880" y="318600"/>
            <a:ext cx="134352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ffffff"/>
                </a:solidFill>
                <a:latin typeface="LMSans10"/>
                <a:ea typeface="LMSans10"/>
              </a:rPr>
              <a:t>Impact of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60000" y="672840"/>
            <a:ext cx="96228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ffffff"/>
                </a:solidFill>
                <a:latin typeface="LMSans10"/>
                <a:ea typeface="LMSans10"/>
              </a:rPr>
              <a:t>Bihar’s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60000" y="1070280"/>
            <a:ext cx="180828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f4a261"/>
                </a:solidFill>
                <a:latin typeface="LMSans10"/>
                <a:ea typeface="LMSans10"/>
              </a:rPr>
              <a:t>2016 Alcohol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360000" y="1424520"/>
            <a:ext cx="152460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f4a261"/>
                </a:solidFill>
                <a:latin typeface="LMSans10"/>
                <a:ea typeface="LMSans10"/>
              </a:rPr>
              <a:t>Prohibition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360000" y="1981080"/>
            <a:ext cx="1238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e5e7eb"/>
                </a:solidFill>
                <a:latin typeface="LMSans12"/>
                <a:ea typeface="LMSans12"/>
              </a:rPr>
              <a:t>A Synthetic Control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643760" y="1981080"/>
            <a:ext cx="1375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e5e7eb"/>
                </a:solidFill>
                <a:latin typeface="LMSans12"/>
                <a:ea typeface="LMSans12"/>
              </a:rPr>
              <a:t>&amp; Bayesian Structural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60000" y="2164680"/>
            <a:ext cx="12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e5e7eb"/>
                </a:solidFill>
                <a:latin typeface="LMSans12"/>
                <a:ea typeface="LMSans12"/>
              </a:rPr>
              <a:t>Time Series Analysis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60000" y="2741400"/>
            <a:ext cx="1611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Mohammed Talha Ansari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042280" y="2741400"/>
            <a:ext cx="138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LMSans10"/>
                <a:ea typeface="LMSans10"/>
              </a:rPr>
              <a:t>|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170080" y="2760480"/>
            <a:ext cx="582840" cy="18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e5e7eb"/>
                </a:solidFill>
                <a:latin typeface="LMMono10"/>
                <a:ea typeface="LMMono10"/>
              </a:rPr>
              <a:t>23322016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60000" y="2989800"/>
            <a:ext cx="2987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e5e7eb"/>
                </a:solidFill>
                <a:latin typeface="LMSans10"/>
                <a:ea typeface="LMSans10"/>
              </a:rPr>
              <a:t>BS-MS Economics · Dept. of Humanities &amp; Social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60000" y="3173040"/>
            <a:ext cx="480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e5e7eb"/>
                </a:solidFill>
                <a:latin typeface="LMSans10"/>
                <a:ea typeface="LMSans10"/>
              </a:rPr>
              <a:t>Sciences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0000" y="3378240"/>
            <a:ext cx="26478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e5e7eb"/>
                </a:solidFill>
                <a:latin typeface="LMSans10"/>
                <a:ea typeface="LMSans10"/>
              </a:rPr>
              <a:t>HST-102 Time Series Analysis · IIT Roorkee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60000" y="39279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Font Awesome 5 Free Solid"/>
                <a:ea typeface="Font Awesome 5 Free Solid"/>
              </a:rPr>
              <a:t>z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02200" y="3919320"/>
            <a:ext cx="44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LMSans8"/>
                <a:ea typeface="LMSans8"/>
              </a:rPr>
              <a:t>May 2026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110240" y="391932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LMSans8"/>
                <a:ea typeface="LMSans8"/>
              </a:rPr>
              <a:t>|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305000" y="39279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Font Awesome 5 Brands Regular"/>
                <a:ea typeface="Font Awesome 5 Brands Regular"/>
              </a:rPr>
              <a:t>§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3614400" y="497520"/>
            <a:ext cx="1749960" cy="1620360"/>
          </a:xfrm>
          <a:custGeom>
            <a:avLst/>
            <a:gdLst/>
            <a:ahLst/>
            <a:rect l="0" t="0" r="r" b="b"/>
            <a:pathLst>
              <a:path w="4861" h="4501">
                <a:moveTo>
                  <a:pt x="0" y="4290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651" y="0"/>
                </a:lnTo>
                <a:cubicBezTo>
                  <a:pt x="4767" y="0"/>
                  <a:pt x="4861" y="95"/>
                  <a:pt x="4861" y="211"/>
                </a:cubicBezTo>
                <a:lnTo>
                  <a:pt x="4861" y="4290"/>
                </a:lnTo>
                <a:cubicBezTo>
                  <a:pt x="4861" y="4407"/>
                  <a:pt x="4767" y="4501"/>
                  <a:pt x="4651" y="4501"/>
                </a:cubicBezTo>
                <a:lnTo>
                  <a:pt x="211" y="4501"/>
                </a:lnTo>
                <a:cubicBezTo>
                  <a:pt x="95" y="4501"/>
                  <a:pt x="0" y="4407"/>
                  <a:pt x="0" y="4290"/>
                </a:cubicBezTo>
                <a:close/>
              </a:path>
            </a:pathLst>
          </a:custGeom>
          <a:noFill/>
          <a:ln w="7560">
            <a:solidFill>
              <a:srgbClr val="ffffff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456920" y="3933720"/>
            <a:ext cx="154908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LMMono8"/>
                <a:ea typeface="LMMono8"/>
              </a:rPr>
              <a:t>amsorrytola/scm-policy-india-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3695400" y="675720"/>
            <a:ext cx="1587600" cy="0"/>
          </a:xfrm>
          <a:prstGeom prst="line">
            <a:avLst/>
          </a:prstGeom>
          <a:ln w="504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3744000" y="1923120"/>
            <a:ext cx="1490400" cy="0"/>
          </a:xfrm>
          <a:prstGeom prst="line">
            <a:avLst/>
          </a:prstGeom>
          <a:ln w="5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 flipV="1">
            <a:off x="3744000" y="789120"/>
            <a:ext cx="0" cy="1134000"/>
          </a:xfrm>
          <a:prstGeom prst="line">
            <a:avLst/>
          </a:prstGeom>
          <a:ln w="5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 flipV="1">
            <a:off x="4359600" y="789120"/>
            <a:ext cx="0" cy="1134000"/>
          </a:xfrm>
          <a:prstGeom prst="line">
            <a:avLst/>
          </a:prstGeom>
          <a:ln w="8640">
            <a:solidFill>
              <a:srgbClr val="f4a261"/>
            </a:solidFill>
            <a:custDash>
              <a:ds d="437500" sp="437500"/>
            </a:custDash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747960" y="529560"/>
            <a:ext cx="1420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Road accident deaths — Bihar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3744000" y="1096920"/>
            <a:ext cx="1458360" cy="228960"/>
          </a:xfrm>
          <a:custGeom>
            <a:avLst/>
            <a:gdLst/>
            <a:ahLst/>
            <a:rect l="0" t="0" r="r" b="b"/>
            <a:pathLst>
              <a:path fill="none" w="4051" h="636">
                <a:moveTo>
                  <a:pt x="0" y="0"/>
                </a:moveTo>
                <a:cubicBezTo>
                  <a:pt x="0" y="0"/>
                  <a:pt x="303" y="50"/>
                  <a:pt x="495" y="90"/>
                </a:cubicBezTo>
                <a:cubicBezTo>
                  <a:pt x="688" y="130"/>
                  <a:pt x="798" y="163"/>
                  <a:pt x="990" y="207"/>
                </a:cubicBezTo>
                <a:cubicBezTo>
                  <a:pt x="1183" y="251"/>
                  <a:pt x="1346" y="291"/>
                  <a:pt x="1485" y="315"/>
                </a:cubicBezTo>
                <a:cubicBezTo>
                  <a:pt x="1625" y="340"/>
                  <a:pt x="1579" y="307"/>
                  <a:pt x="1710" y="333"/>
                </a:cubicBezTo>
                <a:cubicBezTo>
                  <a:pt x="1841" y="359"/>
                  <a:pt x="1977" y="405"/>
                  <a:pt x="2160" y="451"/>
                </a:cubicBezTo>
                <a:cubicBezTo>
                  <a:pt x="2344" y="497"/>
                  <a:pt x="2463" y="533"/>
                  <a:pt x="2655" y="568"/>
                </a:cubicBezTo>
                <a:cubicBezTo>
                  <a:pt x="2848" y="603"/>
                  <a:pt x="2958" y="621"/>
                  <a:pt x="3150" y="631"/>
                </a:cubicBezTo>
                <a:cubicBezTo>
                  <a:pt x="3343" y="642"/>
                  <a:pt x="3471" y="634"/>
                  <a:pt x="3645" y="622"/>
                </a:cubicBezTo>
                <a:cubicBezTo>
                  <a:pt x="3821" y="610"/>
                  <a:pt x="4051" y="568"/>
                  <a:pt x="4051" y="568"/>
                </a:cubicBezTo>
              </a:path>
            </a:pathLst>
          </a:custGeom>
          <a:ln w="12600">
            <a:solidFill>
              <a:srgbClr val="ffffff"/>
            </a:solidFill>
            <a:custDash>
              <a:ds d="300000" sp="300000"/>
            </a:custDash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3744000" y="918720"/>
            <a:ext cx="1458360" cy="545760"/>
          </a:xfrm>
          <a:custGeom>
            <a:avLst/>
            <a:gdLst/>
            <a:ahLst/>
            <a:rect l="0" t="0" r="r" b="b"/>
            <a:pathLst>
              <a:path fill="none" w="4051" h="1516">
                <a:moveTo>
                  <a:pt x="0" y="405"/>
                </a:moveTo>
                <a:cubicBezTo>
                  <a:pt x="0" y="405"/>
                  <a:pt x="331" y="465"/>
                  <a:pt x="495" y="495"/>
                </a:cubicBezTo>
                <a:cubicBezTo>
                  <a:pt x="660" y="525"/>
                  <a:pt x="826" y="548"/>
                  <a:pt x="990" y="585"/>
                </a:cubicBezTo>
                <a:cubicBezTo>
                  <a:pt x="1155" y="623"/>
                  <a:pt x="1366" y="680"/>
                  <a:pt x="1485" y="720"/>
                </a:cubicBezTo>
                <a:cubicBezTo>
                  <a:pt x="1605" y="761"/>
                  <a:pt x="1598" y="701"/>
                  <a:pt x="1710" y="828"/>
                </a:cubicBezTo>
                <a:cubicBezTo>
                  <a:pt x="1823" y="956"/>
                  <a:pt x="2003" y="1402"/>
                  <a:pt x="2160" y="1486"/>
                </a:cubicBezTo>
                <a:cubicBezTo>
                  <a:pt x="2318" y="1570"/>
                  <a:pt x="2491" y="1461"/>
                  <a:pt x="2655" y="1333"/>
                </a:cubicBezTo>
                <a:cubicBezTo>
                  <a:pt x="2820" y="1205"/>
                  <a:pt x="2986" y="904"/>
                  <a:pt x="3150" y="720"/>
                </a:cubicBezTo>
                <a:cubicBezTo>
                  <a:pt x="3315" y="536"/>
                  <a:pt x="3496" y="345"/>
                  <a:pt x="3645" y="225"/>
                </a:cubicBezTo>
                <a:cubicBezTo>
                  <a:pt x="3796" y="105"/>
                  <a:pt x="4051" y="0"/>
                  <a:pt x="4051" y="0"/>
                </a:cubicBezTo>
              </a:path>
            </a:pathLst>
          </a:custGeom>
          <a:ln w="20160">
            <a:solidFill>
              <a:srgbClr val="f4a261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3728160" y="1048680"/>
            <a:ext cx="32400" cy="32040"/>
          </a:xfrm>
          <a:custGeom>
            <a:avLst/>
            <a:gdLst/>
            <a:ahLst/>
            <a:rect l="0" t="0" r="r" b="b"/>
            <a:pathLst>
              <a:path w="90" h="89">
                <a:moveTo>
                  <a:pt x="90" y="45"/>
                </a:moveTo>
                <a:cubicBezTo>
                  <a:pt x="90" y="20"/>
                  <a:pt x="69" y="0"/>
                  <a:pt x="44" y="0"/>
                </a:cubicBezTo>
                <a:cubicBezTo>
                  <a:pt x="20" y="0"/>
                  <a:pt x="0" y="20"/>
                  <a:pt x="0" y="45"/>
                </a:cubicBezTo>
                <a:cubicBezTo>
                  <a:pt x="0" y="70"/>
                  <a:pt x="20" y="89"/>
                  <a:pt x="44" y="89"/>
                </a:cubicBezTo>
                <a:cubicBezTo>
                  <a:pt x="69" y="89"/>
                  <a:pt x="90" y="70"/>
                  <a:pt x="90" y="45"/>
                </a:cubicBez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4343760" y="1200960"/>
            <a:ext cx="32400" cy="32040"/>
          </a:xfrm>
          <a:custGeom>
            <a:avLst/>
            <a:gdLst/>
            <a:ahLst/>
            <a:rect l="0" t="0" r="r" b="b"/>
            <a:pathLst>
              <a:path w="90" h="89">
                <a:moveTo>
                  <a:pt x="90" y="44"/>
                </a:moveTo>
                <a:cubicBezTo>
                  <a:pt x="90" y="20"/>
                  <a:pt x="70" y="0"/>
                  <a:pt x="45" y="0"/>
                </a:cubicBezTo>
                <a:cubicBezTo>
                  <a:pt x="20" y="0"/>
                  <a:pt x="0" y="20"/>
                  <a:pt x="0" y="44"/>
                </a:cubicBezTo>
                <a:cubicBezTo>
                  <a:pt x="0" y="70"/>
                  <a:pt x="20" y="89"/>
                  <a:pt x="45" y="89"/>
                </a:cubicBezTo>
                <a:cubicBezTo>
                  <a:pt x="70" y="89"/>
                  <a:pt x="90" y="70"/>
                  <a:pt x="90" y="44"/>
                </a:cubicBez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5184000" y="900720"/>
            <a:ext cx="36720" cy="36720"/>
          </a:xfrm>
          <a:custGeom>
            <a:avLst/>
            <a:gdLst/>
            <a:ahLst/>
            <a:rect l="0" t="0" r="r" b="b"/>
            <a:pathLst>
              <a:path w="102" h="102">
                <a:moveTo>
                  <a:pt x="102" y="50"/>
                </a:moveTo>
                <a:cubicBezTo>
                  <a:pt x="102" y="22"/>
                  <a:pt x="78" y="0"/>
                  <a:pt x="50" y="0"/>
                </a:cubicBezTo>
                <a:cubicBezTo>
                  <a:pt x="22" y="0"/>
                  <a:pt x="0" y="22"/>
                  <a:pt x="0" y="50"/>
                </a:cubicBezTo>
                <a:cubicBezTo>
                  <a:pt x="0" y="79"/>
                  <a:pt x="22" y="102"/>
                  <a:pt x="50" y="102"/>
                </a:cubicBezTo>
                <a:cubicBezTo>
                  <a:pt x="78" y="102"/>
                  <a:pt x="102" y="79"/>
                  <a:pt x="102" y="50"/>
                </a:cubicBez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622400" y="748080"/>
            <a:ext cx="51120" cy="18000"/>
          </a:xfrm>
          <a:custGeom>
            <a:avLst/>
            <a:gdLst/>
            <a:ahLst/>
            <a:rect l="0" t="0" r="r" b="b"/>
            <a:pathLst>
              <a:path w="142" h="50">
                <a:moveTo>
                  <a:pt x="0" y="50"/>
                </a:moveTo>
                <a:lnTo>
                  <a:pt x="142" y="50"/>
                </a:lnTo>
                <a:lnTo>
                  <a:pt x="142" y="0"/>
                </a:lnTo>
                <a:lnTo>
                  <a:pt x="0" y="0"/>
                </a:lnTo>
                <a:lnTo>
                  <a:pt x="0" y="50"/>
                </a:ln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4279320" y="1964520"/>
            <a:ext cx="16236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f4a261"/>
                </a:solidFill>
                <a:latin typeface="LMSans8"/>
                <a:ea typeface="LMSans8"/>
              </a:rPr>
              <a:t>2016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4946400" y="753840"/>
            <a:ext cx="50760" cy="0"/>
          </a:xfrm>
          <a:prstGeom prst="line">
            <a:avLst/>
          </a:prstGeom>
          <a:ln w="10080">
            <a:solidFill>
              <a:srgbClr val="ffffff">
                <a:alpha val="70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687200" y="695880"/>
            <a:ext cx="18648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00" spc="-1" strike="noStrike">
                <a:solidFill>
                  <a:srgbClr val="f4a261"/>
                </a:solidFill>
                <a:latin typeface="LMSans10"/>
                <a:ea typeface="LMSans10"/>
              </a:rPr>
              <a:t>Bihar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5010480" y="688320"/>
            <a:ext cx="31608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LMSans8"/>
                <a:ea typeface="LMSans8"/>
              </a:rPr>
              <a:t>Synthetic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359640" y="922680"/>
            <a:ext cx="2419920" cy="1109880"/>
          </a:xfrm>
          <a:custGeom>
            <a:avLst/>
            <a:gdLst/>
            <a:ahLst/>
            <a:rect l="0" t="0" r="r" b="b"/>
            <a:pathLst>
              <a:path w="6722" h="3083">
                <a:moveTo>
                  <a:pt x="0" y="2908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9"/>
                  <a:pt x="6722" y="176"/>
                </a:cubicBezTo>
                <a:lnTo>
                  <a:pt x="6722" y="2908"/>
                </a:lnTo>
                <a:cubicBezTo>
                  <a:pt x="6722" y="3005"/>
                  <a:pt x="6643" y="3083"/>
                  <a:pt x="6546" y="3083"/>
                </a:cubicBezTo>
                <a:lnTo>
                  <a:pt x="176" y="3083"/>
                </a:lnTo>
                <a:cubicBezTo>
                  <a:pt x="79" y="3083"/>
                  <a:pt x="0" y="3005"/>
                  <a:pt x="0" y="290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372600" y="935280"/>
            <a:ext cx="2394000" cy="1084680"/>
          </a:xfrm>
          <a:custGeom>
            <a:avLst/>
            <a:gdLst/>
            <a:ahLst/>
            <a:rect l="0" t="0" r="r" b="b"/>
            <a:pathLst>
              <a:path w="6650" h="3013">
                <a:moveTo>
                  <a:pt x="0" y="2873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2873"/>
                </a:lnTo>
                <a:cubicBezTo>
                  <a:pt x="6650" y="2950"/>
                  <a:pt x="6587" y="3013"/>
                  <a:pt x="6510" y="3013"/>
                </a:cubicBezTo>
                <a:lnTo>
                  <a:pt x="140" y="3013"/>
                </a:lnTo>
                <a:cubicBezTo>
                  <a:pt x="63" y="3013"/>
                  <a:pt x="0" y="2950"/>
                  <a:pt x="0" y="2873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000" y="42120"/>
            <a:ext cx="6120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Outline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455400" y="94608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635400" y="946080"/>
            <a:ext cx="1632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Motivation &amp; policy context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59360" y="115596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2.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39360" y="1155960"/>
            <a:ext cx="1095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Research questions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59360" y="136584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3.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39360" y="1365840"/>
            <a:ext cx="1329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Identification challenge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455400" y="157608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4.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35400" y="1576080"/>
            <a:ext cx="7855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Data &amp; panel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466640" y="1576080"/>
            <a:ext cx="711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construction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459360" y="178596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5.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359640" y="2507760"/>
            <a:ext cx="2419920" cy="926640"/>
          </a:xfrm>
          <a:custGeom>
            <a:avLst/>
            <a:gdLst/>
            <a:ahLst/>
            <a:rect l="0" t="0" r="r" b="b"/>
            <a:pathLst>
              <a:path w="6722" h="2574">
                <a:moveTo>
                  <a:pt x="0" y="2398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8"/>
                  <a:pt x="6722" y="175"/>
                </a:cubicBezTo>
                <a:lnTo>
                  <a:pt x="6722" y="2398"/>
                </a:lnTo>
                <a:cubicBezTo>
                  <a:pt x="6722" y="2495"/>
                  <a:pt x="6643" y="2574"/>
                  <a:pt x="6546" y="2574"/>
                </a:cubicBezTo>
                <a:lnTo>
                  <a:pt x="176" y="2574"/>
                </a:lnTo>
                <a:cubicBezTo>
                  <a:pt x="79" y="2574"/>
                  <a:pt x="0" y="2495"/>
                  <a:pt x="0" y="239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372600" y="2520360"/>
            <a:ext cx="2394000" cy="901440"/>
          </a:xfrm>
          <a:custGeom>
            <a:avLst/>
            <a:gdLst/>
            <a:ahLst/>
            <a:rect l="0" t="0" r="r" b="b"/>
            <a:pathLst>
              <a:path w="6650" h="2504">
                <a:moveTo>
                  <a:pt x="0" y="2363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0"/>
                </a:cubicBezTo>
                <a:lnTo>
                  <a:pt x="6650" y="2363"/>
                </a:lnTo>
                <a:cubicBezTo>
                  <a:pt x="6650" y="2441"/>
                  <a:pt x="6587" y="2504"/>
                  <a:pt x="6510" y="2504"/>
                </a:cubicBezTo>
                <a:lnTo>
                  <a:pt x="140" y="2504"/>
                </a:lnTo>
                <a:cubicBezTo>
                  <a:pt x="63" y="2504"/>
                  <a:pt x="0" y="2441"/>
                  <a:pt x="0" y="2363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39360" y="1785960"/>
            <a:ext cx="11347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Pre-treatment EDA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9360" y="253080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6.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39360" y="2530800"/>
            <a:ext cx="1017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Synthetic Control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701000" y="2530800"/>
            <a:ext cx="4456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Method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55400" y="274068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7.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35400" y="2740680"/>
            <a:ext cx="6742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Convex hull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356120" y="2740680"/>
            <a:ext cx="801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problem &amp; fix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59360" y="295092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8.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39360" y="2950920"/>
            <a:ext cx="1132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Bayesian Structural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809000" y="2950920"/>
            <a:ext cx="678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Time Series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59360" y="3160800"/>
            <a:ext cx="138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9.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39360" y="3160800"/>
            <a:ext cx="556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Inference: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2980800" y="887040"/>
            <a:ext cx="2419560" cy="1104840"/>
          </a:xfrm>
          <a:custGeom>
            <a:avLst/>
            <a:gdLst/>
            <a:ahLst/>
            <a:rect l="0" t="0" r="r" b="b"/>
            <a:pathLst>
              <a:path w="6721" h="3069">
                <a:moveTo>
                  <a:pt x="0" y="2893"/>
                </a:moveTo>
                <a:lnTo>
                  <a:pt x="0" y="176"/>
                </a:lnTo>
                <a:cubicBezTo>
                  <a:pt x="0" y="79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9"/>
                  <a:pt x="6721" y="176"/>
                </a:cubicBezTo>
                <a:lnTo>
                  <a:pt x="6721" y="2893"/>
                </a:lnTo>
                <a:cubicBezTo>
                  <a:pt x="6721" y="2990"/>
                  <a:pt x="6642" y="3069"/>
                  <a:pt x="6545" y="3069"/>
                </a:cubicBezTo>
                <a:lnTo>
                  <a:pt x="175" y="3069"/>
                </a:lnTo>
                <a:cubicBezTo>
                  <a:pt x="78" y="3069"/>
                  <a:pt x="0" y="2990"/>
                  <a:pt x="0" y="289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2993400" y="899640"/>
            <a:ext cx="2394000" cy="1079640"/>
          </a:xfrm>
          <a:custGeom>
            <a:avLst/>
            <a:gdLst/>
            <a:ahLst/>
            <a:rect l="0" t="0" r="r" b="b"/>
            <a:pathLst>
              <a:path w="6650" h="2999">
                <a:moveTo>
                  <a:pt x="0" y="2858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2858"/>
                </a:lnTo>
                <a:cubicBezTo>
                  <a:pt x="6650" y="2936"/>
                  <a:pt x="6587" y="2999"/>
                  <a:pt x="6510" y="2999"/>
                </a:cubicBezTo>
                <a:lnTo>
                  <a:pt x="140" y="2999"/>
                </a:lnTo>
                <a:cubicBezTo>
                  <a:pt x="63" y="2999"/>
                  <a:pt x="0" y="2936"/>
                  <a:pt x="0" y="2858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257120" y="3160800"/>
            <a:ext cx="1136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placebo &amp; posterior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3076200" y="91620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10.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332520" y="916200"/>
            <a:ext cx="18370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Road-accident deaths (primary)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076200" y="112608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11.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332520" y="1126080"/>
            <a:ext cx="13694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Own tax revenue (fiscal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747680" y="1126080"/>
            <a:ext cx="369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proxy)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076200" y="1335960"/>
            <a:ext cx="198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12.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3427200" y="1335960"/>
            <a:ext cx="1814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NSDP per-capita growth (eco-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3080160" y="1508040"/>
            <a:ext cx="399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nomic)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3076200" y="171828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13.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2980800" y="2467080"/>
            <a:ext cx="2419560" cy="917280"/>
          </a:xfrm>
          <a:custGeom>
            <a:avLst/>
            <a:gdLst/>
            <a:ahLst/>
            <a:rect l="0" t="0" r="r" b="b"/>
            <a:pathLst>
              <a:path w="6721" h="2548">
                <a:moveTo>
                  <a:pt x="0" y="2372"/>
                </a:moveTo>
                <a:lnTo>
                  <a:pt x="0" y="176"/>
                </a:lnTo>
                <a:cubicBezTo>
                  <a:pt x="0" y="79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9"/>
                  <a:pt x="6721" y="176"/>
                </a:cubicBezTo>
                <a:lnTo>
                  <a:pt x="6721" y="2372"/>
                </a:lnTo>
                <a:cubicBezTo>
                  <a:pt x="6721" y="2469"/>
                  <a:pt x="6642" y="2548"/>
                  <a:pt x="6545" y="2548"/>
                </a:cubicBezTo>
                <a:lnTo>
                  <a:pt x="175" y="2548"/>
                </a:lnTo>
                <a:cubicBezTo>
                  <a:pt x="78" y="2548"/>
                  <a:pt x="0" y="2469"/>
                  <a:pt x="0" y="237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2993400" y="2479680"/>
            <a:ext cx="2394000" cy="892080"/>
          </a:xfrm>
          <a:custGeom>
            <a:avLst/>
            <a:gdLst/>
            <a:ahLst/>
            <a:rect l="0" t="0" r="r" b="b"/>
            <a:pathLst>
              <a:path w="6650" h="2478">
                <a:moveTo>
                  <a:pt x="0" y="2337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2337"/>
                </a:lnTo>
                <a:cubicBezTo>
                  <a:pt x="6650" y="2415"/>
                  <a:pt x="6587" y="2478"/>
                  <a:pt x="6510" y="2478"/>
                </a:cubicBezTo>
                <a:lnTo>
                  <a:pt x="140" y="2478"/>
                </a:lnTo>
                <a:cubicBezTo>
                  <a:pt x="63" y="2478"/>
                  <a:pt x="0" y="2415"/>
                  <a:pt x="0" y="2337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32520" y="1718280"/>
            <a:ext cx="14090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Cross-outcome synthesis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3076200" y="249012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14.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332520" y="2490120"/>
            <a:ext cx="10692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Robustness checks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076200" y="270036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15.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3332520" y="2700360"/>
            <a:ext cx="645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Limitations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3076200" y="291024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16.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3332520" y="2910240"/>
            <a:ext cx="14378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Interactive website demo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076200" y="3120480"/>
            <a:ext cx="194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17.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3332520" y="3120480"/>
            <a:ext cx="12657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Conclusions &amp; Q &amp; A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359640" y="711360"/>
            <a:ext cx="2772720" cy="992520"/>
          </a:xfrm>
          <a:custGeom>
            <a:avLst/>
            <a:gdLst/>
            <a:ahLst/>
            <a:rect l="0" t="0" r="r" b="b"/>
            <a:pathLst>
              <a:path w="7702" h="2757">
                <a:moveTo>
                  <a:pt x="0" y="2581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7526" y="0"/>
                </a:lnTo>
                <a:cubicBezTo>
                  <a:pt x="7623" y="0"/>
                  <a:pt x="7702" y="78"/>
                  <a:pt x="7702" y="175"/>
                </a:cubicBezTo>
                <a:lnTo>
                  <a:pt x="7702" y="2581"/>
                </a:lnTo>
                <a:cubicBezTo>
                  <a:pt x="7702" y="2679"/>
                  <a:pt x="7623" y="2757"/>
                  <a:pt x="7526" y="2757"/>
                </a:cubicBezTo>
                <a:lnTo>
                  <a:pt x="176" y="2757"/>
                </a:lnTo>
                <a:cubicBezTo>
                  <a:pt x="79" y="2757"/>
                  <a:pt x="0" y="2679"/>
                  <a:pt x="0" y="2581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372600" y="723960"/>
            <a:ext cx="2746800" cy="967320"/>
          </a:xfrm>
          <a:custGeom>
            <a:avLst/>
            <a:gdLst/>
            <a:ahLst/>
            <a:rect l="0" t="0" r="r" b="b"/>
            <a:pathLst>
              <a:path w="7630" h="2687">
                <a:moveTo>
                  <a:pt x="0" y="2546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7490" y="0"/>
                </a:lnTo>
                <a:cubicBezTo>
                  <a:pt x="7568" y="0"/>
                  <a:pt x="7630" y="63"/>
                  <a:pt x="7630" y="140"/>
                </a:cubicBezTo>
                <a:lnTo>
                  <a:pt x="7630" y="2546"/>
                </a:lnTo>
                <a:cubicBezTo>
                  <a:pt x="7630" y="2624"/>
                  <a:pt x="7568" y="2687"/>
                  <a:pt x="7490" y="2687"/>
                </a:cubicBezTo>
                <a:lnTo>
                  <a:pt x="140" y="2687"/>
                </a:lnTo>
                <a:cubicBezTo>
                  <a:pt x="63" y="2687"/>
                  <a:pt x="0" y="2624"/>
                  <a:pt x="0" y="2546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8000" y="42120"/>
            <a:ext cx="39099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Motivation — Why Study Bihar’s Prohibition?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454320" y="734400"/>
            <a:ext cx="721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The policy.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309680" y="734400"/>
            <a:ext cx="866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Effective</a:t>
            </a:r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 April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2258640" y="734400"/>
            <a:ext cx="14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5,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458800" y="734400"/>
            <a:ext cx="349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2016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,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880720" y="734400"/>
            <a:ext cx="1760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Bi-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59360" y="906480"/>
            <a:ext cx="9928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har enacted total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488600" y="906480"/>
            <a:ext cx="1556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prohibition on the sale and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59360" y="1078560"/>
            <a:ext cx="9104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consumption of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441440" y="1078560"/>
            <a:ext cx="413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alcohol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914480" y="1078560"/>
            <a:ext cx="1107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— 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the largest sub-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459360" y="1250640"/>
            <a:ext cx="4626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national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63360" y="1250640"/>
            <a:ext cx="20887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prohibition by population in modern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59360" y="1422720"/>
            <a:ext cx="4885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history (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943920" y="14346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∼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51560" y="1422720"/>
            <a:ext cx="837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120M people).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52080" y="1856880"/>
            <a:ext cx="23583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Why this case is methodologically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360000" y="2040120"/>
            <a:ext cx="779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interesting: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88160" y="22744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57360" y="2261520"/>
            <a:ext cx="24498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Sharp, well-dated discontinuity — ideal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57360" y="2445120"/>
            <a:ext cx="597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for causal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299240" y="2445120"/>
            <a:ext cx="4428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designs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88160" y="27172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657360" y="2704320"/>
            <a:ext cx="115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Single treated unit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854000" y="27172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⇒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2055240" y="2704320"/>
            <a:ext cx="249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DiD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57360" y="2887920"/>
            <a:ext cx="2490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parallel-trends is hard to defend; SCM is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57360" y="3071520"/>
            <a:ext cx="435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natural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140840" y="3071520"/>
            <a:ext cx="38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choice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88160" y="33436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57360" y="3330720"/>
            <a:ext cx="2286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Multiple competing channels (safety,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57360" y="3514320"/>
            <a:ext cx="101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fiscal, economic)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720080" y="35272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⇒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921680" y="3514320"/>
            <a:ext cx="1212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direction of effect is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57360" y="3697560"/>
            <a:ext cx="554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empirical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88160" y="39700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57360" y="3957120"/>
            <a:ext cx="6408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Policy still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341000" y="3957120"/>
            <a:ext cx="15858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in force a decade later —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57360" y="4140360"/>
            <a:ext cx="2323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post-period covers 7+ years with rich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3384000" y="711360"/>
            <a:ext cx="2016360" cy="643680"/>
          </a:xfrm>
          <a:custGeom>
            <a:avLst/>
            <a:gdLst/>
            <a:ahLst/>
            <a:rect l="0" t="0" r="r" b="b"/>
            <a:pathLst>
              <a:path w="5601" h="1788">
                <a:moveTo>
                  <a:pt x="0" y="1577"/>
                </a:moveTo>
                <a:lnTo>
                  <a:pt x="0" y="211"/>
                </a:lnTo>
                <a:cubicBezTo>
                  <a:pt x="0" y="94"/>
                  <a:pt x="94" y="0"/>
                  <a:pt x="210" y="0"/>
                </a:cubicBezTo>
                <a:lnTo>
                  <a:pt x="5390" y="0"/>
                </a:lnTo>
                <a:cubicBezTo>
                  <a:pt x="5506" y="0"/>
                  <a:pt x="5601" y="94"/>
                  <a:pt x="5601" y="211"/>
                </a:cubicBezTo>
                <a:lnTo>
                  <a:pt x="5601" y="1577"/>
                </a:lnTo>
                <a:cubicBezTo>
                  <a:pt x="5601" y="1694"/>
                  <a:pt x="5506" y="1788"/>
                  <a:pt x="5390" y="1788"/>
                </a:cubicBezTo>
                <a:lnTo>
                  <a:pt x="210" y="1788"/>
                </a:lnTo>
                <a:cubicBezTo>
                  <a:pt x="94" y="1788"/>
                  <a:pt x="0" y="1694"/>
                  <a:pt x="0" y="1577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3384000" y="711360"/>
            <a:ext cx="2016360" cy="643680"/>
          </a:xfrm>
          <a:custGeom>
            <a:avLst/>
            <a:gdLst/>
            <a:ahLst/>
            <a:rect l="0" t="0" r="r" b="b"/>
            <a:pathLst>
              <a:path w="5601" h="1788">
                <a:moveTo>
                  <a:pt x="0" y="1577"/>
                </a:moveTo>
                <a:lnTo>
                  <a:pt x="0" y="211"/>
                </a:lnTo>
                <a:cubicBezTo>
                  <a:pt x="0" y="94"/>
                  <a:pt x="94" y="0"/>
                  <a:pt x="210" y="0"/>
                </a:cubicBezTo>
                <a:lnTo>
                  <a:pt x="5390" y="0"/>
                </a:lnTo>
                <a:cubicBezTo>
                  <a:pt x="5506" y="0"/>
                  <a:pt x="5601" y="94"/>
                  <a:pt x="5601" y="211"/>
                </a:cubicBezTo>
                <a:lnTo>
                  <a:pt x="5601" y="1577"/>
                </a:lnTo>
                <a:cubicBezTo>
                  <a:pt x="5601" y="1694"/>
                  <a:pt x="5506" y="1788"/>
                  <a:pt x="5390" y="1788"/>
                </a:cubicBezTo>
                <a:lnTo>
                  <a:pt x="210" y="1788"/>
                </a:lnTo>
                <a:cubicBezTo>
                  <a:pt x="94" y="1788"/>
                  <a:pt x="0" y="1694"/>
                  <a:pt x="0" y="1577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53760" y="4323960"/>
            <a:ext cx="2055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variation (incl. COVID-19 shock)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912480" y="648000"/>
            <a:ext cx="945720" cy="50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790" spc="-1" strike="noStrike">
                <a:solidFill>
                  <a:srgbClr val="f4a261"/>
                </a:solidFill>
                <a:latin typeface="LMSans10"/>
                <a:ea typeface="LMSans10"/>
              </a:rPr>
              <a:t>120M</a:t>
            </a:r>
            <a:endParaRPr b="0" lang="en-US" sz="2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3384000" y="1610280"/>
            <a:ext cx="2016360" cy="865800"/>
          </a:xfrm>
          <a:custGeom>
            <a:avLst/>
            <a:gdLst/>
            <a:ahLst/>
            <a:rect l="0" t="0" r="r" b="b"/>
            <a:pathLst>
              <a:path w="5601" h="2405">
                <a:moveTo>
                  <a:pt x="0" y="2194"/>
                </a:moveTo>
                <a:lnTo>
                  <a:pt x="0" y="211"/>
                </a:lnTo>
                <a:cubicBezTo>
                  <a:pt x="0" y="94"/>
                  <a:pt x="94" y="0"/>
                  <a:pt x="210" y="0"/>
                </a:cubicBezTo>
                <a:lnTo>
                  <a:pt x="5390" y="0"/>
                </a:lnTo>
                <a:cubicBezTo>
                  <a:pt x="5506" y="0"/>
                  <a:pt x="5601" y="94"/>
                  <a:pt x="5601" y="211"/>
                </a:cubicBezTo>
                <a:lnTo>
                  <a:pt x="5601" y="2194"/>
                </a:lnTo>
                <a:cubicBezTo>
                  <a:pt x="5601" y="2310"/>
                  <a:pt x="5506" y="2405"/>
                  <a:pt x="5390" y="2405"/>
                </a:cubicBezTo>
                <a:lnTo>
                  <a:pt x="210" y="2405"/>
                </a:lnTo>
                <a:cubicBezTo>
                  <a:pt x="94" y="2405"/>
                  <a:pt x="0" y="2310"/>
                  <a:pt x="0" y="2194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3384000" y="1610280"/>
            <a:ext cx="2016360" cy="865800"/>
          </a:xfrm>
          <a:custGeom>
            <a:avLst/>
            <a:gdLst/>
            <a:ahLst/>
            <a:rect l="0" t="0" r="r" b="b"/>
            <a:pathLst>
              <a:path w="5601" h="2405">
                <a:moveTo>
                  <a:pt x="0" y="2194"/>
                </a:moveTo>
                <a:lnTo>
                  <a:pt x="0" y="211"/>
                </a:lnTo>
                <a:cubicBezTo>
                  <a:pt x="0" y="94"/>
                  <a:pt x="94" y="0"/>
                  <a:pt x="210" y="0"/>
                </a:cubicBezTo>
                <a:lnTo>
                  <a:pt x="5390" y="0"/>
                </a:lnTo>
                <a:cubicBezTo>
                  <a:pt x="5506" y="0"/>
                  <a:pt x="5601" y="94"/>
                  <a:pt x="5601" y="211"/>
                </a:cubicBezTo>
                <a:lnTo>
                  <a:pt x="5601" y="2194"/>
                </a:lnTo>
                <a:cubicBezTo>
                  <a:pt x="5601" y="2310"/>
                  <a:pt x="5506" y="2405"/>
                  <a:pt x="5390" y="2405"/>
                </a:cubicBezTo>
                <a:lnTo>
                  <a:pt x="210" y="2405"/>
                </a:lnTo>
                <a:cubicBezTo>
                  <a:pt x="94" y="2405"/>
                  <a:pt x="0" y="2310"/>
                  <a:pt x="0" y="2194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769560" y="1068840"/>
            <a:ext cx="1245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affected population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3495960" y="1618920"/>
            <a:ext cx="564480" cy="48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79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∼</a:t>
            </a:r>
            <a:r>
              <a:rPr b="0" lang="en-US" sz="2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Ñ</a:t>
            </a:r>
            <a:endParaRPr b="0" lang="en-US" sz="2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057920" y="1589040"/>
            <a:ext cx="1366200" cy="50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790" spc="-1" strike="noStrike">
                <a:solidFill>
                  <a:srgbClr val="f4a261"/>
                </a:solidFill>
                <a:latin typeface="LMSans10"/>
                <a:ea typeface="LMSans10"/>
              </a:rPr>
              <a:t>4,000 Cr</a:t>
            </a:r>
            <a:endParaRPr b="0" lang="en-US" sz="2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3737880" y="2009880"/>
            <a:ext cx="13219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pre-prohibition state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384000" y="2730960"/>
            <a:ext cx="2016360" cy="651600"/>
          </a:xfrm>
          <a:custGeom>
            <a:avLst/>
            <a:gdLst/>
            <a:ahLst/>
            <a:rect l="0" t="0" r="r" b="b"/>
            <a:pathLst>
              <a:path w="5601" h="1810">
                <a:moveTo>
                  <a:pt x="0" y="1599"/>
                </a:moveTo>
                <a:lnTo>
                  <a:pt x="0" y="211"/>
                </a:lnTo>
                <a:cubicBezTo>
                  <a:pt x="0" y="95"/>
                  <a:pt x="94" y="0"/>
                  <a:pt x="210" y="0"/>
                </a:cubicBezTo>
                <a:lnTo>
                  <a:pt x="5390" y="0"/>
                </a:lnTo>
                <a:cubicBezTo>
                  <a:pt x="5506" y="0"/>
                  <a:pt x="5601" y="95"/>
                  <a:pt x="5601" y="211"/>
                </a:cubicBezTo>
                <a:lnTo>
                  <a:pt x="5601" y="1599"/>
                </a:lnTo>
                <a:cubicBezTo>
                  <a:pt x="5601" y="1716"/>
                  <a:pt x="5506" y="1810"/>
                  <a:pt x="5390" y="1810"/>
                </a:cubicBezTo>
                <a:lnTo>
                  <a:pt x="210" y="1810"/>
                </a:lnTo>
                <a:cubicBezTo>
                  <a:pt x="94" y="1810"/>
                  <a:pt x="0" y="1716"/>
                  <a:pt x="0" y="1599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3384000" y="2730960"/>
            <a:ext cx="2016360" cy="651600"/>
          </a:xfrm>
          <a:custGeom>
            <a:avLst/>
            <a:gdLst/>
            <a:ahLst/>
            <a:rect l="0" t="0" r="r" b="b"/>
            <a:pathLst>
              <a:path w="5601" h="1810">
                <a:moveTo>
                  <a:pt x="0" y="1599"/>
                </a:moveTo>
                <a:lnTo>
                  <a:pt x="0" y="211"/>
                </a:lnTo>
                <a:cubicBezTo>
                  <a:pt x="0" y="95"/>
                  <a:pt x="94" y="0"/>
                  <a:pt x="210" y="0"/>
                </a:cubicBezTo>
                <a:lnTo>
                  <a:pt x="5390" y="0"/>
                </a:lnTo>
                <a:cubicBezTo>
                  <a:pt x="5506" y="0"/>
                  <a:pt x="5601" y="95"/>
                  <a:pt x="5601" y="211"/>
                </a:cubicBezTo>
                <a:lnTo>
                  <a:pt x="5601" y="1599"/>
                </a:lnTo>
                <a:cubicBezTo>
                  <a:pt x="5601" y="1716"/>
                  <a:pt x="5506" y="1810"/>
                  <a:pt x="5390" y="1810"/>
                </a:cubicBezTo>
                <a:lnTo>
                  <a:pt x="210" y="1810"/>
                </a:lnTo>
                <a:cubicBezTo>
                  <a:pt x="94" y="1810"/>
                  <a:pt x="0" y="1716"/>
                  <a:pt x="0" y="1599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3833640" y="2181960"/>
            <a:ext cx="1134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excise (FY15–16)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3495960" y="2667600"/>
            <a:ext cx="1863000" cy="50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790" spc="-1" strike="noStrike">
                <a:solidFill>
                  <a:srgbClr val="f4a261"/>
                </a:solidFill>
                <a:latin typeface="LMSans10"/>
                <a:ea typeface="LMSans10"/>
              </a:rPr>
              <a:t>3 outcomes</a:t>
            </a:r>
            <a:endParaRPr b="0" lang="en-US" sz="2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3564000" y="3088800"/>
            <a:ext cx="8877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safety / fiscal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4489200" y="3088800"/>
            <a:ext cx="735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/ economic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3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359640" y="839160"/>
            <a:ext cx="5040720" cy="1428120"/>
          </a:xfrm>
          <a:custGeom>
            <a:avLst/>
            <a:gdLst/>
            <a:ahLst/>
            <a:rect l="0" t="0" r="r" b="b"/>
            <a:pathLst>
              <a:path w="14002" h="3967">
                <a:moveTo>
                  <a:pt x="0" y="3791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8"/>
                  <a:pt x="14002" y="175"/>
                </a:cubicBezTo>
                <a:lnTo>
                  <a:pt x="14002" y="3791"/>
                </a:lnTo>
                <a:cubicBezTo>
                  <a:pt x="14002" y="3888"/>
                  <a:pt x="13923" y="3967"/>
                  <a:pt x="13826" y="3967"/>
                </a:cubicBezTo>
                <a:lnTo>
                  <a:pt x="176" y="3967"/>
                </a:lnTo>
                <a:cubicBezTo>
                  <a:pt x="79" y="3967"/>
                  <a:pt x="0" y="3888"/>
                  <a:pt x="0" y="379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372600" y="851760"/>
            <a:ext cx="5015160" cy="1402920"/>
          </a:xfrm>
          <a:custGeom>
            <a:avLst/>
            <a:gdLst/>
            <a:ahLst/>
            <a:rect l="0" t="0" r="r" b="b"/>
            <a:pathLst>
              <a:path w="13931" h="3897">
                <a:moveTo>
                  <a:pt x="0" y="3756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0"/>
                </a:cubicBezTo>
                <a:lnTo>
                  <a:pt x="13931" y="3756"/>
                </a:lnTo>
                <a:cubicBezTo>
                  <a:pt x="13931" y="3834"/>
                  <a:pt x="13868" y="3897"/>
                  <a:pt x="13790" y="3897"/>
                </a:cubicBezTo>
                <a:lnTo>
                  <a:pt x="140" y="3897"/>
                </a:lnTo>
                <a:cubicBezTo>
                  <a:pt x="63" y="3897"/>
                  <a:pt x="0" y="3834"/>
                  <a:pt x="0" y="3756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08000" y="42120"/>
            <a:ext cx="16358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Research Questions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6640" y="85608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LMSans12"/>
                <a:ea typeface="LMSans12"/>
              </a:rPr>
              <a:t>1.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756720" y="856080"/>
            <a:ext cx="37497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Did prohibition</a:t>
            </a:r>
            <a:r>
              <a:rPr b="1" lang="en-US" sz="1200" spc="-1" strike="noStrike">
                <a:solidFill>
                  <a:srgbClr val="dc823c"/>
                </a:solidFill>
                <a:latin typeface="LMSans10"/>
                <a:ea typeface="LMSans10"/>
              </a:rPr>
              <a:t> reduce road-accident deaths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relative to a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756720" y="1039680"/>
            <a:ext cx="88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counterfactual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688040" y="1039680"/>
            <a:ext cx="2300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Bihar that did not enact prohibition?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66640" y="132408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LMSans12"/>
                <a:ea typeface="LMSans12"/>
              </a:rPr>
              <a:t>2.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756720" y="1324080"/>
            <a:ext cx="4575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Did prohibition</a:t>
            </a:r>
            <a:r>
              <a:rPr b="1" lang="en-US" sz="1200" spc="-1" strike="noStrike">
                <a:solidFill>
                  <a:srgbClr val="dc823c"/>
                </a:solidFill>
                <a:latin typeface="LMSans10"/>
                <a:ea typeface="LMSans10"/>
              </a:rPr>
              <a:t> reduce state own-tax revenue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via the loss of the excise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56720" y="1507680"/>
            <a:ext cx="753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component?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66640" y="179244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LMSans12"/>
                <a:ea typeface="LMSans12"/>
              </a:rPr>
              <a:t>3.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6720" y="1792440"/>
            <a:ext cx="4453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Did prohibition</a:t>
            </a:r>
            <a:r>
              <a:rPr b="1" lang="en-US" sz="1200" spc="-1" strike="noStrike">
                <a:solidFill>
                  <a:srgbClr val="dc823c"/>
                </a:solidFill>
                <a:latin typeface="LMSans10"/>
                <a:ea typeface="LMSans10"/>
              </a:rPr>
              <a:t> accelerate or depress per-capita economic growth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56720" y="1975680"/>
            <a:ext cx="186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relative to comparable states?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360000" y="2492280"/>
            <a:ext cx="1578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Identification strategy.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984320" y="2492280"/>
            <a:ext cx="3300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Construct a</a:t>
            </a:r>
            <a:r>
              <a:rPr b="0" i="1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synthetic Bihar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as a weighted average of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60000" y="2675520"/>
            <a:ext cx="5083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donor states whose pre-2016 trajectory tracks Bihar’s, then read the post-2016 gap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360000" y="2859120"/>
            <a:ext cx="1466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as the treatment effect.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887480" y="2859120"/>
            <a:ext cx="2388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Triangulate with a Bayesian structural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296240" y="2859120"/>
            <a:ext cx="88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counterfactual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359640" y="3508200"/>
            <a:ext cx="5040720" cy="640800"/>
          </a:xfrm>
          <a:custGeom>
            <a:avLst/>
            <a:gdLst/>
            <a:ahLst/>
            <a:rect l="0" t="0" r="r" b="b"/>
            <a:pathLst>
              <a:path w="14002" h="1780">
                <a:moveTo>
                  <a:pt x="0" y="1605"/>
                </a:moveTo>
                <a:lnTo>
                  <a:pt x="0" y="177"/>
                </a:lnTo>
                <a:cubicBezTo>
                  <a:pt x="0" y="80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80"/>
                  <a:pt x="14002" y="177"/>
                </a:cubicBezTo>
                <a:lnTo>
                  <a:pt x="14002" y="1605"/>
                </a:lnTo>
                <a:cubicBezTo>
                  <a:pt x="14002" y="1702"/>
                  <a:pt x="13923" y="1780"/>
                  <a:pt x="13826" y="1780"/>
                </a:cubicBezTo>
                <a:lnTo>
                  <a:pt x="176" y="1780"/>
                </a:lnTo>
                <a:cubicBezTo>
                  <a:pt x="79" y="1780"/>
                  <a:pt x="0" y="1702"/>
                  <a:pt x="0" y="1605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72600" y="3520800"/>
            <a:ext cx="5015160" cy="615600"/>
          </a:xfrm>
          <a:custGeom>
            <a:avLst/>
            <a:gdLst/>
            <a:ahLst/>
            <a:rect l="0" t="0" r="r" b="b"/>
            <a:pathLst>
              <a:path w="13931" h="1710">
                <a:moveTo>
                  <a:pt x="0" y="1570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1"/>
                </a:cubicBezTo>
                <a:lnTo>
                  <a:pt x="13931" y="1570"/>
                </a:lnTo>
                <a:cubicBezTo>
                  <a:pt x="13931" y="1647"/>
                  <a:pt x="13868" y="1710"/>
                  <a:pt x="13790" y="1710"/>
                </a:cubicBezTo>
                <a:lnTo>
                  <a:pt x="140" y="1710"/>
                </a:lnTo>
                <a:cubicBezTo>
                  <a:pt x="63" y="1710"/>
                  <a:pt x="0" y="1647"/>
                  <a:pt x="0" y="1570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354240" y="3042360"/>
            <a:ext cx="52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(BSTS).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52160" y="3531240"/>
            <a:ext cx="48880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Why three outcomes?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Each isolates a distinct welfare dimension — Q1 captures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59360" y="3703320"/>
            <a:ext cx="3225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the</a:t>
            </a:r>
            <a:r>
              <a:rPr b="1" lang="en-US" sz="1090" spc="-1" strike="noStrike">
                <a:solidFill>
                  <a:srgbClr val="1b9e4b"/>
                </a:solidFill>
                <a:latin typeface="LMSans10"/>
                <a:ea typeface="LMSans10"/>
              </a:rPr>
              <a:t> intended public-health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gain, Q2 the</a:t>
            </a:r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 direct fiscal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3726360" y="3703320"/>
            <a:ext cx="15732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cost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, Q3 the</a:t>
            </a:r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net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economic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59360" y="3875400"/>
            <a:ext cx="16938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effect of competing channels.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4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08000" y="42120"/>
            <a:ext cx="23720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The Identification Challenge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360000" y="500400"/>
            <a:ext cx="1280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Standard tools fall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692360" y="500400"/>
            <a:ext cx="398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short.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88160" y="7347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657360" y="721800"/>
            <a:ext cx="1300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ef4444"/>
                </a:solidFill>
                <a:latin typeface="LMSans10"/>
                <a:ea typeface="LMSans10"/>
              </a:rPr>
              <a:t>DiD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requires parallel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999800" y="721800"/>
            <a:ext cx="665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pre-trends,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57360" y="905400"/>
            <a:ext cx="2099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but Bihar is an outlier on income,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57360" y="1088640"/>
            <a:ext cx="15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urbanisation, and literacy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88160" y="13485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57360" y="1335600"/>
            <a:ext cx="194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ef4444"/>
                </a:solidFill>
                <a:latin typeface="LMSans10"/>
                <a:ea typeface="LMSans10"/>
              </a:rPr>
              <a:t>RDD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needs a running variable;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57360" y="1518840"/>
            <a:ext cx="2093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the timing discontinuity gives one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57360" y="1702440"/>
            <a:ext cx="2064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but only at the within-Bihar level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88160" y="196200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657360" y="1949040"/>
            <a:ext cx="2064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ef4444"/>
                </a:solidFill>
                <a:latin typeface="LMSans10"/>
                <a:ea typeface="LMSans10"/>
              </a:rPr>
              <a:t>IV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has no obvious instrument for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657360" y="2132640"/>
            <a:ext cx="1037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state-wide policy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88160" y="239220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57360" y="2379240"/>
            <a:ext cx="115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Single treated unit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854000" y="239220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⇒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2055240" y="237924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no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359640" y="3030480"/>
            <a:ext cx="2419920" cy="958320"/>
          </a:xfrm>
          <a:custGeom>
            <a:avLst/>
            <a:gdLst/>
            <a:ahLst/>
            <a:rect l="0" t="0" r="r" b="b"/>
            <a:pathLst>
              <a:path w="6722" h="2662">
                <a:moveTo>
                  <a:pt x="0" y="2486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9"/>
                  <a:pt x="6722" y="176"/>
                </a:cubicBezTo>
                <a:lnTo>
                  <a:pt x="6722" y="2486"/>
                </a:lnTo>
                <a:cubicBezTo>
                  <a:pt x="6722" y="2583"/>
                  <a:pt x="6643" y="2662"/>
                  <a:pt x="6546" y="2662"/>
                </a:cubicBezTo>
                <a:lnTo>
                  <a:pt x="176" y="2662"/>
                </a:lnTo>
                <a:cubicBezTo>
                  <a:pt x="79" y="2662"/>
                  <a:pt x="0" y="2583"/>
                  <a:pt x="0" y="2486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372600" y="3043080"/>
            <a:ext cx="2394000" cy="932760"/>
          </a:xfrm>
          <a:custGeom>
            <a:avLst/>
            <a:gdLst/>
            <a:ahLst/>
            <a:rect l="0" t="0" r="r" b="b"/>
            <a:pathLst>
              <a:path w="6650" h="2591">
                <a:moveTo>
                  <a:pt x="0" y="2451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2451"/>
                </a:lnTo>
                <a:cubicBezTo>
                  <a:pt x="6650" y="2529"/>
                  <a:pt x="6587" y="2591"/>
                  <a:pt x="6510" y="2591"/>
                </a:cubicBezTo>
                <a:lnTo>
                  <a:pt x="140" y="2591"/>
                </a:lnTo>
                <a:cubicBezTo>
                  <a:pt x="63" y="2591"/>
                  <a:pt x="0" y="2529"/>
                  <a:pt x="0" y="2451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52320" y="2562840"/>
            <a:ext cx="1626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within-treatment variation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59360" y="3053520"/>
            <a:ext cx="18493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SCM matches the structure.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2415960" y="3053520"/>
            <a:ext cx="264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One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59360" y="3225600"/>
            <a:ext cx="22669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treated unit, many donors, long pre-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59360" y="3397680"/>
            <a:ext cx="22150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period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— exactly the setting Abadie,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59360" y="3569760"/>
            <a:ext cx="2253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Diamond &amp; Hainmueller (2010) intro-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2980800" y="903240"/>
            <a:ext cx="2419560" cy="1910160"/>
          </a:xfrm>
          <a:custGeom>
            <a:avLst/>
            <a:gdLst/>
            <a:ahLst/>
            <a:rect l="0" t="0" r="r" b="b"/>
            <a:pathLst>
              <a:path w="6721" h="5306">
                <a:moveTo>
                  <a:pt x="0" y="5130"/>
                </a:moveTo>
                <a:lnTo>
                  <a:pt x="0" y="176"/>
                </a:lnTo>
                <a:cubicBezTo>
                  <a:pt x="0" y="78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8"/>
                  <a:pt x="6721" y="176"/>
                </a:cubicBezTo>
                <a:lnTo>
                  <a:pt x="6721" y="5130"/>
                </a:lnTo>
                <a:cubicBezTo>
                  <a:pt x="6721" y="5227"/>
                  <a:pt x="6642" y="5306"/>
                  <a:pt x="6545" y="5306"/>
                </a:cubicBezTo>
                <a:lnTo>
                  <a:pt x="175" y="5306"/>
                </a:lnTo>
                <a:cubicBezTo>
                  <a:pt x="78" y="5306"/>
                  <a:pt x="0" y="5227"/>
                  <a:pt x="0" y="513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2993400" y="915840"/>
            <a:ext cx="2394000" cy="1884960"/>
          </a:xfrm>
          <a:custGeom>
            <a:avLst/>
            <a:gdLst/>
            <a:ahLst/>
            <a:rect l="0" t="0" r="r" b="b"/>
            <a:pathLst>
              <a:path w="6650" h="5236">
                <a:moveTo>
                  <a:pt x="0" y="5095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5095"/>
                </a:lnTo>
                <a:cubicBezTo>
                  <a:pt x="6650" y="5173"/>
                  <a:pt x="6587" y="5236"/>
                  <a:pt x="6510" y="5236"/>
                </a:cubicBezTo>
                <a:lnTo>
                  <a:pt x="140" y="5236"/>
                </a:lnTo>
                <a:cubicBezTo>
                  <a:pt x="63" y="5236"/>
                  <a:pt x="0" y="5173"/>
                  <a:pt x="0" y="5095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59360" y="3741840"/>
            <a:ext cx="1293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duced the method for.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080160" y="926280"/>
            <a:ext cx="2265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Bihar’s pre-period income and urbanisa-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080160" y="1098360"/>
            <a:ext cx="2241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tion lie at the lower edge of the donor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080160" y="1270440"/>
            <a:ext cx="2797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pool.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427920" y="1270440"/>
            <a:ext cx="18738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A naive SCM optimiser collapses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080160" y="1442520"/>
            <a:ext cx="22348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to a</a:t>
            </a:r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 corner solution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(100% weight on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080160" y="1614600"/>
            <a:ext cx="909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Uttar Pradesh).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3080160" y="1851480"/>
            <a:ext cx="2185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Fix: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3492720" y="1851480"/>
            <a:ext cx="413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include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017600" y="1851480"/>
            <a:ext cx="380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lagged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4508640" y="1851480"/>
            <a:ext cx="558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outcomes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178600" y="1851480"/>
            <a:ext cx="141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as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080160" y="2042640"/>
            <a:ext cx="1309680" cy="18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Mono10"/>
                <a:ea typeface="LMMono10"/>
              </a:rPr>
              <a:t>special_predictors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473720" y="2023560"/>
            <a:ext cx="4608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(Abadie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018040" y="2023560"/>
            <a:ext cx="2840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2010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080160" y="2195640"/>
            <a:ext cx="21906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§IV) — this anchors the synthetic to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080160" y="2367720"/>
            <a:ext cx="816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Bihar’s actual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969000" y="2367720"/>
            <a:ext cx="6073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trajectory,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625280" y="2367720"/>
            <a:ext cx="645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not just its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080160" y="2539800"/>
            <a:ext cx="1312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socio-economic profile.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5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08000" y="42120"/>
            <a:ext cx="12139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Data — Panel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378440" y="42120"/>
            <a:ext cx="10659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Construction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354600" y="444600"/>
            <a:ext cx="4867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Annual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895680" y="444600"/>
            <a:ext cx="2361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state panel, 2010–2022, 15 states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3304080" y="45720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f4c81"/>
                </a:solidFill>
                <a:latin typeface="LMMathSymbols10"/>
                <a:ea typeface="LMMathSymbols10"/>
              </a:rPr>
              <a:t>×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3477600" y="444600"/>
            <a:ext cx="1072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13 years = 195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261440" y="799200"/>
            <a:ext cx="2016000" cy="0"/>
          </a:xfrm>
          <a:prstGeom prst="line">
            <a:avLst/>
          </a:prstGeom>
          <a:ln w="756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359640" y="929520"/>
            <a:ext cx="5040000" cy="0"/>
          </a:xfrm>
          <a:prstGeom prst="line">
            <a:avLst/>
          </a:prstGeom>
          <a:ln w="1188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284040" y="979200"/>
            <a:ext cx="1480680" cy="258480"/>
          </a:xfrm>
          <a:custGeom>
            <a:avLst/>
            <a:gdLst/>
            <a:ahLst/>
            <a:rect l="0" t="0" r="r" b="b"/>
            <a:pathLst>
              <a:path w="4113" h="718">
                <a:moveTo>
                  <a:pt x="0" y="718"/>
                </a:moveTo>
                <a:lnTo>
                  <a:pt x="4113" y="718"/>
                </a:lnTo>
                <a:lnTo>
                  <a:pt x="4113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360000" y="627840"/>
            <a:ext cx="9061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observations.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764360" y="979200"/>
            <a:ext cx="2050920" cy="258480"/>
          </a:xfrm>
          <a:custGeom>
            <a:avLst/>
            <a:gdLst/>
            <a:ahLst/>
            <a:rect l="0" t="0" r="r" b="b"/>
            <a:pathLst>
              <a:path w="5697" h="718">
                <a:moveTo>
                  <a:pt x="0" y="718"/>
                </a:moveTo>
                <a:lnTo>
                  <a:pt x="5697" y="718"/>
                </a:lnTo>
                <a:lnTo>
                  <a:pt x="5697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360000" y="939960"/>
            <a:ext cx="4730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Variable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3814920" y="979200"/>
            <a:ext cx="1661040" cy="258480"/>
          </a:xfrm>
          <a:custGeom>
            <a:avLst/>
            <a:gdLst/>
            <a:ahLst/>
            <a:rect l="0" t="0" r="r" b="b"/>
            <a:pathLst>
              <a:path w="4614" h="718">
                <a:moveTo>
                  <a:pt x="0" y="718"/>
                </a:moveTo>
                <a:lnTo>
                  <a:pt x="4614" y="718"/>
                </a:lnTo>
                <a:lnTo>
                  <a:pt x="4614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840320" y="1046160"/>
            <a:ext cx="6544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Description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359640" y="1268280"/>
            <a:ext cx="5040000" cy="0"/>
          </a:xfrm>
          <a:prstGeom prst="line">
            <a:avLst/>
          </a:prstGeom>
          <a:ln w="720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891240" y="939960"/>
            <a:ext cx="390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Source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360000" y="1293480"/>
            <a:ext cx="1328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Mono10"/>
                <a:ea typeface="LMMono10"/>
              </a:rPr>
              <a:t>road_accident_deaths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840320" y="1276200"/>
            <a:ext cx="4150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Persons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2345760" y="1276200"/>
            <a:ext cx="2811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killed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2720160" y="1276200"/>
            <a:ext cx="1285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in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2912760" y="1276200"/>
            <a:ext cx="2383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road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245040" y="1276200"/>
            <a:ext cx="4960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accidents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835280" y="1428120"/>
            <a:ext cx="6181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(state-wise)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3891240" y="1276200"/>
            <a:ext cx="12502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MoRTH PDFs 2010–23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60000" y="1597320"/>
            <a:ext cx="1195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Mono10"/>
                <a:ea typeface="LMMono10"/>
              </a:rPr>
              <a:t>own_tax_revenue_cr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840320" y="1579680"/>
            <a:ext cx="18860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State own-tax revenue (composite,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840320" y="174240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Font Awesome 5 Free Solid"/>
                <a:ea typeface="Font Awesome 5 Free Solid"/>
              </a:rPr>
              <a:t>Ñ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940400" y="1731600"/>
            <a:ext cx="1728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Cr)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3891240" y="1579680"/>
            <a:ext cx="10965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RBI Handbook T168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60000" y="1900800"/>
            <a:ext cx="12610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Mono10"/>
                <a:ea typeface="LMMono10"/>
              </a:rPr>
              <a:t>nsdp_pc_current_inr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840320" y="1883520"/>
            <a:ext cx="1958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Net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114640" y="1883520"/>
            <a:ext cx="2858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State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477880" y="1883520"/>
            <a:ext cx="5036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Domestic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058920" y="1883520"/>
            <a:ext cx="4305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Product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569760" y="1883520"/>
            <a:ext cx="168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per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840320" y="2035440"/>
            <a:ext cx="3193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capita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3891240" y="1883520"/>
            <a:ext cx="1032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RBI Handbook T19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360000" y="2204640"/>
            <a:ext cx="995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Mono10"/>
                <a:ea typeface="LMMono10"/>
              </a:rPr>
              <a:t>nsdp_growth_yoy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840320" y="2187000"/>
            <a:ext cx="19209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YoY % growth of NSDP per capita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835280" y="2338920"/>
            <a:ext cx="4730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(derived)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91240" y="2187000"/>
            <a:ext cx="10843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Computed from T19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360000" y="2508480"/>
            <a:ext cx="995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Mono10"/>
                <a:ea typeface="LMMono10"/>
              </a:rPr>
              <a:t>urban_share_pct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840320" y="2490840"/>
            <a:ext cx="12351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Urban population share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3891240" y="2490840"/>
            <a:ext cx="15123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Census 2011 + linear interp.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360000" y="2660040"/>
            <a:ext cx="1128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Mono10"/>
                <a:ea typeface="LMMono10"/>
              </a:rPr>
              <a:t>literacy_rate_pct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840320" y="2642760"/>
            <a:ext cx="11923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Literacy rate (age 7+)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359640" y="2867040"/>
            <a:ext cx="5040000" cy="0"/>
          </a:xfrm>
          <a:prstGeom prst="line">
            <a:avLst/>
          </a:prstGeom>
          <a:ln w="1188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359640" y="3123360"/>
            <a:ext cx="2923920" cy="474120"/>
          </a:xfrm>
          <a:custGeom>
            <a:avLst/>
            <a:gdLst/>
            <a:ahLst/>
            <a:rect l="0" t="0" r="r" b="b"/>
            <a:pathLst>
              <a:path w="8122" h="1317">
                <a:moveTo>
                  <a:pt x="0" y="1155"/>
                </a:moveTo>
                <a:lnTo>
                  <a:pt x="0" y="162"/>
                </a:lnTo>
                <a:cubicBezTo>
                  <a:pt x="0" y="73"/>
                  <a:pt x="73" y="0"/>
                  <a:pt x="162" y="0"/>
                </a:cubicBezTo>
                <a:lnTo>
                  <a:pt x="7960" y="0"/>
                </a:lnTo>
                <a:cubicBezTo>
                  <a:pt x="8049" y="0"/>
                  <a:pt x="8122" y="73"/>
                  <a:pt x="8122" y="162"/>
                </a:cubicBezTo>
                <a:lnTo>
                  <a:pt x="8122" y="1155"/>
                </a:lnTo>
                <a:cubicBezTo>
                  <a:pt x="8122" y="1245"/>
                  <a:pt x="8049" y="1317"/>
                  <a:pt x="7960" y="1317"/>
                </a:cubicBezTo>
                <a:lnTo>
                  <a:pt x="162" y="1317"/>
                </a:lnTo>
                <a:cubicBezTo>
                  <a:pt x="73" y="1317"/>
                  <a:pt x="0" y="1245"/>
                  <a:pt x="0" y="1155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367560" y="3130920"/>
            <a:ext cx="2908440" cy="459000"/>
          </a:xfrm>
          <a:custGeom>
            <a:avLst/>
            <a:gdLst/>
            <a:ahLst/>
            <a:rect l="0" t="0" r="r" b="b"/>
            <a:pathLst>
              <a:path w="8079" h="1275">
                <a:moveTo>
                  <a:pt x="0" y="1135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7938" y="0"/>
                </a:lnTo>
                <a:cubicBezTo>
                  <a:pt x="8016" y="0"/>
                  <a:pt x="8079" y="63"/>
                  <a:pt x="8079" y="141"/>
                </a:cubicBezTo>
                <a:lnTo>
                  <a:pt x="8079" y="1135"/>
                </a:lnTo>
                <a:cubicBezTo>
                  <a:pt x="8079" y="1212"/>
                  <a:pt x="8016" y="1275"/>
                  <a:pt x="7938" y="1275"/>
                </a:cubicBezTo>
                <a:lnTo>
                  <a:pt x="140" y="1275"/>
                </a:lnTo>
                <a:cubicBezTo>
                  <a:pt x="63" y="1275"/>
                  <a:pt x="0" y="1212"/>
                  <a:pt x="0" y="1135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3891240" y="2642760"/>
            <a:ext cx="15123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Census 2011 + linear interp.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450360" y="3158640"/>
            <a:ext cx="9136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Telangana excluded.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414080" y="3158640"/>
            <a:ext cx="1623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Bifurcated from Andhra in June 2014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081600" y="31672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54320" y="3278880"/>
            <a:ext cx="2693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only 2 pre-treatment observations and a degenerate Pearson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54320" y="339912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99120" y="34077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3384000" y="3123360"/>
            <a:ext cx="2016360" cy="603000"/>
          </a:xfrm>
          <a:custGeom>
            <a:avLst/>
            <a:gdLst/>
            <a:ahLst/>
            <a:rect l="0" t="0" r="r" b="b"/>
            <a:pathLst>
              <a:path w="5601" h="1675">
                <a:moveTo>
                  <a:pt x="0" y="1513"/>
                </a:moveTo>
                <a:lnTo>
                  <a:pt x="0" y="162"/>
                </a:lnTo>
                <a:cubicBezTo>
                  <a:pt x="0" y="73"/>
                  <a:pt x="72" y="0"/>
                  <a:pt x="161" y="0"/>
                </a:cubicBezTo>
                <a:lnTo>
                  <a:pt x="5439" y="0"/>
                </a:lnTo>
                <a:cubicBezTo>
                  <a:pt x="5528" y="0"/>
                  <a:pt x="5601" y="73"/>
                  <a:pt x="5601" y="162"/>
                </a:cubicBezTo>
                <a:lnTo>
                  <a:pt x="5601" y="1513"/>
                </a:lnTo>
                <a:cubicBezTo>
                  <a:pt x="5601" y="1602"/>
                  <a:pt x="5528" y="1675"/>
                  <a:pt x="5439" y="1675"/>
                </a:cubicBezTo>
                <a:lnTo>
                  <a:pt x="161" y="1675"/>
                </a:lnTo>
                <a:cubicBezTo>
                  <a:pt x="72" y="1675"/>
                  <a:pt x="0" y="1602"/>
                  <a:pt x="0" y="1513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3391560" y="3130920"/>
            <a:ext cx="2000880" cy="587880"/>
          </a:xfrm>
          <a:custGeom>
            <a:avLst/>
            <a:gdLst/>
            <a:ahLst/>
            <a:rect l="0" t="0" r="r" b="b"/>
            <a:pathLst>
              <a:path w="5558" h="1633">
                <a:moveTo>
                  <a:pt x="0" y="1492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18" y="0"/>
                </a:lnTo>
                <a:cubicBezTo>
                  <a:pt x="5496" y="0"/>
                  <a:pt x="5558" y="63"/>
                  <a:pt x="5558" y="141"/>
                </a:cubicBezTo>
                <a:lnTo>
                  <a:pt x="5558" y="1492"/>
                </a:lnTo>
                <a:cubicBezTo>
                  <a:pt x="5558" y="1570"/>
                  <a:pt x="5496" y="1633"/>
                  <a:pt x="5418" y="1633"/>
                </a:cubicBezTo>
                <a:lnTo>
                  <a:pt x="140" y="1633"/>
                </a:lnTo>
                <a:cubicBezTo>
                  <a:pt x="63" y="1633"/>
                  <a:pt x="0" y="1570"/>
                  <a:pt x="0" y="1492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29000" y="3399120"/>
            <a:ext cx="1398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0 with Bihar over that window.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474720" y="3158640"/>
            <a:ext cx="8146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Acquisition stack.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338720" y="3158640"/>
            <a:ext cx="969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MoRTH via Wayback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3478320" y="3278880"/>
            <a:ext cx="217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CDX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3729960" y="32875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873240" y="32788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camelot.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4303080" y="3278880"/>
            <a:ext cx="991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RBI behind F5 BIG-IP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474720" y="3399120"/>
            <a:ext cx="816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TSPD cookie wall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54560" y="3399120"/>
            <a:ext cx="959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— 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two-step warmup.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478320" y="3519360"/>
            <a:ext cx="154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See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669480" y="3533400"/>
            <a:ext cx="13356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data/raw/bihar/SOURCES.md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5013720" y="351936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6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360000" y="516240"/>
            <a:ext cx="2922840" cy="1441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 txBox="1"/>
          <p:nvPr/>
        </p:nvSpPr>
        <p:spPr>
          <a:xfrm>
            <a:off x="108000" y="42120"/>
            <a:ext cx="33930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Pre-Treatment EDA — Donor Selection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378600" y="446400"/>
            <a:ext cx="15462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Top correlated donors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377520" y="630000"/>
            <a:ext cx="7887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(pre-2016):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520440" y="8668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678120" y="855360"/>
            <a:ext cx="14788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Jharkhand, Odisha, Uttar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681360" y="1027440"/>
            <a:ext cx="15537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Pradesh, Madhya Pradesh,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674880" y="1199520"/>
            <a:ext cx="736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West Bengal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520440" y="14338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3681360" y="1422000"/>
            <a:ext cx="14637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Geographic neighbours &amp;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681360" y="1594080"/>
            <a:ext cx="15156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similar income trajectories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520440" y="18288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3681360" y="1816920"/>
            <a:ext cx="1722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Pre-period Pearson correlation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3681360" y="20008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&gt;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3827520" y="1989000"/>
            <a:ext cx="138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0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897000" y="20008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3384000" y="2405520"/>
            <a:ext cx="2016360" cy="844560"/>
          </a:xfrm>
          <a:custGeom>
            <a:avLst/>
            <a:gdLst/>
            <a:ahLst/>
            <a:rect l="0" t="0" r="r" b="b"/>
            <a:pathLst>
              <a:path w="5601" h="2346">
                <a:moveTo>
                  <a:pt x="0" y="2171"/>
                </a:moveTo>
                <a:lnTo>
                  <a:pt x="0" y="175"/>
                </a:lnTo>
                <a:cubicBezTo>
                  <a:pt x="0" y="78"/>
                  <a:pt x="78" y="0"/>
                  <a:pt x="175" y="0"/>
                </a:cubicBezTo>
                <a:lnTo>
                  <a:pt x="5425" y="0"/>
                </a:lnTo>
                <a:cubicBezTo>
                  <a:pt x="5522" y="0"/>
                  <a:pt x="5601" y="78"/>
                  <a:pt x="5601" y="175"/>
                </a:cubicBezTo>
                <a:lnTo>
                  <a:pt x="5601" y="2171"/>
                </a:lnTo>
                <a:cubicBezTo>
                  <a:pt x="5601" y="2268"/>
                  <a:pt x="5522" y="2346"/>
                  <a:pt x="5425" y="2346"/>
                </a:cubicBezTo>
                <a:lnTo>
                  <a:pt x="175" y="2346"/>
                </a:lnTo>
                <a:cubicBezTo>
                  <a:pt x="78" y="2346"/>
                  <a:pt x="0" y="2268"/>
                  <a:pt x="0" y="2171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3396600" y="2418120"/>
            <a:ext cx="1990800" cy="819360"/>
          </a:xfrm>
          <a:custGeom>
            <a:avLst/>
            <a:gdLst/>
            <a:ahLst/>
            <a:rect l="0" t="0" r="r" b="b"/>
            <a:pathLst>
              <a:path w="5530" h="2276">
                <a:moveTo>
                  <a:pt x="0" y="2136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5390" y="0"/>
                </a:lnTo>
                <a:cubicBezTo>
                  <a:pt x="5467" y="0"/>
                  <a:pt x="5530" y="63"/>
                  <a:pt x="5530" y="140"/>
                </a:cubicBezTo>
                <a:lnTo>
                  <a:pt x="5530" y="2136"/>
                </a:lnTo>
                <a:cubicBezTo>
                  <a:pt x="5530" y="2213"/>
                  <a:pt x="5467" y="2276"/>
                  <a:pt x="5390" y="2276"/>
                </a:cubicBezTo>
                <a:lnTo>
                  <a:pt x="140" y="2276"/>
                </a:lnTo>
                <a:cubicBezTo>
                  <a:pt x="63" y="2276"/>
                  <a:pt x="0" y="2213"/>
                  <a:pt x="0" y="2136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3935520" y="1989000"/>
            <a:ext cx="627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9 for top 3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477960" y="2445480"/>
            <a:ext cx="8467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Why this matters.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395960" y="2445480"/>
            <a:ext cx="698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 donor pool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5149440" y="2445480"/>
            <a:ext cx="150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has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483360" y="2565720"/>
            <a:ext cx="68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to span Bihar’s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4287600" y="2565720"/>
            <a:ext cx="954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pre-trend in outcome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3483360" y="2685960"/>
            <a:ext cx="276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space.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831840" y="2685960"/>
            <a:ext cx="1433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Picking states by correlation 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3483360" y="2806200"/>
            <a:ext cx="1794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outcome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(rather than just covariates)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3483360" y="2926440"/>
            <a:ext cx="181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gives a fit more robust to predictor mis-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483360" y="3046680"/>
            <a:ext cx="619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measurement.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7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108000" y="42120"/>
            <a:ext cx="24620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Method — Synthetic Control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54960" y="426600"/>
            <a:ext cx="854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Treated unit</a:t>
            </a:r>
            <a:r>
              <a:rPr b="0" i="1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i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248480" y="426600"/>
            <a:ext cx="1616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= 1 (Bihar) and</a:t>
            </a:r>
            <a:r>
              <a:rPr b="0" i="1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J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donors.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2922120" y="426600"/>
            <a:ext cx="1484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Choose weights</a:t>
            </a:r>
            <a:r>
              <a:rPr b="1" lang="en-US" sz="1200" spc="-1" strike="noStrike">
                <a:solidFill>
                  <a:srgbClr val="0a3a66"/>
                </a:solidFill>
                <a:latin typeface="LMSans10"/>
                <a:ea typeface="LMSans10"/>
              </a:rPr>
              <a:t> w</a:t>
            </a:r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 = (</a:t>
            </a:r>
            <a:r>
              <a:rPr b="0" i="1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381200" y="507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441320" y="439560"/>
            <a:ext cx="3542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a3a66"/>
                </a:solidFill>
                <a:latin typeface="LMMathItalic12"/>
                <a:ea typeface="LMMathItalic12"/>
              </a:rPr>
              <a:t>, . . . 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774320" y="426600"/>
            <a:ext cx="149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874040" y="507600"/>
            <a:ext cx="186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J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+1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077440" y="426600"/>
            <a:ext cx="149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134320" y="438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⊤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5273640" y="426600"/>
            <a:ext cx="149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to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359640" y="967680"/>
            <a:ext cx="5040720" cy="477360"/>
          </a:xfrm>
          <a:custGeom>
            <a:avLst/>
            <a:gdLst/>
            <a:ahLst/>
            <a:rect l="0" t="0" r="r" b="b"/>
            <a:pathLst>
              <a:path w="14002" h="1326">
                <a:moveTo>
                  <a:pt x="0" y="1150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9"/>
                  <a:pt x="14002" y="176"/>
                </a:cubicBezTo>
                <a:lnTo>
                  <a:pt x="14002" y="1150"/>
                </a:lnTo>
                <a:cubicBezTo>
                  <a:pt x="14002" y="1247"/>
                  <a:pt x="13923" y="1326"/>
                  <a:pt x="13826" y="1326"/>
                </a:cubicBezTo>
                <a:lnTo>
                  <a:pt x="176" y="1326"/>
                </a:lnTo>
                <a:cubicBezTo>
                  <a:pt x="79" y="1326"/>
                  <a:pt x="0" y="1247"/>
                  <a:pt x="0" y="115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372600" y="980280"/>
            <a:ext cx="5015160" cy="452160"/>
          </a:xfrm>
          <a:custGeom>
            <a:avLst/>
            <a:gdLst/>
            <a:ahLst/>
            <a:rect l="0" t="0" r="r" b="b"/>
            <a:pathLst>
              <a:path w="13931" h="1256">
                <a:moveTo>
                  <a:pt x="0" y="1115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1"/>
                </a:cubicBezTo>
                <a:lnTo>
                  <a:pt x="13931" y="1115"/>
                </a:lnTo>
                <a:cubicBezTo>
                  <a:pt x="13931" y="1193"/>
                  <a:pt x="13868" y="1256"/>
                  <a:pt x="13790" y="1256"/>
                </a:cubicBezTo>
                <a:lnTo>
                  <a:pt x="140" y="1256"/>
                </a:lnTo>
                <a:cubicBezTo>
                  <a:pt x="63" y="1256"/>
                  <a:pt x="0" y="1193"/>
                  <a:pt x="0" y="1115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60000" y="609840"/>
            <a:ext cx="3438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solve: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79480" y="1069200"/>
            <a:ext cx="1515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992880" y="10735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137600" y="1069200"/>
            <a:ext cx="642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= arg min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556640" y="1217880"/>
            <a:ext cx="1008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632240" y="1226520"/>
            <a:ext cx="172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∈</a:t>
            </a:r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W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1861200" y="95724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861200" y="103320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861200" y="110916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931400" y="10692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X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2029680" y="11502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123640" y="1082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−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275560" y="10692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X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2373840" y="11502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459160" y="1069200"/>
            <a:ext cx="1515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572560" y="95724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2572560" y="103320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2572560" y="110916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642760" y="1209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V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2762280" y="1082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Italic12"/>
                <a:ea typeface="LMMathItalic12"/>
              </a:rPr>
              <a:t>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977560" y="1082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182040" y="10692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=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340080" y="92448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MathExtension10"/>
                <a:ea typeface="LMMathExtension10"/>
              </a:rPr>
              <a:t>_x001a_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434760" y="1069200"/>
            <a:ext cx="303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 :</a:t>
            </a:r>
            <a:r>
              <a:rPr b="0" i="1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724200" y="11502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j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3809880" y="1082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≥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3970080" y="10692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4044240" y="1082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Italic12"/>
                <a:ea typeface="LMMathItalic12"/>
              </a:rPr>
              <a:t>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152960" y="98244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MathExtension10"/>
                <a:ea typeface="LMMathExtension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4361040" y="10692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w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462200" y="11502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j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547520" y="1069200"/>
            <a:ext cx="240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= 1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779720" y="92448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MathExtension10"/>
                <a:ea typeface="LMMathExtension10"/>
              </a:rPr>
              <a:t>_x001b_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360000" y="1541160"/>
            <a:ext cx="123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442800" y="1604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1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496080" y="1541160"/>
            <a:ext cx="123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86440" y="1541160"/>
            <a:ext cx="1559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predictor vector for treated;</a:t>
            </a:r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139840" y="1604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0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2193120" y="1541160"/>
            <a:ext cx="123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2283480" y="1541160"/>
            <a:ext cx="123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K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2411280" y="15519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×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2536560" y="1541160"/>
            <a:ext cx="9957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J</a:t>
            </a:r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donor matrix;</a:t>
            </a:r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V</a:t>
            </a:r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3582000" y="1541160"/>
            <a:ext cx="18234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predictor-importance weight matrix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354960" y="169308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(Abadie–Diamond–Hainmueller estimate</a:t>
            </a:r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V</a:t>
            </a:r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to minimise pre-period MSPE).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55320" y="1971000"/>
            <a:ext cx="216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Two consequences of the convex-hull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2552040" y="1971000"/>
            <a:ext cx="6134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constraint: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96440" y="21916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657360" y="2179800"/>
            <a:ext cx="4766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Synthetic Bihar cannot extrapolate beyond the donor envelope — good for honest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57360" y="2351880"/>
            <a:ext cx="878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counterfactuals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96440" y="26118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57360" y="2599920"/>
            <a:ext cx="34754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If Bihar lies near a corner, weights collapse to a single donor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4162680" y="26118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⇒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347360" y="2599920"/>
            <a:ext cx="10447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poor pre-period fit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359640" y="3193560"/>
            <a:ext cx="5040720" cy="395280"/>
          </a:xfrm>
          <a:custGeom>
            <a:avLst/>
            <a:gdLst/>
            <a:ahLst/>
            <a:rect l="0" t="0" r="r" b="b"/>
            <a:pathLst>
              <a:path w="14002" h="1098">
                <a:moveTo>
                  <a:pt x="0" y="922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9"/>
                  <a:pt x="14002" y="176"/>
                </a:cubicBezTo>
                <a:lnTo>
                  <a:pt x="14002" y="922"/>
                </a:lnTo>
                <a:cubicBezTo>
                  <a:pt x="14002" y="1019"/>
                  <a:pt x="13923" y="1098"/>
                  <a:pt x="13826" y="1098"/>
                </a:cubicBezTo>
                <a:lnTo>
                  <a:pt x="176" y="1098"/>
                </a:lnTo>
                <a:cubicBezTo>
                  <a:pt x="79" y="1098"/>
                  <a:pt x="0" y="1019"/>
                  <a:pt x="0" y="922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372600" y="3206520"/>
            <a:ext cx="5015160" cy="369360"/>
          </a:xfrm>
          <a:custGeom>
            <a:avLst/>
            <a:gdLst/>
            <a:ahLst/>
            <a:rect l="0" t="0" r="r" b="b"/>
            <a:pathLst>
              <a:path w="13931" h="1026">
                <a:moveTo>
                  <a:pt x="0" y="886"/>
                </a:moveTo>
                <a:lnTo>
                  <a:pt x="0" y="140"/>
                </a:lnTo>
                <a:cubicBezTo>
                  <a:pt x="0" y="62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2"/>
                  <a:pt x="13931" y="140"/>
                </a:cubicBezTo>
                <a:lnTo>
                  <a:pt x="13931" y="886"/>
                </a:lnTo>
                <a:cubicBezTo>
                  <a:pt x="13931" y="964"/>
                  <a:pt x="13868" y="1026"/>
                  <a:pt x="13790" y="1026"/>
                </a:cubicBezTo>
                <a:lnTo>
                  <a:pt x="140" y="1026"/>
                </a:lnTo>
                <a:cubicBezTo>
                  <a:pt x="63" y="1026"/>
                  <a:pt x="0" y="964"/>
                  <a:pt x="0" y="886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30360" y="2772000"/>
            <a:ext cx="15703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+ spurious post-period gap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459360" y="3239640"/>
            <a:ext cx="4381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Inference.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952200" y="3239640"/>
            <a:ext cx="1677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In-space placebo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(Abadie et al. 2010):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2708640" y="3239640"/>
            <a:ext cx="2218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refit SCM treating each donor as if it were treated.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004360" y="3239640"/>
            <a:ext cx="291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Report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459360" y="3359880"/>
            <a:ext cx="4815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Bihar’s post/pre RMSPE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ratio rank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relative to the placebo distribution; permutation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p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-value = rank / 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J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+ 1).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8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108000" y="42120"/>
            <a:ext cx="14133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The Convex Hull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3" name="" descr=""/>
          <p:cNvPicPr/>
          <p:nvPr/>
        </p:nvPicPr>
        <p:blipFill>
          <a:blip r:embed="rId1"/>
          <a:stretch/>
        </p:blipFill>
        <p:spPr>
          <a:xfrm>
            <a:off x="360000" y="534240"/>
            <a:ext cx="2519640" cy="1992600"/>
          </a:xfrm>
          <a:prstGeom prst="rect">
            <a:avLst/>
          </a:prstGeom>
          <a:ln w="0">
            <a:noFill/>
          </a:ln>
        </p:spPr>
      </p:pic>
      <p:sp>
        <p:nvSpPr>
          <p:cNvPr id="424" name=""/>
          <p:cNvSpPr txBox="1"/>
          <p:nvPr/>
        </p:nvSpPr>
        <p:spPr>
          <a:xfrm>
            <a:off x="1583280" y="42120"/>
            <a:ext cx="19695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Problem — And Its Fix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360360" y="2555640"/>
            <a:ext cx="1899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Bihar lies persistently</a:t>
            </a:r>
            <a:r>
              <a:rPr b="0" i="1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 below</a:t>
            </a:r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 the donor-pool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2316240" y="2555640"/>
            <a:ext cx="558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average level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077480" y="2675880"/>
            <a:ext cx="1098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on road-accident deaths.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3073680" y="464400"/>
            <a:ext cx="1123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Without the fix.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3218040" y="7016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3378960" y="689760"/>
            <a:ext cx="1476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Match on socio-economic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378960" y="861840"/>
            <a:ext cx="8510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predictors only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3218040" y="10836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3378960" y="1072080"/>
            <a:ext cx="19058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Optimiser finds 100% UP weight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3373560" y="1243800"/>
            <a:ext cx="1125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(closest by income)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218040" y="146592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3378960" y="1454040"/>
            <a:ext cx="1104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Pre-period RMSPE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4536000" y="146592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ef4444"/>
                </a:solidFill>
                <a:latin typeface="LMMathSymbols10"/>
                <a:ea typeface="LMMathSymbols10"/>
              </a:rPr>
              <a:t>∼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643640" y="1454040"/>
            <a:ext cx="348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1,300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3378960" y="1626120"/>
            <a:ext cx="8420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deaths</a:t>
            </a:r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 (huge)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3218040" y="18478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378960" y="1836000"/>
            <a:ext cx="1832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Post-period gap meaningless —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378960" y="2008080"/>
            <a:ext cx="1398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pre-trend doesn’t match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3073680" y="2304360"/>
            <a:ext cx="2236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With lagged-outcome anchoring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3075120" y="2487600"/>
            <a:ext cx="1352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(Abadie 2010 §IV).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3218040" y="27248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3374280" y="2712960"/>
            <a:ext cx="1764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Add each pre-treatment year’s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378960" y="2885040"/>
            <a:ext cx="7718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outcome as a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3378960" y="3076200"/>
            <a:ext cx="1238040" cy="184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Mono10"/>
                <a:ea typeface="LMMono10"/>
              </a:rPr>
              <a:t>special_predictor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218040" y="32792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3378960" y="3267360"/>
            <a:ext cx="1888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Forces synthetic to track Bihar’s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3378960" y="3439440"/>
            <a:ext cx="3495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actual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3774600" y="3439440"/>
            <a:ext cx="555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trajectory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3218040" y="36612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3378960" y="3649320"/>
            <a:ext cx="1832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Pre-period RMSPE drops to</a:t>
            </a:r>
            <a:r>
              <a:rPr b="1" lang="en-US" sz="1090" spc="-1" strike="noStrike">
                <a:solidFill>
                  <a:srgbClr val="1b9e4b"/>
                </a:solidFill>
                <a:latin typeface="LMSans10"/>
                <a:ea typeface="LMSans10"/>
              </a:rPr>
              <a:t> 42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3378960" y="3821400"/>
            <a:ext cx="512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1b9e4b"/>
                </a:solidFill>
                <a:latin typeface="LMSans10"/>
                <a:ea typeface="LMSans10"/>
              </a:rPr>
              <a:t>deaths</a:t>
            </a:r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 (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3892680" y="38332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&lt;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4023360" y="3821400"/>
            <a:ext cx="13874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1% of Bihar’s mean) —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3378960" y="3993480"/>
            <a:ext cx="668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excellent fit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9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62" name="" descr=""/>
          <p:cNvPicPr/>
          <p:nvPr/>
        </p:nvPicPr>
        <p:blipFill>
          <a:blip r:embed="rId1"/>
          <a:stretch/>
        </p:blipFill>
        <p:spPr>
          <a:xfrm>
            <a:off x="914400" y="412920"/>
            <a:ext cx="3930840" cy="1760400"/>
          </a:xfrm>
          <a:prstGeom prst="rect">
            <a:avLst/>
          </a:prstGeom>
          <a:ln w="0">
            <a:noFill/>
          </a:ln>
        </p:spPr>
      </p:pic>
      <p:sp>
        <p:nvSpPr>
          <p:cNvPr id="463" name=""/>
          <p:cNvSpPr/>
          <p:nvPr/>
        </p:nvSpPr>
        <p:spPr>
          <a:xfrm>
            <a:off x="359640" y="2502720"/>
            <a:ext cx="1613520" cy="470880"/>
          </a:xfrm>
          <a:custGeom>
            <a:avLst/>
            <a:gdLst/>
            <a:ahLst/>
            <a:rect l="0" t="0" r="r" b="b"/>
            <a:pathLst>
              <a:path w="4482" h="1308">
                <a:moveTo>
                  <a:pt x="0" y="1097"/>
                </a:moveTo>
                <a:lnTo>
                  <a:pt x="0" y="210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0"/>
                </a:cubicBezTo>
                <a:lnTo>
                  <a:pt x="4482" y="1097"/>
                </a:lnTo>
                <a:cubicBezTo>
                  <a:pt x="4482" y="1213"/>
                  <a:pt x="4387" y="1308"/>
                  <a:pt x="4271" y="1308"/>
                </a:cubicBezTo>
                <a:lnTo>
                  <a:pt x="211" y="1308"/>
                </a:lnTo>
                <a:cubicBezTo>
                  <a:pt x="95" y="1308"/>
                  <a:pt x="0" y="1213"/>
                  <a:pt x="0" y="1097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359640" y="2502720"/>
            <a:ext cx="1613520" cy="470880"/>
          </a:xfrm>
          <a:custGeom>
            <a:avLst/>
            <a:gdLst/>
            <a:ahLst/>
            <a:rect l="0" t="0" r="r" b="b"/>
            <a:pathLst>
              <a:path w="4482" h="1308">
                <a:moveTo>
                  <a:pt x="0" y="1097"/>
                </a:moveTo>
                <a:lnTo>
                  <a:pt x="0" y="210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0"/>
                </a:cubicBezTo>
                <a:lnTo>
                  <a:pt x="4482" y="1097"/>
                </a:lnTo>
                <a:cubicBezTo>
                  <a:pt x="4482" y="1213"/>
                  <a:pt x="4387" y="1308"/>
                  <a:pt x="4271" y="1308"/>
                </a:cubicBezTo>
                <a:lnTo>
                  <a:pt x="211" y="1308"/>
                </a:lnTo>
                <a:cubicBezTo>
                  <a:pt x="95" y="1308"/>
                  <a:pt x="0" y="1213"/>
                  <a:pt x="0" y="1097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08000" y="42120"/>
            <a:ext cx="42159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Result — Bihar vs Synthetic Bihar (Road Deaths)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852120" y="2518200"/>
            <a:ext cx="46548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4a261"/>
                </a:solidFill>
                <a:latin typeface="LMSans10"/>
                <a:ea typeface="LMSans10"/>
              </a:rPr>
              <a:t>22.87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317600" y="2533680"/>
            <a:ext cx="1818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i="1" lang="en-US" sz="143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×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2073240" y="2502720"/>
            <a:ext cx="1613520" cy="598680"/>
          </a:xfrm>
          <a:custGeom>
            <a:avLst/>
            <a:gdLst/>
            <a:ahLst/>
            <a:rect l="0" t="0" r="r" b="b"/>
            <a:pathLst>
              <a:path w="4482" h="1663">
                <a:moveTo>
                  <a:pt x="0" y="1452"/>
                </a:moveTo>
                <a:lnTo>
                  <a:pt x="0" y="211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1"/>
                </a:cubicBezTo>
                <a:lnTo>
                  <a:pt x="4482" y="1452"/>
                </a:lnTo>
                <a:cubicBezTo>
                  <a:pt x="4482" y="1568"/>
                  <a:pt x="4387" y="1663"/>
                  <a:pt x="4271" y="1663"/>
                </a:cubicBezTo>
                <a:lnTo>
                  <a:pt x="211" y="1663"/>
                </a:lnTo>
                <a:cubicBezTo>
                  <a:pt x="95" y="1663"/>
                  <a:pt x="0" y="1568"/>
                  <a:pt x="0" y="1452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2073240" y="2502720"/>
            <a:ext cx="1613520" cy="598680"/>
          </a:xfrm>
          <a:custGeom>
            <a:avLst/>
            <a:gdLst/>
            <a:ahLst/>
            <a:rect l="0" t="0" r="r" b="b"/>
            <a:pathLst>
              <a:path w="4482" h="1663">
                <a:moveTo>
                  <a:pt x="0" y="1452"/>
                </a:moveTo>
                <a:lnTo>
                  <a:pt x="0" y="211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1"/>
                </a:cubicBezTo>
                <a:lnTo>
                  <a:pt x="4482" y="1452"/>
                </a:lnTo>
                <a:cubicBezTo>
                  <a:pt x="4482" y="1568"/>
                  <a:pt x="4387" y="1663"/>
                  <a:pt x="4271" y="1663"/>
                </a:cubicBezTo>
                <a:lnTo>
                  <a:pt x="211" y="1663"/>
                </a:lnTo>
                <a:cubicBezTo>
                  <a:pt x="95" y="1663"/>
                  <a:pt x="0" y="1568"/>
                  <a:pt x="0" y="145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77800" y="2732040"/>
            <a:ext cx="11498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RMSPE ratio (post/pre)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447640" y="2526120"/>
            <a:ext cx="8665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4a261"/>
                </a:solidFill>
                <a:latin typeface="LMSans10"/>
                <a:ea typeface="LMSans10"/>
              </a:rPr>
              <a:t>+360 / yr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2418120" y="2739600"/>
            <a:ext cx="898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avg post-treatment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3786840" y="2502720"/>
            <a:ext cx="1613520" cy="470880"/>
          </a:xfrm>
          <a:custGeom>
            <a:avLst/>
            <a:gdLst/>
            <a:ahLst/>
            <a:rect l="0" t="0" r="r" b="b"/>
            <a:pathLst>
              <a:path w="4482" h="1308">
                <a:moveTo>
                  <a:pt x="0" y="1097"/>
                </a:moveTo>
                <a:lnTo>
                  <a:pt x="0" y="210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0"/>
                </a:cubicBezTo>
                <a:lnTo>
                  <a:pt x="4482" y="1097"/>
                </a:lnTo>
                <a:cubicBezTo>
                  <a:pt x="4482" y="1213"/>
                  <a:pt x="4387" y="1308"/>
                  <a:pt x="4271" y="1308"/>
                </a:cubicBezTo>
                <a:lnTo>
                  <a:pt x="211" y="1308"/>
                </a:lnTo>
                <a:cubicBezTo>
                  <a:pt x="95" y="1308"/>
                  <a:pt x="0" y="1213"/>
                  <a:pt x="0" y="1097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3786840" y="2502720"/>
            <a:ext cx="1613520" cy="470880"/>
          </a:xfrm>
          <a:custGeom>
            <a:avLst/>
            <a:gdLst/>
            <a:ahLst/>
            <a:rect l="0" t="0" r="r" b="b"/>
            <a:pathLst>
              <a:path w="4482" h="1308">
                <a:moveTo>
                  <a:pt x="0" y="1097"/>
                </a:moveTo>
                <a:lnTo>
                  <a:pt x="0" y="210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0"/>
                </a:cubicBezTo>
                <a:lnTo>
                  <a:pt x="4482" y="1097"/>
                </a:lnTo>
                <a:cubicBezTo>
                  <a:pt x="4482" y="1213"/>
                  <a:pt x="4387" y="1308"/>
                  <a:pt x="4271" y="1308"/>
                </a:cubicBezTo>
                <a:lnTo>
                  <a:pt x="211" y="1308"/>
                </a:lnTo>
                <a:cubicBezTo>
                  <a:pt x="95" y="1308"/>
                  <a:pt x="0" y="1213"/>
                  <a:pt x="0" y="1097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576880" y="2859840"/>
            <a:ext cx="5965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gap (deaths)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4190760" y="2518200"/>
            <a:ext cx="1854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4a261"/>
                </a:solidFill>
                <a:latin typeface="LMSans10"/>
                <a:ea typeface="LMSans10"/>
              </a:rPr>
              <a:t>p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4344480" y="2533680"/>
            <a:ext cx="1818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43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≈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4535640" y="2518200"/>
            <a:ext cx="46548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4a261"/>
                </a:solidFill>
                <a:latin typeface="LMSans10"/>
                <a:ea typeface="LMSans10"/>
              </a:rPr>
              <a:t>0.071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974760" y="2732040"/>
            <a:ext cx="5997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permutation,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634280" y="2732040"/>
            <a:ext cx="5403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rank 2 / 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10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84" name="" descr=""/>
          <p:cNvPicPr/>
          <p:nvPr/>
        </p:nvPicPr>
        <p:blipFill>
          <a:blip r:embed="rId1"/>
          <a:stretch/>
        </p:blipFill>
        <p:spPr>
          <a:xfrm>
            <a:off x="360000" y="579960"/>
            <a:ext cx="2771640" cy="986040"/>
          </a:xfrm>
          <a:prstGeom prst="rect">
            <a:avLst/>
          </a:prstGeom>
          <a:ln w="0">
            <a:noFill/>
          </a:ln>
        </p:spPr>
      </p:pic>
      <p:sp>
        <p:nvSpPr>
          <p:cNvPr id="485" name=""/>
          <p:cNvSpPr txBox="1"/>
          <p:nvPr/>
        </p:nvSpPr>
        <p:spPr>
          <a:xfrm>
            <a:off x="108000" y="42120"/>
            <a:ext cx="28994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Treatment Effect — Year by Year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3283200" y="831960"/>
            <a:ext cx="2117160" cy="508320"/>
          </a:xfrm>
          <a:custGeom>
            <a:avLst/>
            <a:gdLst/>
            <a:ahLst/>
            <a:rect l="0" t="0" r="r" b="b"/>
            <a:pathLst>
              <a:path w="5881" h="1412">
                <a:moveTo>
                  <a:pt x="0" y="1236"/>
                </a:moveTo>
                <a:lnTo>
                  <a:pt x="0" y="176"/>
                </a:lnTo>
                <a:cubicBezTo>
                  <a:pt x="0" y="79"/>
                  <a:pt x="78" y="0"/>
                  <a:pt x="175" y="0"/>
                </a:cubicBezTo>
                <a:lnTo>
                  <a:pt x="5705" y="0"/>
                </a:lnTo>
                <a:cubicBezTo>
                  <a:pt x="5802" y="0"/>
                  <a:pt x="5881" y="79"/>
                  <a:pt x="5881" y="176"/>
                </a:cubicBezTo>
                <a:lnTo>
                  <a:pt x="5881" y="1236"/>
                </a:lnTo>
                <a:cubicBezTo>
                  <a:pt x="5881" y="1333"/>
                  <a:pt x="5802" y="1412"/>
                  <a:pt x="5705" y="1412"/>
                </a:cubicBezTo>
                <a:lnTo>
                  <a:pt x="175" y="1412"/>
                </a:lnTo>
                <a:cubicBezTo>
                  <a:pt x="78" y="1412"/>
                  <a:pt x="0" y="1333"/>
                  <a:pt x="0" y="1236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3295800" y="844560"/>
            <a:ext cx="2091600" cy="483120"/>
          </a:xfrm>
          <a:custGeom>
            <a:avLst/>
            <a:gdLst/>
            <a:ahLst/>
            <a:rect l="0" t="0" r="r" b="b"/>
            <a:pathLst>
              <a:path w="5810" h="1342">
                <a:moveTo>
                  <a:pt x="0" y="1201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670" y="0"/>
                </a:lnTo>
                <a:cubicBezTo>
                  <a:pt x="5747" y="0"/>
                  <a:pt x="5810" y="63"/>
                  <a:pt x="5810" y="141"/>
                </a:cubicBezTo>
                <a:lnTo>
                  <a:pt x="5810" y="1201"/>
                </a:lnTo>
                <a:cubicBezTo>
                  <a:pt x="5810" y="1279"/>
                  <a:pt x="5747" y="1342"/>
                  <a:pt x="5670" y="1342"/>
                </a:cubicBezTo>
                <a:lnTo>
                  <a:pt x="140" y="1342"/>
                </a:lnTo>
                <a:cubicBezTo>
                  <a:pt x="63" y="1342"/>
                  <a:pt x="0" y="1279"/>
                  <a:pt x="0" y="1201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3277800" y="510120"/>
            <a:ext cx="1436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Two distinct phases.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3382560" y="876600"/>
            <a:ext cx="11376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2016–2017 (lives saved).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382560" y="1005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∼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3466080" y="996840"/>
            <a:ext cx="185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600–900 fewer deaths than counterfactual;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3283200" y="1588320"/>
            <a:ext cx="2117160" cy="728640"/>
          </a:xfrm>
          <a:custGeom>
            <a:avLst/>
            <a:gdLst/>
            <a:ahLst/>
            <a:rect l="0" t="0" r="r" b="b"/>
            <a:pathLst>
              <a:path w="5881" h="2024">
                <a:moveTo>
                  <a:pt x="0" y="1849"/>
                </a:moveTo>
                <a:lnTo>
                  <a:pt x="0" y="175"/>
                </a:lnTo>
                <a:cubicBezTo>
                  <a:pt x="0" y="78"/>
                  <a:pt x="78" y="0"/>
                  <a:pt x="175" y="0"/>
                </a:cubicBezTo>
                <a:lnTo>
                  <a:pt x="5705" y="0"/>
                </a:lnTo>
                <a:cubicBezTo>
                  <a:pt x="5802" y="0"/>
                  <a:pt x="5881" y="78"/>
                  <a:pt x="5881" y="175"/>
                </a:cubicBezTo>
                <a:lnTo>
                  <a:pt x="5881" y="1849"/>
                </a:lnTo>
                <a:cubicBezTo>
                  <a:pt x="5881" y="1946"/>
                  <a:pt x="5802" y="2024"/>
                  <a:pt x="5705" y="2024"/>
                </a:cubicBezTo>
                <a:lnTo>
                  <a:pt x="175" y="2024"/>
                </a:lnTo>
                <a:cubicBezTo>
                  <a:pt x="78" y="2024"/>
                  <a:pt x="0" y="1946"/>
                  <a:pt x="0" y="1849"/>
                </a:cubicBezTo>
                <a:close/>
              </a:path>
            </a:pathLst>
          </a:custGeom>
          <a:solidFill>
            <a:srgbClr val="f5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3295800" y="1600920"/>
            <a:ext cx="2091600" cy="703440"/>
          </a:xfrm>
          <a:custGeom>
            <a:avLst/>
            <a:gdLst/>
            <a:ahLst/>
            <a:rect l="0" t="0" r="r" b="b"/>
            <a:pathLst>
              <a:path w="5810" h="1954">
                <a:moveTo>
                  <a:pt x="0" y="1814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5670" y="0"/>
                </a:lnTo>
                <a:cubicBezTo>
                  <a:pt x="5747" y="0"/>
                  <a:pt x="5810" y="63"/>
                  <a:pt x="5810" y="140"/>
                </a:cubicBezTo>
                <a:lnTo>
                  <a:pt x="5810" y="1814"/>
                </a:lnTo>
                <a:cubicBezTo>
                  <a:pt x="5810" y="1891"/>
                  <a:pt x="5747" y="1954"/>
                  <a:pt x="5670" y="1954"/>
                </a:cubicBezTo>
                <a:lnTo>
                  <a:pt x="140" y="1954"/>
                </a:lnTo>
                <a:cubicBezTo>
                  <a:pt x="63" y="1954"/>
                  <a:pt x="0" y="1891"/>
                  <a:pt x="0" y="1814"/>
                </a:cubicBezTo>
                <a:close/>
              </a:path>
            </a:pathLst>
          </a:custGeom>
          <a:solidFill>
            <a:srgbClr val="fd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3382560" y="1117080"/>
            <a:ext cx="172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consistent with immediate compliance.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3382560" y="1632600"/>
            <a:ext cx="13096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2018–2022 (effect reverses).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3382560" y="175284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3680280" y="175284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climbs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4021920" y="1752840"/>
            <a:ext cx="1210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above synthetic by +1,000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3382560" y="1873080"/>
            <a:ext cx="932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to +3,300 deaths/yr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4423680" y="1873080"/>
            <a:ext cx="593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— 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consistent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103360" y="1873080"/>
            <a:ext cx="19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with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3382560" y="1993320"/>
            <a:ext cx="567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illicit-market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4004640" y="1993320"/>
            <a:ext cx="1079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substitution and weaker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5176800" y="1993320"/>
            <a:ext cx="14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en-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3283200" y="2565000"/>
            <a:ext cx="2117160" cy="376920"/>
          </a:xfrm>
          <a:custGeom>
            <a:avLst/>
            <a:gdLst/>
            <a:ahLst/>
            <a:rect l="0" t="0" r="r" b="b"/>
            <a:pathLst>
              <a:path w="5881" h="1047">
                <a:moveTo>
                  <a:pt x="0" y="872"/>
                </a:moveTo>
                <a:lnTo>
                  <a:pt x="0" y="176"/>
                </a:lnTo>
                <a:cubicBezTo>
                  <a:pt x="0" y="79"/>
                  <a:pt x="78" y="0"/>
                  <a:pt x="175" y="0"/>
                </a:cubicBezTo>
                <a:lnTo>
                  <a:pt x="5705" y="0"/>
                </a:lnTo>
                <a:cubicBezTo>
                  <a:pt x="5802" y="0"/>
                  <a:pt x="5881" y="79"/>
                  <a:pt x="5881" y="176"/>
                </a:cubicBezTo>
                <a:lnTo>
                  <a:pt x="5881" y="872"/>
                </a:lnTo>
                <a:cubicBezTo>
                  <a:pt x="5881" y="969"/>
                  <a:pt x="5802" y="1047"/>
                  <a:pt x="5705" y="1047"/>
                </a:cubicBezTo>
                <a:lnTo>
                  <a:pt x="175" y="1047"/>
                </a:lnTo>
                <a:cubicBezTo>
                  <a:pt x="78" y="1047"/>
                  <a:pt x="0" y="969"/>
                  <a:pt x="0" y="872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3295800" y="2577600"/>
            <a:ext cx="2091600" cy="351720"/>
          </a:xfrm>
          <a:custGeom>
            <a:avLst/>
            <a:gdLst/>
            <a:ahLst/>
            <a:rect l="0" t="0" r="r" b="b"/>
            <a:pathLst>
              <a:path w="5810" h="977">
                <a:moveTo>
                  <a:pt x="0" y="837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670" y="0"/>
                </a:lnTo>
                <a:cubicBezTo>
                  <a:pt x="5747" y="0"/>
                  <a:pt x="5810" y="63"/>
                  <a:pt x="5810" y="141"/>
                </a:cubicBezTo>
                <a:lnTo>
                  <a:pt x="5810" y="837"/>
                </a:lnTo>
                <a:cubicBezTo>
                  <a:pt x="5810" y="914"/>
                  <a:pt x="5747" y="977"/>
                  <a:pt x="5670" y="977"/>
                </a:cubicBezTo>
                <a:lnTo>
                  <a:pt x="140" y="977"/>
                </a:lnTo>
                <a:cubicBezTo>
                  <a:pt x="63" y="977"/>
                  <a:pt x="0" y="914"/>
                  <a:pt x="0" y="837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382560" y="2113560"/>
            <a:ext cx="473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forcement.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382560" y="2605320"/>
            <a:ext cx="709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Donor weights: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4172400" y="2605320"/>
            <a:ext cx="74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Jharkhand 0.68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4985640" y="2605320"/>
            <a:ext cx="31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Odisha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382560" y="2725560"/>
            <a:ext cx="651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0.16, UP 0.16.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11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15" name="" descr=""/>
          <p:cNvPicPr/>
          <p:nvPr/>
        </p:nvPicPr>
        <p:blipFill>
          <a:blip r:embed="rId1"/>
          <a:stretch/>
        </p:blipFill>
        <p:spPr>
          <a:xfrm>
            <a:off x="360000" y="601560"/>
            <a:ext cx="3023640" cy="1353600"/>
          </a:xfrm>
          <a:prstGeom prst="rect">
            <a:avLst/>
          </a:prstGeom>
          <a:ln w="0">
            <a:noFill/>
          </a:ln>
        </p:spPr>
      </p:pic>
      <p:sp>
        <p:nvSpPr>
          <p:cNvPr id="516" name=""/>
          <p:cNvSpPr txBox="1"/>
          <p:nvPr/>
        </p:nvSpPr>
        <p:spPr>
          <a:xfrm>
            <a:off x="108000" y="42120"/>
            <a:ext cx="25488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Inference — In-Space Placebo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3535200" y="532080"/>
            <a:ext cx="1238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Permutation test.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3535200" y="766080"/>
            <a:ext cx="1884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Refit SCM treating each of 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3535200" y="949680"/>
            <a:ext cx="1248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donors as if treated.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841640" y="949680"/>
            <a:ext cx="432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Bihar’s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3535200" y="1132920"/>
            <a:ext cx="1759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gap (navy) should stand out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3535200" y="1316520"/>
            <a:ext cx="1671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from placebos (gray) if the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3535200" y="1929600"/>
            <a:ext cx="1865160" cy="473040"/>
          </a:xfrm>
          <a:custGeom>
            <a:avLst/>
            <a:gdLst/>
            <a:ahLst/>
            <a:rect l="0" t="0" r="r" b="b"/>
            <a:pathLst>
              <a:path w="5181" h="1314">
                <a:moveTo>
                  <a:pt x="0" y="1103"/>
                </a:moveTo>
                <a:lnTo>
                  <a:pt x="0" y="211"/>
                </a:lnTo>
                <a:cubicBezTo>
                  <a:pt x="0" y="95"/>
                  <a:pt x="94" y="0"/>
                  <a:pt x="210" y="0"/>
                </a:cubicBezTo>
                <a:lnTo>
                  <a:pt x="4970" y="0"/>
                </a:lnTo>
                <a:cubicBezTo>
                  <a:pt x="5086" y="0"/>
                  <a:pt x="5181" y="95"/>
                  <a:pt x="5181" y="211"/>
                </a:cubicBezTo>
                <a:lnTo>
                  <a:pt x="5181" y="1103"/>
                </a:lnTo>
                <a:cubicBezTo>
                  <a:pt x="5181" y="1220"/>
                  <a:pt x="5086" y="1314"/>
                  <a:pt x="4970" y="1314"/>
                </a:cubicBezTo>
                <a:lnTo>
                  <a:pt x="210" y="1314"/>
                </a:lnTo>
                <a:cubicBezTo>
                  <a:pt x="94" y="1314"/>
                  <a:pt x="0" y="1220"/>
                  <a:pt x="0" y="1103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3535200" y="1929600"/>
            <a:ext cx="1865160" cy="473040"/>
          </a:xfrm>
          <a:custGeom>
            <a:avLst/>
            <a:gdLst/>
            <a:ahLst/>
            <a:rect l="0" t="0" r="r" b="b"/>
            <a:pathLst>
              <a:path w="5181" h="1314">
                <a:moveTo>
                  <a:pt x="0" y="1103"/>
                </a:moveTo>
                <a:lnTo>
                  <a:pt x="0" y="211"/>
                </a:lnTo>
                <a:cubicBezTo>
                  <a:pt x="0" y="95"/>
                  <a:pt x="94" y="0"/>
                  <a:pt x="210" y="0"/>
                </a:cubicBezTo>
                <a:lnTo>
                  <a:pt x="4970" y="0"/>
                </a:lnTo>
                <a:cubicBezTo>
                  <a:pt x="5086" y="0"/>
                  <a:pt x="5181" y="95"/>
                  <a:pt x="5181" y="211"/>
                </a:cubicBezTo>
                <a:lnTo>
                  <a:pt x="5181" y="1103"/>
                </a:lnTo>
                <a:cubicBezTo>
                  <a:pt x="5181" y="1220"/>
                  <a:pt x="5086" y="1314"/>
                  <a:pt x="4970" y="1314"/>
                </a:cubicBezTo>
                <a:lnTo>
                  <a:pt x="210" y="1314"/>
                </a:lnTo>
                <a:cubicBezTo>
                  <a:pt x="94" y="1314"/>
                  <a:pt x="0" y="1220"/>
                  <a:pt x="0" y="110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535200" y="1499760"/>
            <a:ext cx="79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effect is real.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3975840" y="1953000"/>
            <a:ext cx="10447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4a261"/>
                </a:solidFill>
                <a:latin typeface="LMSans10"/>
                <a:ea typeface="LMSans10"/>
              </a:rPr>
              <a:t>Rank 2 / 14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4219200" y="2166840"/>
            <a:ext cx="1029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4326840" y="2175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ffffff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4460040" y="2166840"/>
            <a:ext cx="2552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0.071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3535200" y="2532240"/>
            <a:ext cx="1745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Only Maharashtra has a larger ratio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3535200" y="2652480"/>
            <a:ext cx="1820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consistent with its own outlier post-2018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535200" y="2772720"/>
            <a:ext cx="1351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trajectory unrelated to alcohol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4927680" y="2772720"/>
            <a:ext cx="28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policy.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12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37" name="" descr=""/>
          <p:cNvPicPr/>
          <p:nvPr/>
        </p:nvPicPr>
        <p:blipFill>
          <a:blip r:embed="rId1"/>
          <a:stretch/>
        </p:blipFill>
        <p:spPr>
          <a:xfrm>
            <a:off x="360000" y="770400"/>
            <a:ext cx="3023640" cy="1353960"/>
          </a:xfrm>
          <a:prstGeom prst="rect">
            <a:avLst/>
          </a:prstGeom>
          <a:ln w="0">
            <a:noFill/>
          </a:ln>
        </p:spPr>
      </p:pic>
      <p:sp>
        <p:nvSpPr>
          <p:cNvPr id="538" name=""/>
          <p:cNvSpPr txBox="1"/>
          <p:nvPr/>
        </p:nvSpPr>
        <p:spPr>
          <a:xfrm>
            <a:off x="108000" y="42120"/>
            <a:ext cx="25488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Robustness — Leave-One-Out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3535200" y="700560"/>
            <a:ext cx="17442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Drop each donor in turn.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535200" y="938520"/>
            <a:ext cx="18738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If a single donor were driving the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535200" y="1110600"/>
            <a:ext cx="1443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result, removing it would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535200" y="1282680"/>
            <a:ext cx="12808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collapse the synthetic.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4877280" y="1282680"/>
            <a:ext cx="413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Instead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3535200" y="1454760"/>
            <a:ext cx="138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all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3714120" y="1454760"/>
            <a:ext cx="15217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13 LOO refits trace nearly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3535200" y="2032200"/>
            <a:ext cx="1865160" cy="624240"/>
          </a:xfrm>
          <a:custGeom>
            <a:avLst/>
            <a:gdLst/>
            <a:ahLst/>
            <a:rect l="0" t="0" r="r" b="b"/>
            <a:pathLst>
              <a:path w="5181" h="1734">
                <a:moveTo>
                  <a:pt x="0" y="1558"/>
                </a:moveTo>
                <a:lnTo>
                  <a:pt x="0" y="176"/>
                </a:lnTo>
                <a:cubicBezTo>
                  <a:pt x="0" y="79"/>
                  <a:pt x="78" y="0"/>
                  <a:pt x="175" y="0"/>
                </a:cubicBezTo>
                <a:lnTo>
                  <a:pt x="5005" y="0"/>
                </a:lnTo>
                <a:cubicBezTo>
                  <a:pt x="5102" y="0"/>
                  <a:pt x="5181" y="79"/>
                  <a:pt x="5181" y="176"/>
                </a:cubicBezTo>
                <a:lnTo>
                  <a:pt x="5181" y="1558"/>
                </a:lnTo>
                <a:cubicBezTo>
                  <a:pt x="5181" y="1655"/>
                  <a:pt x="5102" y="1734"/>
                  <a:pt x="5005" y="1734"/>
                </a:cubicBezTo>
                <a:lnTo>
                  <a:pt x="175" y="1734"/>
                </a:lnTo>
                <a:cubicBezTo>
                  <a:pt x="78" y="1734"/>
                  <a:pt x="0" y="1655"/>
                  <a:pt x="0" y="1558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3547800" y="2044800"/>
            <a:ext cx="1839600" cy="599040"/>
          </a:xfrm>
          <a:custGeom>
            <a:avLst/>
            <a:gdLst/>
            <a:ahLst/>
            <a:rect l="0" t="0" r="r" b="b"/>
            <a:pathLst>
              <a:path w="5110" h="1664">
                <a:moveTo>
                  <a:pt x="0" y="1523"/>
                </a:moveTo>
                <a:lnTo>
                  <a:pt x="0" y="142"/>
                </a:lnTo>
                <a:cubicBezTo>
                  <a:pt x="0" y="63"/>
                  <a:pt x="63" y="0"/>
                  <a:pt x="140" y="0"/>
                </a:cubicBezTo>
                <a:lnTo>
                  <a:pt x="4970" y="0"/>
                </a:lnTo>
                <a:cubicBezTo>
                  <a:pt x="5047" y="0"/>
                  <a:pt x="5110" y="63"/>
                  <a:pt x="5110" y="142"/>
                </a:cubicBezTo>
                <a:lnTo>
                  <a:pt x="5110" y="1523"/>
                </a:lnTo>
                <a:cubicBezTo>
                  <a:pt x="5110" y="1601"/>
                  <a:pt x="5047" y="1664"/>
                  <a:pt x="4970" y="1664"/>
                </a:cubicBezTo>
                <a:lnTo>
                  <a:pt x="140" y="1664"/>
                </a:lnTo>
                <a:cubicBezTo>
                  <a:pt x="63" y="1664"/>
                  <a:pt x="0" y="1601"/>
                  <a:pt x="0" y="1523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3535200" y="1626840"/>
            <a:ext cx="1160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the same trajectory.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3634560" y="2072520"/>
            <a:ext cx="28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Result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973680" y="2072520"/>
            <a:ext cx="102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097160" y="2072520"/>
            <a:ext cx="1548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not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310640" y="2072520"/>
            <a:ext cx="925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driven by any single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3634560" y="2192760"/>
            <a:ext cx="1652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donor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including dropping the dom-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34560" y="2313000"/>
            <a:ext cx="229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inant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3918960" y="2313000"/>
            <a:ext cx="803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Jharkhand weight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793760" y="2313000"/>
            <a:ext cx="485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produces 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3634560" y="2433240"/>
            <a:ext cx="843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materially identical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4519080" y="2433240"/>
            <a:ext cx="427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synthetic.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13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08000" y="42120"/>
            <a:ext cx="26251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Method — Bayesian Structural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2784240" y="42120"/>
            <a:ext cx="9914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Time Series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360000" y="408600"/>
            <a:ext cx="1491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Brodersen et al. (2015):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59640" y="748440"/>
            <a:ext cx="5040720" cy="338760"/>
          </a:xfrm>
          <a:custGeom>
            <a:avLst/>
            <a:gdLst/>
            <a:ahLst/>
            <a:rect l="0" t="0" r="r" b="b"/>
            <a:pathLst>
              <a:path w="14002" h="941">
                <a:moveTo>
                  <a:pt x="0" y="765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8"/>
                  <a:pt x="14002" y="175"/>
                </a:cubicBezTo>
                <a:lnTo>
                  <a:pt x="14002" y="765"/>
                </a:lnTo>
                <a:cubicBezTo>
                  <a:pt x="14002" y="862"/>
                  <a:pt x="13923" y="941"/>
                  <a:pt x="13826" y="941"/>
                </a:cubicBezTo>
                <a:lnTo>
                  <a:pt x="176" y="941"/>
                </a:lnTo>
                <a:cubicBezTo>
                  <a:pt x="79" y="941"/>
                  <a:pt x="0" y="862"/>
                  <a:pt x="0" y="765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372600" y="761040"/>
            <a:ext cx="5015160" cy="313200"/>
          </a:xfrm>
          <a:custGeom>
            <a:avLst/>
            <a:gdLst/>
            <a:ahLst/>
            <a:rect l="0" t="0" r="r" b="b"/>
            <a:pathLst>
              <a:path w="13931" h="870">
                <a:moveTo>
                  <a:pt x="0" y="730"/>
                </a:moveTo>
                <a:lnTo>
                  <a:pt x="0" y="141"/>
                </a:lnTo>
                <a:cubicBezTo>
                  <a:pt x="0" y="64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4"/>
                  <a:pt x="13931" y="141"/>
                </a:cubicBezTo>
                <a:lnTo>
                  <a:pt x="13931" y="730"/>
                </a:lnTo>
                <a:cubicBezTo>
                  <a:pt x="13931" y="807"/>
                  <a:pt x="13868" y="870"/>
                  <a:pt x="13790" y="870"/>
                </a:cubicBezTo>
                <a:lnTo>
                  <a:pt x="140" y="870"/>
                </a:lnTo>
                <a:cubicBezTo>
                  <a:pt x="63" y="870"/>
                  <a:pt x="0" y="807"/>
                  <a:pt x="0" y="730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916280" y="408600"/>
            <a:ext cx="187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a3a66"/>
                </a:solidFill>
                <a:latin typeface="LMSans12"/>
                <a:ea typeface="LMSans12"/>
              </a:rPr>
              <a:t>observed series decomposes as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923840" y="7956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y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991880" y="876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2128680" y="7956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=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2328840" y="8085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Italic12"/>
                <a:ea typeface="LMMathItalic12"/>
              </a:rPr>
              <a:t>µ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2418120" y="876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2546640" y="7956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+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2738160" y="8085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Italic12"/>
                <a:ea typeface="LMMathItalic12"/>
              </a:rPr>
              <a:t>τ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802600" y="876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931120" y="7956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+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3122640" y="8085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i="1" lang="en-US" sz="1200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β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3228120" y="797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⊤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3318120" y="795600"/>
            <a:ext cx="1515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00000"/>
                </a:solidFill>
                <a:latin typeface="LMSans10"/>
                <a:ea typeface="LMSans10"/>
              </a:rPr>
              <a:t>x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3394080" y="876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3522600" y="795600"/>
            <a:ext cx="151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00000"/>
                </a:solidFill>
                <a:latin typeface="LMSans12"/>
                <a:ea typeface="LMSans12"/>
              </a:rPr>
              <a:t>+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714120" y="8085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000000"/>
                </a:solidFill>
                <a:latin typeface="LMMathItalic12"/>
                <a:ea typeface="LMMathItalic12"/>
              </a:rPr>
              <a:t>ε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783600" y="876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60000" y="12099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µ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36320" y="1262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483120" y="11991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574200" y="1199160"/>
            <a:ext cx="5144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local-level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134360" y="1199160"/>
            <a:ext cx="276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trend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487520" y="12099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|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599840" y="12099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τ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655280" y="1262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1702080" y="11991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1793520" y="1199160"/>
            <a:ext cx="14911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seasonality (omitted, annual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323520" y="1199160"/>
            <a:ext cx="2826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data)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3682800" y="12099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|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795480" y="12099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i="1" lang="en-US" sz="989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β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3883320" y="1194120"/>
            <a:ext cx="8820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a3a66"/>
                </a:solidFill>
                <a:latin typeface="LMMathSymbols7"/>
                <a:ea typeface="LMMathSymbols7"/>
              </a:rPr>
              <a:t>⊤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3968640" y="1199160"/>
            <a:ext cx="1260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4032000" y="1262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078800" y="11991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4169880" y="1199160"/>
            <a:ext cx="10310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regression on donor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360000" y="1351080"/>
            <a:ext cx="18889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outcomes with</a:t>
            </a:r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spike-and-slab</a:t>
            </a:r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priors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316960" y="136188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|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429280" y="136188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ε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2488320" y="141408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2570400" y="1361880"/>
            <a:ext cx="22788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∼ </a:t>
            </a:r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2826360" y="135108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(0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938680" y="1361880"/>
            <a:ext cx="13932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, σ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071880" y="134892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90" spc="-1" strike="noStrike">
                <a:solidFill>
                  <a:srgbClr val="0a3a66"/>
                </a:solidFill>
                <a:latin typeface="LMSans8"/>
                <a:ea typeface="LMSans8"/>
              </a:rPr>
              <a:t>2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125160" y="135108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).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353520" y="1647000"/>
            <a:ext cx="20444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Why BSTS triangulates with SCM.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496440" y="18676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57360" y="1855800"/>
            <a:ext cx="11239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Different functional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826280" y="1855800"/>
            <a:ext cx="3138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form (linear regression with priors vs. convex average)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4992840" y="18676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⇒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57360" y="2027880"/>
            <a:ext cx="1776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different mis-specification risks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96440" y="22878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52680" y="2275920"/>
            <a:ext cx="572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Yields full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270080" y="2275920"/>
            <a:ext cx="5036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posterior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818720" y="22878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⇒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2003760" y="2275920"/>
            <a:ext cx="3134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credible intervals on the counterfactual, not just point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57360" y="2448000"/>
            <a:ext cx="4867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estimate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96440" y="270756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59640" y="3117600"/>
            <a:ext cx="5040720" cy="389520"/>
          </a:xfrm>
          <a:custGeom>
            <a:avLst/>
            <a:gdLst/>
            <a:ahLst/>
            <a:rect l="0" t="0" r="r" b="b"/>
            <a:pathLst>
              <a:path w="14002" h="1082">
                <a:moveTo>
                  <a:pt x="0" y="906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9"/>
                  <a:pt x="14002" y="176"/>
                </a:cubicBezTo>
                <a:lnTo>
                  <a:pt x="14002" y="906"/>
                </a:lnTo>
                <a:cubicBezTo>
                  <a:pt x="14002" y="1003"/>
                  <a:pt x="13923" y="1082"/>
                  <a:pt x="13826" y="1082"/>
                </a:cubicBezTo>
                <a:lnTo>
                  <a:pt x="176" y="1082"/>
                </a:lnTo>
                <a:cubicBezTo>
                  <a:pt x="79" y="1082"/>
                  <a:pt x="0" y="1003"/>
                  <a:pt x="0" y="906"/>
                </a:cubicBezTo>
                <a:close/>
              </a:path>
            </a:pathLst>
          </a:custGeom>
          <a:solidFill>
            <a:srgbClr val="f5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372600" y="3130200"/>
            <a:ext cx="5015160" cy="364320"/>
          </a:xfrm>
          <a:custGeom>
            <a:avLst/>
            <a:gdLst/>
            <a:ahLst/>
            <a:rect l="0" t="0" r="r" b="b"/>
            <a:pathLst>
              <a:path w="13931" h="1012">
                <a:moveTo>
                  <a:pt x="0" y="870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1"/>
                </a:cubicBezTo>
                <a:lnTo>
                  <a:pt x="13931" y="870"/>
                </a:lnTo>
                <a:cubicBezTo>
                  <a:pt x="13931" y="949"/>
                  <a:pt x="13868" y="1012"/>
                  <a:pt x="13790" y="1012"/>
                </a:cubicBezTo>
                <a:lnTo>
                  <a:pt x="140" y="1012"/>
                </a:lnTo>
                <a:cubicBezTo>
                  <a:pt x="63" y="1012"/>
                  <a:pt x="0" y="949"/>
                  <a:pt x="0" y="870"/>
                </a:cubicBezTo>
                <a:close/>
              </a:path>
            </a:pathLst>
          </a:custGeom>
          <a:solidFill>
            <a:srgbClr val="fd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657360" y="2696040"/>
            <a:ext cx="30960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Spike-and-slab automatically prunes irrelevant donors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9360" y="3157920"/>
            <a:ext cx="1303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Caveat for short pre-period.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856880" y="3157920"/>
            <a:ext cx="314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With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181240" y="3199680"/>
            <a:ext cx="10584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Sans8"/>
                <a:ea typeface="LMSans8"/>
              </a:rPr>
              <a:t>pre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330640" y="3157920"/>
            <a:ext cx="168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= 6 observations and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J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13 donors,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4115880" y="3157920"/>
            <a:ext cx="1157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 regression component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9360" y="3278160"/>
            <a:ext cx="364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overfits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875880" y="3278160"/>
            <a:ext cx="2608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We restrict to the top-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k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donors by pre-period correlation (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3500280" y="3292200"/>
            <a:ext cx="6408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max_donors=3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4145400" y="3278160"/>
            <a:ext cx="953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) per Brodersen §3.2.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14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639" name="" descr=""/>
          <p:cNvPicPr/>
          <p:nvPr/>
        </p:nvPicPr>
        <p:blipFill>
          <a:blip r:embed="rId1"/>
          <a:stretch/>
        </p:blipFill>
        <p:spPr>
          <a:xfrm>
            <a:off x="1065600" y="394920"/>
            <a:ext cx="3628440" cy="2598480"/>
          </a:xfrm>
          <a:prstGeom prst="rect">
            <a:avLst/>
          </a:prstGeom>
          <a:ln w="0">
            <a:noFill/>
          </a:ln>
        </p:spPr>
      </p:pic>
      <p:sp>
        <p:nvSpPr>
          <p:cNvPr id="640" name=""/>
          <p:cNvSpPr/>
          <p:nvPr/>
        </p:nvSpPr>
        <p:spPr>
          <a:xfrm>
            <a:off x="359640" y="3322800"/>
            <a:ext cx="2419920" cy="765000"/>
          </a:xfrm>
          <a:custGeom>
            <a:avLst/>
            <a:gdLst/>
            <a:ahLst/>
            <a:rect l="0" t="0" r="r" b="b"/>
            <a:pathLst>
              <a:path w="6722" h="2125">
                <a:moveTo>
                  <a:pt x="0" y="1963"/>
                </a:moveTo>
                <a:lnTo>
                  <a:pt x="0" y="161"/>
                </a:lnTo>
                <a:cubicBezTo>
                  <a:pt x="0" y="72"/>
                  <a:pt x="73" y="0"/>
                  <a:pt x="162" y="0"/>
                </a:cubicBezTo>
                <a:lnTo>
                  <a:pt x="6560" y="0"/>
                </a:lnTo>
                <a:cubicBezTo>
                  <a:pt x="6649" y="0"/>
                  <a:pt x="6722" y="72"/>
                  <a:pt x="6722" y="161"/>
                </a:cubicBezTo>
                <a:lnTo>
                  <a:pt x="6722" y="1963"/>
                </a:lnTo>
                <a:cubicBezTo>
                  <a:pt x="6722" y="2053"/>
                  <a:pt x="6649" y="2125"/>
                  <a:pt x="6560" y="2125"/>
                </a:cubicBezTo>
                <a:lnTo>
                  <a:pt x="162" y="2125"/>
                </a:lnTo>
                <a:cubicBezTo>
                  <a:pt x="73" y="2125"/>
                  <a:pt x="0" y="2053"/>
                  <a:pt x="0" y="1963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67560" y="3330360"/>
            <a:ext cx="2404080" cy="749880"/>
          </a:xfrm>
          <a:custGeom>
            <a:avLst/>
            <a:gdLst/>
            <a:ahLst/>
            <a:rect l="0" t="0" r="r" b="b"/>
            <a:pathLst>
              <a:path w="6678" h="2083">
                <a:moveTo>
                  <a:pt x="0" y="1942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38" y="0"/>
                </a:lnTo>
                <a:cubicBezTo>
                  <a:pt x="6615" y="0"/>
                  <a:pt x="6678" y="63"/>
                  <a:pt x="6678" y="141"/>
                </a:cubicBezTo>
                <a:lnTo>
                  <a:pt x="6678" y="1942"/>
                </a:lnTo>
                <a:cubicBezTo>
                  <a:pt x="6678" y="2020"/>
                  <a:pt x="6615" y="2083"/>
                  <a:pt x="6538" y="2083"/>
                </a:cubicBezTo>
                <a:lnTo>
                  <a:pt x="140" y="2083"/>
                </a:lnTo>
                <a:cubicBezTo>
                  <a:pt x="63" y="2083"/>
                  <a:pt x="0" y="2020"/>
                  <a:pt x="0" y="1942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08000" y="42120"/>
            <a:ext cx="329868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BSTS Result — Road-Accident Deaths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454320" y="3363480"/>
            <a:ext cx="7750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Donors selected: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1330200" y="3363480"/>
            <a:ext cx="49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Haryana 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904040" y="3363480"/>
            <a:ext cx="174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= 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100960" y="33721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130840" y="3363480"/>
            <a:ext cx="180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82),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2369880" y="3363480"/>
            <a:ext cx="31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Odisha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450000" y="348372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736560" y="3492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766440" y="3483720"/>
            <a:ext cx="780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67), West Bengal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1585800" y="348372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1872720" y="3492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902600" y="3483720"/>
            <a:ext cx="177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63).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454320" y="3629160"/>
            <a:ext cx="406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Posterior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934560" y="362916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mean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1254960" y="3629160"/>
            <a:ext cx="270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tracks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1604520" y="3629160"/>
            <a:ext cx="665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SCM synthetic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2390040" y="3629160"/>
            <a:ext cx="293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closely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454320" y="3749400"/>
            <a:ext cx="636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through 2017,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152000" y="3749400"/>
            <a:ext cx="1485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then diverges — both estimators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2980800" y="3322800"/>
            <a:ext cx="2419560" cy="773640"/>
          </a:xfrm>
          <a:custGeom>
            <a:avLst/>
            <a:gdLst/>
            <a:ahLst/>
            <a:rect l="0" t="0" r="r" b="b"/>
            <a:pathLst>
              <a:path w="6721" h="2149">
                <a:moveTo>
                  <a:pt x="0" y="1974"/>
                </a:moveTo>
                <a:lnTo>
                  <a:pt x="0" y="175"/>
                </a:lnTo>
                <a:cubicBezTo>
                  <a:pt x="0" y="78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8"/>
                  <a:pt x="6721" y="175"/>
                </a:cubicBezTo>
                <a:lnTo>
                  <a:pt x="6721" y="1974"/>
                </a:lnTo>
                <a:cubicBezTo>
                  <a:pt x="6721" y="2071"/>
                  <a:pt x="6642" y="2149"/>
                  <a:pt x="6545" y="2149"/>
                </a:cubicBezTo>
                <a:lnTo>
                  <a:pt x="175" y="2149"/>
                </a:lnTo>
                <a:cubicBezTo>
                  <a:pt x="78" y="2149"/>
                  <a:pt x="0" y="2071"/>
                  <a:pt x="0" y="1974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2993400" y="3335400"/>
            <a:ext cx="2394000" cy="748440"/>
          </a:xfrm>
          <a:custGeom>
            <a:avLst/>
            <a:gdLst/>
            <a:ahLst/>
            <a:rect l="0" t="0" r="r" b="b"/>
            <a:pathLst>
              <a:path w="6650" h="2079">
                <a:moveTo>
                  <a:pt x="0" y="1939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1939"/>
                </a:lnTo>
                <a:cubicBezTo>
                  <a:pt x="6650" y="2016"/>
                  <a:pt x="6587" y="2079"/>
                  <a:pt x="6510" y="2079"/>
                </a:cubicBezTo>
                <a:lnTo>
                  <a:pt x="140" y="2079"/>
                </a:lnTo>
                <a:cubicBezTo>
                  <a:pt x="63" y="2079"/>
                  <a:pt x="0" y="2016"/>
                  <a:pt x="0" y="1939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454320" y="3869640"/>
            <a:ext cx="1325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detect the post-2018 reversal.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3076560" y="3367080"/>
            <a:ext cx="11361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Average posterior effect: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4264560" y="3367080"/>
            <a:ext cx="817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+1,076 deaths/yr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3080160" y="3512880"/>
            <a:ext cx="2195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Larger than the SCM point estimate (+360) be-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3080160" y="3632760"/>
            <a:ext cx="22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cause BSTS includes the strong 2020–2022 diver-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3080160" y="3753000"/>
            <a:ext cx="663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gence with full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3787920" y="3753000"/>
            <a:ext cx="1498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weight; SCM averages across the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3080160" y="3873240"/>
            <a:ext cx="1854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partly-cancelling 2016–17 negative phase.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15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675" name="" descr=""/>
          <p:cNvPicPr/>
          <p:nvPr/>
        </p:nvPicPr>
        <p:blipFill>
          <a:blip r:embed="rId1"/>
          <a:stretch/>
        </p:blipFill>
        <p:spPr>
          <a:xfrm>
            <a:off x="1065600" y="449640"/>
            <a:ext cx="3628440" cy="1624320"/>
          </a:xfrm>
          <a:prstGeom prst="rect">
            <a:avLst/>
          </a:prstGeom>
          <a:ln w="0">
            <a:noFill/>
          </a:ln>
        </p:spPr>
      </p:pic>
      <p:sp>
        <p:nvSpPr>
          <p:cNvPr id="676" name=""/>
          <p:cNvSpPr/>
          <p:nvPr/>
        </p:nvSpPr>
        <p:spPr>
          <a:xfrm>
            <a:off x="359640" y="2421720"/>
            <a:ext cx="1613520" cy="555120"/>
          </a:xfrm>
          <a:custGeom>
            <a:avLst/>
            <a:gdLst/>
            <a:ahLst/>
            <a:rect l="0" t="0" r="r" b="b"/>
            <a:pathLst>
              <a:path w="4482" h="1542">
                <a:moveTo>
                  <a:pt x="0" y="1331"/>
                </a:moveTo>
                <a:lnTo>
                  <a:pt x="0" y="211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1"/>
                </a:cubicBezTo>
                <a:lnTo>
                  <a:pt x="4482" y="1331"/>
                </a:lnTo>
                <a:cubicBezTo>
                  <a:pt x="4482" y="1447"/>
                  <a:pt x="4387" y="1542"/>
                  <a:pt x="4271" y="1542"/>
                </a:cubicBezTo>
                <a:lnTo>
                  <a:pt x="211" y="1542"/>
                </a:lnTo>
                <a:cubicBezTo>
                  <a:pt x="95" y="1542"/>
                  <a:pt x="0" y="1447"/>
                  <a:pt x="0" y="1331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359640" y="2421720"/>
            <a:ext cx="1613520" cy="555120"/>
          </a:xfrm>
          <a:custGeom>
            <a:avLst/>
            <a:gdLst/>
            <a:ahLst/>
            <a:rect l="0" t="0" r="r" b="b"/>
            <a:pathLst>
              <a:path w="4482" h="1542">
                <a:moveTo>
                  <a:pt x="0" y="1331"/>
                </a:moveTo>
                <a:lnTo>
                  <a:pt x="0" y="211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1"/>
                </a:cubicBezTo>
                <a:lnTo>
                  <a:pt x="4482" y="1331"/>
                </a:lnTo>
                <a:cubicBezTo>
                  <a:pt x="4482" y="1447"/>
                  <a:pt x="4387" y="1542"/>
                  <a:pt x="4271" y="1542"/>
                </a:cubicBezTo>
                <a:lnTo>
                  <a:pt x="211" y="1542"/>
                </a:lnTo>
                <a:cubicBezTo>
                  <a:pt x="95" y="1542"/>
                  <a:pt x="0" y="1447"/>
                  <a:pt x="0" y="133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08000" y="42120"/>
            <a:ext cx="26661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Triangulation — SCM vs BSTS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1026720" y="2457360"/>
            <a:ext cx="279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4a261"/>
                </a:solidFill>
                <a:latin typeface="LMSans10"/>
                <a:ea typeface="LMSans10"/>
              </a:rPr>
              <a:t>Sign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96880" y="2620800"/>
            <a:ext cx="11192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Both negative 2016–17,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2073240" y="2421720"/>
            <a:ext cx="1613520" cy="560520"/>
          </a:xfrm>
          <a:custGeom>
            <a:avLst/>
            <a:gdLst/>
            <a:ahLst/>
            <a:rect l="0" t="0" r="r" b="b"/>
            <a:pathLst>
              <a:path w="4482" h="1557">
                <a:moveTo>
                  <a:pt x="0" y="1347"/>
                </a:moveTo>
                <a:lnTo>
                  <a:pt x="0" y="211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1"/>
                </a:cubicBezTo>
                <a:lnTo>
                  <a:pt x="4482" y="1347"/>
                </a:lnTo>
                <a:cubicBezTo>
                  <a:pt x="4482" y="1463"/>
                  <a:pt x="4387" y="1557"/>
                  <a:pt x="4271" y="1557"/>
                </a:cubicBezTo>
                <a:lnTo>
                  <a:pt x="211" y="1557"/>
                </a:lnTo>
                <a:cubicBezTo>
                  <a:pt x="95" y="1557"/>
                  <a:pt x="0" y="1463"/>
                  <a:pt x="0" y="1347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2073240" y="2421720"/>
            <a:ext cx="1613520" cy="560520"/>
          </a:xfrm>
          <a:custGeom>
            <a:avLst/>
            <a:gdLst/>
            <a:ahLst/>
            <a:rect l="0" t="0" r="r" b="b"/>
            <a:pathLst>
              <a:path w="4482" h="1557">
                <a:moveTo>
                  <a:pt x="0" y="1347"/>
                </a:moveTo>
                <a:lnTo>
                  <a:pt x="0" y="211"/>
                </a:lnTo>
                <a:cubicBezTo>
                  <a:pt x="0" y="94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4"/>
                  <a:pt x="4482" y="211"/>
                </a:cubicBezTo>
                <a:lnTo>
                  <a:pt x="4482" y="1347"/>
                </a:lnTo>
                <a:cubicBezTo>
                  <a:pt x="4482" y="1463"/>
                  <a:pt x="4387" y="1557"/>
                  <a:pt x="4271" y="1557"/>
                </a:cubicBezTo>
                <a:lnTo>
                  <a:pt x="211" y="1557"/>
                </a:lnTo>
                <a:cubicBezTo>
                  <a:pt x="95" y="1557"/>
                  <a:pt x="0" y="1463"/>
                  <a:pt x="0" y="1347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81120" y="2740680"/>
            <a:ext cx="9518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both positive 2018+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2583720" y="2457360"/>
            <a:ext cx="5936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4a261"/>
                </a:solidFill>
                <a:latin typeface="LMSans10"/>
                <a:ea typeface="LMSans10"/>
              </a:rPr>
              <a:t>Direction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2351880" y="2620800"/>
            <a:ext cx="1033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Agree on year-by-year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786840" y="2421720"/>
            <a:ext cx="1613520" cy="545760"/>
          </a:xfrm>
          <a:custGeom>
            <a:avLst/>
            <a:gdLst/>
            <a:ahLst/>
            <a:rect l="0" t="0" r="r" b="b"/>
            <a:pathLst>
              <a:path w="4482" h="1516">
                <a:moveTo>
                  <a:pt x="0" y="1306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306"/>
                </a:lnTo>
                <a:cubicBezTo>
                  <a:pt x="4482" y="1422"/>
                  <a:pt x="4387" y="1516"/>
                  <a:pt x="4271" y="1516"/>
                </a:cubicBezTo>
                <a:lnTo>
                  <a:pt x="211" y="1516"/>
                </a:lnTo>
                <a:cubicBezTo>
                  <a:pt x="95" y="1516"/>
                  <a:pt x="0" y="1422"/>
                  <a:pt x="0" y="1306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786840" y="2421720"/>
            <a:ext cx="1613520" cy="545760"/>
          </a:xfrm>
          <a:custGeom>
            <a:avLst/>
            <a:gdLst/>
            <a:ahLst/>
            <a:rect l="0" t="0" r="r" b="b"/>
            <a:pathLst>
              <a:path w="4482" h="1516">
                <a:moveTo>
                  <a:pt x="0" y="1306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306"/>
                </a:lnTo>
                <a:cubicBezTo>
                  <a:pt x="4482" y="1422"/>
                  <a:pt x="4387" y="1516"/>
                  <a:pt x="4271" y="1516"/>
                </a:cubicBezTo>
                <a:lnTo>
                  <a:pt x="211" y="1516"/>
                </a:lnTo>
                <a:cubicBezTo>
                  <a:pt x="95" y="1516"/>
                  <a:pt x="0" y="1422"/>
                  <a:pt x="0" y="1306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2468880" y="2740680"/>
            <a:ext cx="8100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direction (10/10)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4246920" y="2457360"/>
            <a:ext cx="695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4a261"/>
                </a:solidFill>
                <a:latin typeface="LMSans10"/>
                <a:ea typeface="LMSans10"/>
              </a:rPr>
              <a:t>Magnitude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4160520" y="2620800"/>
            <a:ext cx="844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BSTS magnitudes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4257000" y="2749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ffffff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4390200" y="2740680"/>
            <a:ext cx="1684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2–3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4560480" y="2749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ffffff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693680" y="2740680"/>
            <a:ext cx="2340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SCM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16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698" name="" descr=""/>
          <p:cNvPicPr/>
          <p:nvPr/>
        </p:nvPicPr>
        <p:blipFill>
          <a:blip r:embed="rId1"/>
          <a:stretch/>
        </p:blipFill>
        <p:spPr>
          <a:xfrm>
            <a:off x="360000" y="660960"/>
            <a:ext cx="2771640" cy="2005560"/>
          </a:xfrm>
          <a:prstGeom prst="rect">
            <a:avLst/>
          </a:prstGeom>
          <a:ln w="0">
            <a:noFill/>
          </a:ln>
        </p:spPr>
      </p:pic>
      <p:sp>
        <p:nvSpPr>
          <p:cNvPr id="699" name=""/>
          <p:cNvSpPr txBox="1"/>
          <p:nvPr/>
        </p:nvSpPr>
        <p:spPr>
          <a:xfrm>
            <a:off x="108000" y="42120"/>
            <a:ext cx="35028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Outcome 2 — Own Tax Revenue (Fiscal)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283200" y="591120"/>
            <a:ext cx="18644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Composite proxy, not pure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283200" y="774720"/>
            <a:ext cx="4564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excise.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3283200" y="991440"/>
            <a:ext cx="1798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Own-tax revenue includes excise + sales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283200" y="1111320"/>
            <a:ext cx="212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tax/VAT + GST compensation + stamp duty +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3280680" y="1231560"/>
            <a:ext cx="50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vehicle tax.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3834000" y="1231560"/>
            <a:ext cx="476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Excise was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4345560" y="12402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∼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4429440" y="1231560"/>
            <a:ext cx="823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22–25% of Bihar’s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3283200" y="1351800"/>
            <a:ext cx="1075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pre-prohibition own-tax.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4404600" y="1351800"/>
            <a:ext cx="793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Effect is therefore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3283200" y="1792800"/>
            <a:ext cx="2117160" cy="487080"/>
          </a:xfrm>
          <a:custGeom>
            <a:avLst/>
            <a:gdLst/>
            <a:ahLst/>
            <a:rect l="0" t="0" r="r" b="b"/>
            <a:pathLst>
              <a:path w="5881" h="1353">
                <a:moveTo>
                  <a:pt x="0" y="1142"/>
                </a:moveTo>
                <a:lnTo>
                  <a:pt x="0" y="211"/>
                </a:lnTo>
                <a:cubicBezTo>
                  <a:pt x="0" y="95"/>
                  <a:pt x="94" y="0"/>
                  <a:pt x="210" y="0"/>
                </a:cubicBezTo>
                <a:lnTo>
                  <a:pt x="5670" y="0"/>
                </a:lnTo>
                <a:cubicBezTo>
                  <a:pt x="5786" y="0"/>
                  <a:pt x="5881" y="95"/>
                  <a:pt x="5881" y="211"/>
                </a:cubicBezTo>
                <a:lnTo>
                  <a:pt x="5881" y="1142"/>
                </a:lnTo>
                <a:cubicBezTo>
                  <a:pt x="5881" y="1258"/>
                  <a:pt x="5786" y="1353"/>
                  <a:pt x="5670" y="1353"/>
                </a:cubicBezTo>
                <a:lnTo>
                  <a:pt x="210" y="1353"/>
                </a:lnTo>
                <a:cubicBezTo>
                  <a:pt x="94" y="1353"/>
                  <a:pt x="0" y="1258"/>
                  <a:pt x="0" y="1142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3283200" y="1792800"/>
            <a:ext cx="2117160" cy="487080"/>
          </a:xfrm>
          <a:custGeom>
            <a:avLst/>
            <a:gdLst/>
            <a:ahLst/>
            <a:rect l="0" t="0" r="r" b="b"/>
            <a:pathLst>
              <a:path w="5881" h="1353">
                <a:moveTo>
                  <a:pt x="0" y="1142"/>
                </a:moveTo>
                <a:lnTo>
                  <a:pt x="0" y="211"/>
                </a:lnTo>
                <a:cubicBezTo>
                  <a:pt x="0" y="95"/>
                  <a:pt x="94" y="0"/>
                  <a:pt x="210" y="0"/>
                </a:cubicBezTo>
                <a:lnTo>
                  <a:pt x="5670" y="0"/>
                </a:lnTo>
                <a:cubicBezTo>
                  <a:pt x="5786" y="0"/>
                  <a:pt x="5881" y="95"/>
                  <a:pt x="5881" y="211"/>
                </a:cubicBezTo>
                <a:lnTo>
                  <a:pt x="5881" y="1142"/>
                </a:lnTo>
                <a:cubicBezTo>
                  <a:pt x="5881" y="1258"/>
                  <a:pt x="5786" y="1353"/>
                  <a:pt x="5670" y="1353"/>
                </a:cubicBezTo>
                <a:lnTo>
                  <a:pt x="210" y="1353"/>
                </a:lnTo>
                <a:cubicBezTo>
                  <a:pt x="94" y="1353"/>
                  <a:pt x="0" y="1258"/>
                  <a:pt x="0" y="114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3283200" y="1472040"/>
            <a:ext cx="527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attenuated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3681360" y="1845720"/>
            <a:ext cx="2934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43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−</a:t>
            </a:r>
            <a:r>
              <a:rPr b="0" lang="en-US" sz="143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Ñ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970440" y="1830240"/>
            <a:ext cx="11347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4a261"/>
                </a:solidFill>
                <a:latin typeface="LMSans10"/>
                <a:ea typeface="LMSans10"/>
              </a:rPr>
              <a:t>2,017 Cr / yr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3283200" y="2453760"/>
            <a:ext cx="2117160" cy="366840"/>
          </a:xfrm>
          <a:custGeom>
            <a:avLst/>
            <a:gdLst/>
            <a:ahLst/>
            <a:rect l="0" t="0" r="r" b="b"/>
            <a:pathLst>
              <a:path w="5881" h="1019">
                <a:moveTo>
                  <a:pt x="0" y="857"/>
                </a:moveTo>
                <a:lnTo>
                  <a:pt x="0" y="161"/>
                </a:lnTo>
                <a:cubicBezTo>
                  <a:pt x="0" y="72"/>
                  <a:pt x="72" y="0"/>
                  <a:pt x="161" y="0"/>
                </a:cubicBezTo>
                <a:lnTo>
                  <a:pt x="5719" y="0"/>
                </a:lnTo>
                <a:cubicBezTo>
                  <a:pt x="5808" y="0"/>
                  <a:pt x="5881" y="72"/>
                  <a:pt x="5881" y="161"/>
                </a:cubicBezTo>
                <a:lnTo>
                  <a:pt x="5881" y="857"/>
                </a:lnTo>
                <a:cubicBezTo>
                  <a:pt x="5881" y="946"/>
                  <a:pt x="5808" y="1019"/>
                  <a:pt x="5719" y="1019"/>
                </a:cubicBezTo>
                <a:lnTo>
                  <a:pt x="161" y="1019"/>
                </a:lnTo>
                <a:cubicBezTo>
                  <a:pt x="72" y="1019"/>
                  <a:pt x="0" y="946"/>
                  <a:pt x="0" y="857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290760" y="2461320"/>
            <a:ext cx="2101680" cy="351720"/>
          </a:xfrm>
          <a:custGeom>
            <a:avLst/>
            <a:gdLst/>
            <a:ahLst/>
            <a:rect l="0" t="0" r="r" b="b"/>
            <a:pathLst>
              <a:path w="5838" h="977">
                <a:moveTo>
                  <a:pt x="0" y="836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5698" y="0"/>
                </a:lnTo>
                <a:cubicBezTo>
                  <a:pt x="5776" y="0"/>
                  <a:pt x="5838" y="63"/>
                  <a:pt x="5838" y="140"/>
                </a:cubicBezTo>
                <a:lnTo>
                  <a:pt x="5838" y="836"/>
                </a:lnTo>
                <a:cubicBezTo>
                  <a:pt x="5838" y="914"/>
                  <a:pt x="5776" y="977"/>
                  <a:pt x="5698" y="977"/>
                </a:cubicBezTo>
                <a:lnTo>
                  <a:pt x="140" y="977"/>
                </a:lnTo>
                <a:cubicBezTo>
                  <a:pt x="63" y="977"/>
                  <a:pt x="0" y="914"/>
                  <a:pt x="0" y="836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3647880" y="2043720"/>
            <a:ext cx="1375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avg post-treatment SCM gap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377520" y="2488680"/>
            <a:ext cx="351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Donors: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804120" y="2488680"/>
            <a:ext cx="74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Jharkhand 0.84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623480" y="2488680"/>
            <a:ext cx="403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UP 0.16.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131080" y="2488680"/>
            <a:ext cx="19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3377520" y="2608920"/>
            <a:ext cx="354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RMSPE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769560" y="26175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3850920" y="2608920"/>
            <a:ext cx="880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1,091 Cr; ratio 3.16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4736520" y="26175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4820040" y="260892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17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108000" y="42120"/>
            <a:ext cx="41065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Outcome 3 — Per-Capita Growth (Two-Channel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359640" y="693360"/>
            <a:ext cx="2419920" cy="1138320"/>
          </a:xfrm>
          <a:custGeom>
            <a:avLst/>
            <a:gdLst/>
            <a:ahLst/>
            <a:rect l="0" t="0" r="r" b="b"/>
            <a:pathLst>
              <a:path w="6722" h="3162">
                <a:moveTo>
                  <a:pt x="0" y="2986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8"/>
                  <a:pt x="6722" y="175"/>
                </a:cubicBezTo>
                <a:lnTo>
                  <a:pt x="6722" y="2986"/>
                </a:lnTo>
                <a:cubicBezTo>
                  <a:pt x="6722" y="3083"/>
                  <a:pt x="6643" y="3162"/>
                  <a:pt x="6546" y="3162"/>
                </a:cubicBezTo>
                <a:lnTo>
                  <a:pt x="176" y="3162"/>
                </a:lnTo>
                <a:cubicBezTo>
                  <a:pt x="79" y="3162"/>
                  <a:pt x="0" y="3083"/>
                  <a:pt x="0" y="2986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372600" y="923400"/>
            <a:ext cx="2394000" cy="895320"/>
          </a:xfrm>
          <a:custGeom>
            <a:avLst/>
            <a:gdLst/>
            <a:ahLst/>
            <a:rect l="0" t="0" r="r" b="b"/>
            <a:pathLst>
              <a:path w="6650" h="2487">
                <a:moveTo>
                  <a:pt x="0" y="2347"/>
                </a:moveTo>
                <a:lnTo>
                  <a:pt x="0" y="0"/>
                </a:lnTo>
                <a:lnTo>
                  <a:pt x="6650" y="0"/>
                </a:lnTo>
                <a:lnTo>
                  <a:pt x="6650" y="2347"/>
                </a:lnTo>
                <a:cubicBezTo>
                  <a:pt x="6650" y="2425"/>
                  <a:pt x="6587" y="2487"/>
                  <a:pt x="6510" y="2487"/>
                </a:cubicBezTo>
                <a:lnTo>
                  <a:pt x="140" y="2487"/>
                </a:lnTo>
                <a:cubicBezTo>
                  <a:pt x="63" y="2487"/>
                  <a:pt x="0" y="2425"/>
                  <a:pt x="0" y="2347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4231800" y="42120"/>
            <a:ext cx="66816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Theory)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459360" y="7030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+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666360" y="690120"/>
            <a:ext cx="106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LMSans12"/>
                <a:ea typeface="LMSans12"/>
              </a:rPr>
              <a:t>Positive channels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459360" y="951120"/>
            <a:ext cx="1511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Household reallocation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alcohol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023920" y="951120"/>
            <a:ext cx="505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expenditure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572200" y="9597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59360" y="1071360"/>
            <a:ext cx="1070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food, education, savings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459360" y="1229400"/>
            <a:ext cx="221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Productivity gains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fewer alcohol-related work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459360" y="1349640"/>
            <a:ext cx="1349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absences, accidents, morbidity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59360" y="1507680"/>
            <a:ext cx="1847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Public-health spillovers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lower hospital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358360" y="1507680"/>
            <a:ext cx="317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trauma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359640" y="2104560"/>
            <a:ext cx="2419920" cy="1330200"/>
          </a:xfrm>
          <a:custGeom>
            <a:avLst/>
            <a:gdLst/>
            <a:ahLst/>
            <a:rect l="0" t="0" r="r" b="b"/>
            <a:pathLst>
              <a:path w="6722" h="3695">
                <a:moveTo>
                  <a:pt x="0" y="3520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9"/>
                  <a:pt x="6722" y="176"/>
                </a:cubicBezTo>
                <a:lnTo>
                  <a:pt x="6722" y="3520"/>
                </a:lnTo>
                <a:cubicBezTo>
                  <a:pt x="6722" y="3617"/>
                  <a:pt x="6643" y="3695"/>
                  <a:pt x="6546" y="3695"/>
                </a:cubicBezTo>
                <a:lnTo>
                  <a:pt x="176" y="3695"/>
                </a:lnTo>
                <a:cubicBezTo>
                  <a:pt x="79" y="3695"/>
                  <a:pt x="0" y="3617"/>
                  <a:pt x="0" y="3520"/>
                </a:cubicBezTo>
                <a:close/>
              </a:path>
            </a:pathLst>
          </a:custGeom>
          <a:solidFill>
            <a:srgbClr val="f5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372600" y="2336760"/>
            <a:ext cx="2394000" cy="1085400"/>
          </a:xfrm>
          <a:custGeom>
            <a:avLst/>
            <a:gdLst/>
            <a:ahLst/>
            <a:rect l="0" t="0" r="r" b="b"/>
            <a:pathLst>
              <a:path w="6650" h="3015">
                <a:moveTo>
                  <a:pt x="0" y="2875"/>
                </a:moveTo>
                <a:lnTo>
                  <a:pt x="0" y="0"/>
                </a:lnTo>
                <a:lnTo>
                  <a:pt x="6650" y="0"/>
                </a:lnTo>
                <a:lnTo>
                  <a:pt x="6650" y="2875"/>
                </a:lnTo>
                <a:cubicBezTo>
                  <a:pt x="6650" y="2952"/>
                  <a:pt x="6587" y="3015"/>
                  <a:pt x="6510" y="3015"/>
                </a:cubicBezTo>
                <a:lnTo>
                  <a:pt x="140" y="3015"/>
                </a:lnTo>
                <a:cubicBezTo>
                  <a:pt x="63" y="3015"/>
                  <a:pt x="0" y="2952"/>
                  <a:pt x="0" y="2875"/>
                </a:cubicBezTo>
                <a:close/>
              </a:path>
            </a:pathLst>
          </a:custGeom>
          <a:solidFill>
            <a:srgbClr val="fd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59360" y="1627920"/>
            <a:ext cx="185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load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59360" y="209664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−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66360" y="2083680"/>
            <a:ext cx="1116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LMSans12"/>
                <a:ea typeface="LMSans12"/>
              </a:rPr>
              <a:t>Negative channels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459360" y="2376360"/>
            <a:ext cx="608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Excise loss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112400" y="2385000"/>
            <a:ext cx="160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∼</a:t>
            </a:r>
            <a:r>
              <a:rPr b="0" lang="en-US" sz="790" spc="-1" strike="noStrike">
                <a:solidFill>
                  <a:srgbClr val="000000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1277280" y="2376360"/>
            <a:ext cx="1416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4,000 Cr/yr in lost public invest-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459360" y="2496600"/>
            <a:ext cx="226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ment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459360" y="2655000"/>
            <a:ext cx="177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Hospitality contraction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restaurants,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2396160" y="2655000"/>
            <a:ext cx="294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hotels,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459360" y="2775240"/>
            <a:ext cx="334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tourism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459360" y="2933280"/>
            <a:ext cx="2176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Bootlegging / shadow economy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activity un-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459360" y="3053520"/>
            <a:ext cx="875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measured by NSDP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58" name="" descr=""/>
          <p:cNvPicPr/>
          <p:nvPr/>
        </p:nvPicPr>
        <p:blipFill>
          <a:blip r:embed="rId1"/>
          <a:stretch/>
        </p:blipFill>
        <p:spPr>
          <a:xfrm>
            <a:off x="2980800" y="534240"/>
            <a:ext cx="2418840" cy="1082880"/>
          </a:xfrm>
          <a:prstGeom prst="rect">
            <a:avLst/>
          </a:prstGeom>
          <a:ln w="0">
            <a:noFill/>
          </a:ln>
        </p:spPr>
      </p:pic>
      <p:sp>
        <p:nvSpPr>
          <p:cNvPr id="759" name=""/>
          <p:cNvSpPr txBox="1"/>
          <p:nvPr/>
        </p:nvSpPr>
        <p:spPr>
          <a:xfrm>
            <a:off x="459360" y="3211560"/>
            <a:ext cx="1898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Compliance cost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police, courts, prisons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981160" y="1658880"/>
            <a:ext cx="340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Donors: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3370320" y="1658880"/>
            <a:ext cx="2030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Odisha 0.66</a:t>
            </a:r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, Rajasthan 0.32, Jharkhand 0.03.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18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765" name="" descr=""/>
          <p:cNvPicPr/>
          <p:nvPr/>
        </p:nvPicPr>
        <p:blipFill>
          <a:blip r:embed="rId1"/>
          <a:stretch/>
        </p:blipFill>
        <p:spPr>
          <a:xfrm>
            <a:off x="360000" y="508320"/>
            <a:ext cx="2469240" cy="1105560"/>
          </a:xfrm>
          <a:prstGeom prst="rect">
            <a:avLst/>
          </a:prstGeom>
          <a:ln w="0">
            <a:noFill/>
          </a:ln>
        </p:spPr>
      </p:pic>
      <p:sp>
        <p:nvSpPr>
          <p:cNvPr id="766" name=""/>
          <p:cNvSpPr txBox="1"/>
          <p:nvPr/>
        </p:nvSpPr>
        <p:spPr>
          <a:xfrm>
            <a:off x="108000" y="42120"/>
            <a:ext cx="23857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Growth — Placebo &amp; BSTS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67" name="" descr=""/>
          <p:cNvPicPr/>
          <p:nvPr/>
        </p:nvPicPr>
        <p:blipFill>
          <a:blip r:embed="rId2"/>
          <a:stretch/>
        </p:blipFill>
        <p:spPr>
          <a:xfrm>
            <a:off x="2930400" y="508320"/>
            <a:ext cx="2469240" cy="1105560"/>
          </a:xfrm>
          <a:prstGeom prst="rect">
            <a:avLst/>
          </a:prstGeom>
          <a:ln w="0">
            <a:noFill/>
          </a:ln>
        </p:spPr>
      </p:pic>
      <p:sp>
        <p:nvSpPr>
          <p:cNvPr id="768" name=""/>
          <p:cNvSpPr txBox="1"/>
          <p:nvPr/>
        </p:nvSpPr>
        <p:spPr>
          <a:xfrm>
            <a:off x="774720" y="1643040"/>
            <a:ext cx="1631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In-space placebo — Bihar rank 6/14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3163320" y="1643040"/>
            <a:ext cx="298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SCM (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3463200" y="16516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3547080" y="164304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3600720" y="16516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3630600" y="1643040"/>
            <a:ext cx="934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99 pp/yr) vs BSTS (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4571640" y="16516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4655520" y="164304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4709160" y="16516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359640" y="1966680"/>
            <a:ext cx="5040720" cy="964080"/>
          </a:xfrm>
          <a:custGeom>
            <a:avLst/>
            <a:gdLst/>
            <a:ahLst/>
            <a:rect l="0" t="0" r="r" b="b"/>
            <a:pathLst>
              <a:path w="14002" h="2678">
                <a:moveTo>
                  <a:pt x="0" y="2502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9"/>
                  <a:pt x="14002" y="176"/>
                </a:cubicBezTo>
                <a:lnTo>
                  <a:pt x="14002" y="2502"/>
                </a:lnTo>
                <a:cubicBezTo>
                  <a:pt x="14002" y="2599"/>
                  <a:pt x="13923" y="2678"/>
                  <a:pt x="13826" y="2678"/>
                </a:cubicBezTo>
                <a:lnTo>
                  <a:pt x="176" y="2678"/>
                </a:lnTo>
                <a:cubicBezTo>
                  <a:pt x="79" y="2678"/>
                  <a:pt x="0" y="2599"/>
                  <a:pt x="0" y="2502"/>
                </a:cubicBezTo>
                <a:close/>
              </a:path>
            </a:pathLst>
          </a:custGeom>
          <a:solidFill>
            <a:srgbClr val="f5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372600" y="1979640"/>
            <a:ext cx="5015160" cy="938520"/>
          </a:xfrm>
          <a:custGeom>
            <a:avLst/>
            <a:gdLst/>
            <a:ahLst/>
            <a:rect l="0" t="0" r="r" b="b"/>
            <a:pathLst>
              <a:path w="13931" h="2607">
                <a:moveTo>
                  <a:pt x="0" y="2466"/>
                </a:moveTo>
                <a:lnTo>
                  <a:pt x="0" y="140"/>
                </a:lnTo>
                <a:cubicBezTo>
                  <a:pt x="0" y="62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2"/>
                  <a:pt x="13931" y="140"/>
                </a:cubicBezTo>
                <a:lnTo>
                  <a:pt x="13931" y="2466"/>
                </a:lnTo>
                <a:cubicBezTo>
                  <a:pt x="13931" y="2544"/>
                  <a:pt x="13868" y="2607"/>
                  <a:pt x="13790" y="2607"/>
                </a:cubicBezTo>
                <a:lnTo>
                  <a:pt x="140" y="2607"/>
                </a:lnTo>
                <a:cubicBezTo>
                  <a:pt x="63" y="2607"/>
                  <a:pt x="0" y="2544"/>
                  <a:pt x="0" y="2466"/>
                </a:cubicBezTo>
                <a:close/>
              </a:path>
            </a:pathLst>
          </a:custGeom>
          <a:solidFill>
            <a:srgbClr val="fd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4739040" y="1643040"/>
            <a:ext cx="433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28 pp/yr)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459360" y="1995840"/>
            <a:ext cx="1393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Honest interpretation.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1907280" y="1995840"/>
            <a:ext cx="2160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Both methods point to Bihar growing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4110480" y="200772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∼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4218120" y="1995840"/>
            <a:ext cx="10994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3–4 pp/year</a:t>
            </a:r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slower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459360" y="2167920"/>
            <a:ext cx="39736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than its counterfactual, consistent with negative channels dominating.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4515480" y="2167920"/>
            <a:ext cx="7808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dc823c"/>
                </a:solidFill>
                <a:latin typeface="LMSans10"/>
                <a:ea typeface="LMSans10"/>
              </a:rPr>
              <a:t>But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the SCM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59360" y="2340000"/>
            <a:ext cx="1323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permutation</a:t>
            </a:r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p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-value is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1849680" y="235152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≈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980360" y="2340000"/>
            <a:ext cx="33015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0.43 (rank 6/14) and the BSTS relies on a single-donor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459360" y="2512080"/>
            <a:ext cx="23353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regression to avoid catastrophic overfit.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2861640" y="2512080"/>
            <a:ext cx="24408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Direction is suggestive; significance is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459360" y="2684160"/>
            <a:ext cx="2523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not.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19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359640" y="454680"/>
            <a:ext cx="5040000" cy="0"/>
          </a:xfrm>
          <a:prstGeom prst="line">
            <a:avLst/>
          </a:prstGeom>
          <a:ln w="1188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284040" y="504360"/>
            <a:ext cx="1461960" cy="258480"/>
          </a:xfrm>
          <a:custGeom>
            <a:avLst/>
            <a:gdLst/>
            <a:ahLst/>
            <a:rect l="0" t="0" r="r" b="b"/>
            <a:pathLst>
              <a:path w="4061" h="718">
                <a:moveTo>
                  <a:pt x="0" y="718"/>
                </a:moveTo>
                <a:lnTo>
                  <a:pt x="4061" y="718"/>
                </a:lnTo>
                <a:lnTo>
                  <a:pt x="4061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108000" y="42120"/>
            <a:ext cx="212688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Cross-Outcome Synthesis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1745640" y="504360"/>
            <a:ext cx="1438560" cy="258480"/>
          </a:xfrm>
          <a:custGeom>
            <a:avLst/>
            <a:gdLst/>
            <a:ahLst/>
            <a:rect l="0" t="0" r="r" b="b"/>
            <a:pathLst>
              <a:path w="3996" h="718">
                <a:moveTo>
                  <a:pt x="0" y="718"/>
                </a:moveTo>
                <a:lnTo>
                  <a:pt x="3996" y="718"/>
                </a:lnTo>
                <a:lnTo>
                  <a:pt x="3996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360000" y="464760"/>
            <a:ext cx="528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Outcome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3183840" y="504360"/>
            <a:ext cx="824400" cy="258480"/>
          </a:xfrm>
          <a:custGeom>
            <a:avLst/>
            <a:gdLst/>
            <a:ahLst/>
            <a:rect l="0" t="0" r="r" b="b"/>
            <a:pathLst>
              <a:path w="2290" h="718">
                <a:moveTo>
                  <a:pt x="0" y="718"/>
                </a:moveTo>
                <a:lnTo>
                  <a:pt x="2290" y="718"/>
                </a:lnTo>
                <a:lnTo>
                  <a:pt x="2290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1821600" y="571320"/>
            <a:ext cx="5310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Direction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4007880" y="504360"/>
            <a:ext cx="538920" cy="258480"/>
          </a:xfrm>
          <a:custGeom>
            <a:avLst/>
            <a:gdLst/>
            <a:ahLst/>
            <a:rect l="0" t="0" r="r" b="b"/>
            <a:pathLst>
              <a:path w="1497" h="718">
                <a:moveTo>
                  <a:pt x="0" y="718"/>
                </a:moveTo>
                <a:lnTo>
                  <a:pt x="1497" y="718"/>
                </a:lnTo>
                <a:lnTo>
                  <a:pt x="1497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3436200" y="464760"/>
            <a:ext cx="4975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Avg / yr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4546440" y="504360"/>
            <a:ext cx="489600" cy="258480"/>
          </a:xfrm>
          <a:custGeom>
            <a:avLst/>
            <a:gdLst/>
            <a:ahLst/>
            <a:rect l="0" t="0" r="r" b="b"/>
            <a:pathLst>
              <a:path w="1360" h="718">
                <a:moveTo>
                  <a:pt x="0" y="718"/>
                </a:moveTo>
                <a:lnTo>
                  <a:pt x="1360" y="718"/>
                </a:lnTo>
                <a:lnTo>
                  <a:pt x="1360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4162320" y="464760"/>
            <a:ext cx="3085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Ratio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5035680" y="504360"/>
            <a:ext cx="440280" cy="258480"/>
          </a:xfrm>
          <a:custGeom>
            <a:avLst/>
            <a:gdLst/>
            <a:ahLst/>
            <a:rect l="0" t="0" r="r" b="b"/>
            <a:pathLst>
              <a:path w="1223" h="718">
                <a:moveTo>
                  <a:pt x="0" y="718"/>
                </a:moveTo>
                <a:lnTo>
                  <a:pt x="1223" y="718"/>
                </a:lnTo>
                <a:lnTo>
                  <a:pt x="1223" y="0"/>
                </a:lnTo>
                <a:lnTo>
                  <a:pt x="0" y="0"/>
                </a:lnTo>
                <a:lnTo>
                  <a:pt x="0" y="71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4666680" y="464760"/>
            <a:ext cx="293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Rank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359640" y="793080"/>
            <a:ext cx="5040000" cy="0"/>
          </a:xfrm>
          <a:prstGeom prst="line">
            <a:avLst/>
          </a:prstGeom>
          <a:ln w="720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5111640" y="464760"/>
            <a:ext cx="1260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p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60000" y="801360"/>
            <a:ext cx="11329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Road-accident deaths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1821600" y="8121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↓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1938600" y="801360"/>
            <a:ext cx="2383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then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2229840" y="8121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↑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346840" y="801360"/>
            <a:ext cx="456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(reversal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2855520" y="801360"/>
            <a:ext cx="2703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post-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1821600" y="952920"/>
            <a:ext cx="3024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2018)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3259800" y="801360"/>
            <a:ext cx="6728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+360 deaths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4084200" y="801360"/>
            <a:ext cx="2887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22.87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4372200" y="8121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×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4622400" y="801360"/>
            <a:ext cx="3376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2 / 14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5112000" y="801360"/>
            <a:ext cx="2887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0.071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360000" y="1104840"/>
            <a:ext cx="8953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Own tax revenue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1821600" y="111564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↓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927080" y="1104840"/>
            <a:ext cx="6652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(attenuated)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3279240" y="1115640"/>
            <a:ext cx="2034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−</a:t>
            </a:r>
            <a:r>
              <a:rPr b="0" lang="en-US" sz="989" spc="-1" strike="noStrike">
                <a:solidFill>
                  <a:srgbClr val="0a3a66"/>
                </a:solidFill>
                <a:latin typeface="Font Awesome 5 Free Solid"/>
                <a:ea typeface="Font Awesome 5 Free Solid"/>
              </a:rPr>
              <a:t>Ñ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3477960" y="1104840"/>
            <a:ext cx="4550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2,017 Cr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4147200" y="1104840"/>
            <a:ext cx="2246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3.16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4372200" y="111564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×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4833360" y="1104840"/>
            <a:ext cx="2948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— —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360000" y="1256760"/>
            <a:ext cx="13096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NSDP per-capita growth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1821600" y="12675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↓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1927080" y="1256760"/>
            <a:ext cx="6332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(suggestive)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3436200" y="12675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−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534480" y="12567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2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3597840" y="12675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3632760" y="1256760"/>
            <a:ext cx="2995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99 pp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084200" y="1256760"/>
            <a:ext cx="2887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83.86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4372200" y="12675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a3a66"/>
                </a:solidFill>
                <a:latin typeface="LMMathSymbols10"/>
                <a:ea typeface="LMMathSymbols10"/>
              </a:rPr>
              <a:t>×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4622400" y="1256760"/>
            <a:ext cx="3376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6 / 14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359640" y="1481040"/>
            <a:ext cx="5040000" cy="0"/>
          </a:xfrm>
          <a:prstGeom prst="line">
            <a:avLst/>
          </a:prstGeom>
          <a:ln w="1188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-5760" bIns="-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359640" y="1773720"/>
            <a:ext cx="2419920" cy="1449360"/>
          </a:xfrm>
          <a:custGeom>
            <a:avLst/>
            <a:gdLst/>
            <a:ahLst/>
            <a:rect l="0" t="0" r="r" b="b"/>
            <a:pathLst>
              <a:path w="6722" h="4026">
                <a:moveTo>
                  <a:pt x="0" y="3851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8"/>
                  <a:pt x="6722" y="175"/>
                </a:cubicBezTo>
                <a:lnTo>
                  <a:pt x="6722" y="3851"/>
                </a:lnTo>
                <a:cubicBezTo>
                  <a:pt x="6722" y="3948"/>
                  <a:pt x="6643" y="4026"/>
                  <a:pt x="6546" y="4026"/>
                </a:cubicBezTo>
                <a:lnTo>
                  <a:pt x="176" y="4026"/>
                </a:lnTo>
                <a:cubicBezTo>
                  <a:pt x="79" y="4026"/>
                  <a:pt x="0" y="3948"/>
                  <a:pt x="0" y="3851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372600" y="1993320"/>
            <a:ext cx="2394000" cy="1217160"/>
          </a:xfrm>
          <a:custGeom>
            <a:avLst/>
            <a:gdLst/>
            <a:ahLst/>
            <a:rect l="0" t="0" r="r" b="b"/>
            <a:pathLst>
              <a:path w="6650" h="3381">
                <a:moveTo>
                  <a:pt x="0" y="3241"/>
                </a:moveTo>
                <a:lnTo>
                  <a:pt x="0" y="0"/>
                </a:lnTo>
                <a:lnTo>
                  <a:pt x="6650" y="0"/>
                </a:lnTo>
                <a:lnTo>
                  <a:pt x="6650" y="3241"/>
                </a:lnTo>
                <a:cubicBezTo>
                  <a:pt x="6650" y="3318"/>
                  <a:pt x="6587" y="3381"/>
                  <a:pt x="6510" y="3381"/>
                </a:cubicBezTo>
                <a:lnTo>
                  <a:pt x="140" y="3381"/>
                </a:lnTo>
                <a:cubicBezTo>
                  <a:pt x="63" y="3381"/>
                  <a:pt x="0" y="3318"/>
                  <a:pt x="0" y="3241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5112000" y="1256760"/>
            <a:ext cx="2246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0.43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459360" y="179604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¥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649080" y="1785240"/>
            <a:ext cx="10202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What we can claim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618840" y="2040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756720" y="2031840"/>
            <a:ext cx="1477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Significant short-run reduction in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756720" y="2152080"/>
            <a:ext cx="1918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road-accident deaths (2016–17), evident in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756720" y="2272320"/>
            <a:ext cx="954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both SCM and BSTS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18840" y="24645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756720" y="2455920"/>
            <a:ext cx="1530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Composite own-tax revenue gap is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56720" y="2576160"/>
            <a:ext cx="848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consistent with the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640520" y="2584800"/>
            <a:ext cx="160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∼</a:t>
            </a:r>
            <a:r>
              <a:rPr b="0" lang="en-US" sz="790" spc="-1" strike="noStrike">
                <a:solidFill>
                  <a:srgbClr val="0a3a66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1805400" y="2576160"/>
            <a:ext cx="874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4,000 Cr excise loss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18840" y="2768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752760" y="2759400"/>
            <a:ext cx="19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Three outcomes paint a coherent picture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756720" y="2879640"/>
            <a:ext cx="1000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safety up briefly, fiscal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784880" y="2879640"/>
            <a:ext cx="668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capacity down,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2980800" y="1773720"/>
            <a:ext cx="2419560" cy="1214640"/>
          </a:xfrm>
          <a:custGeom>
            <a:avLst/>
            <a:gdLst/>
            <a:ahLst/>
            <a:rect l="0" t="0" r="r" b="b"/>
            <a:pathLst>
              <a:path w="6721" h="3374">
                <a:moveTo>
                  <a:pt x="0" y="3198"/>
                </a:moveTo>
                <a:lnTo>
                  <a:pt x="0" y="176"/>
                </a:lnTo>
                <a:cubicBezTo>
                  <a:pt x="0" y="78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8"/>
                  <a:pt x="6721" y="176"/>
                </a:cubicBezTo>
                <a:lnTo>
                  <a:pt x="6721" y="3198"/>
                </a:lnTo>
                <a:cubicBezTo>
                  <a:pt x="6721" y="3295"/>
                  <a:pt x="6642" y="3374"/>
                  <a:pt x="6545" y="3374"/>
                </a:cubicBezTo>
                <a:lnTo>
                  <a:pt x="175" y="3374"/>
                </a:lnTo>
                <a:cubicBezTo>
                  <a:pt x="78" y="3374"/>
                  <a:pt x="0" y="3295"/>
                  <a:pt x="0" y="3198"/>
                </a:cubicBezTo>
                <a:close/>
              </a:path>
            </a:pathLst>
          </a:custGeom>
          <a:solidFill>
            <a:srgbClr val="f5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2993400" y="1993320"/>
            <a:ext cx="2394000" cy="982440"/>
          </a:xfrm>
          <a:custGeom>
            <a:avLst/>
            <a:gdLst/>
            <a:ahLst/>
            <a:rect l="0" t="0" r="r" b="b"/>
            <a:pathLst>
              <a:path w="6650" h="2729">
                <a:moveTo>
                  <a:pt x="0" y="2588"/>
                </a:moveTo>
                <a:lnTo>
                  <a:pt x="0" y="0"/>
                </a:lnTo>
                <a:lnTo>
                  <a:pt x="6650" y="0"/>
                </a:lnTo>
                <a:lnTo>
                  <a:pt x="6650" y="2588"/>
                </a:lnTo>
                <a:cubicBezTo>
                  <a:pt x="6650" y="2666"/>
                  <a:pt x="6587" y="2729"/>
                  <a:pt x="6510" y="2729"/>
                </a:cubicBezTo>
                <a:lnTo>
                  <a:pt x="140" y="2729"/>
                </a:lnTo>
                <a:cubicBezTo>
                  <a:pt x="63" y="2729"/>
                  <a:pt x="0" y="2666"/>
                  <a:pt x="0" y="2588"/>
                </a:cubicBezTo>
                <a:close/>
              </a:path>
            </a:pathLst>
          </a:custGeom>
          <a:solidFill>
            <a:srgbClr val="fd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756720" y="2999880"/>
            <a:ext cx="764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growth headwind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3080160" y="179604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q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3269880" y="1785240"/>
            <a:ext cx="11955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What we cannot claim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3240000" y="2040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3377520" y="2031840"/>
            <a:ext cx="1887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Long-run reduction in road deaths — effect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3377520" y="2152080"/>
            <a:ext cx="695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reverses sharply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3240000" y="2344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3377520" y="2335680"/>
            <a:ext cx="1643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Pure-excise impact (composite proxy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3377520" y="2455920"/>
            <a:ext cx="50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attenuates)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3240000" y="26478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3377520" y="2639160"/>
            <a:ext cx="1628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Statistically significant growth effect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3373200" y="27594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(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3504960" y="2768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618360" y="27594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672360" y="2768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702240" y="2759400"/>
            <a:ext cx="343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43, well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080960" y="2759400"/>
            <a:ext cx="523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above 0.05)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20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881" name="" descr=""/>
          <p:cNvPicPr/>
          <p:nvPr/>
        </p:nvPicPr>
        <p:blipFill>
          <a:blip r:embed="rId1"/>
          <a:stretch/>
        </p:blipFill>
        <p:spPr>
          <a:xfrm>
            <a:off x="360000" y="498240"/>
            <a:ext cx="2469240" cy="1105200"/>
          </a:xfrm>
          <a:prstGeom prst="rect">
            <a:avLst/>
          </a:prstGeom>
          <a:ln w="0">
            <a:noFill/>
          </a:ln>
        </p:spPr>
      </p:pic>
      <p:sp>
        <p:nvSpPr>
          <p:cNvPr id="882" name=""/>
          <p:cNvSpPr txBox="1"/>
          <p:nvPr/>
        </p:nvSpPr>
        <p:spPr>
          <a:xfrm>
            <a:off x="108000" y="42120"/>
            <a:ext cx="38930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Robustness — In-Time Placebo &amp; Spec Curve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711360" y="1632600"/>
            <a:ext cx="1675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False treatment in 2015 — ratio 0.42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2"/>
          <a:stretch/>
        </p:blipFill>
        <p:spPr>
          <a:xfrm>
            <a:off x="2930400" y="498240"/>
            <a:ext cx="2469240" cy="17006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 txBox="1"/>
          <p:nvPr/>
        </p:nvSpPr>
        <p:spPr>
          <a:xfrm>
            <a:off x="2394360" y="1641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356640" y="2227680"/>
            <a:ext cx="1262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7 specifications, 6 with ratio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666320" y="2236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Italic8"/>
                <a:ea typeface="LMMathItalic8"/>
              </a:rPr>
              <a:t>&gt;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4780080" y="222768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359640" y="2545920"/>
            <a:ext cx="5040720" cy="766800"/>
          </a:xfrm>
          <a:custGeom>
            <a:avLst/>
            <a:gdLst/>
            <a:ahLst/>
            <a:rect l="0" t="0" r="r" b="b"/>
            <a:pathLst>
              <a:path w="14002" h="2130">
                <a:moveTo>
                  <a:pt x="0" y="1954"/>
                </a:moveTo>
                <a:lnTo>
                  <a:pt x="0" y="176"/>
                </a:lnTo>
                <a:cubicBezTo>
                  <a:pt x="0" y="78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8"/>
                  <a:pt x="14002" y="176"/>
                </a:cubicBezTo>
                <a:lnTo>
                  <a:pt x="14002" y="1954"/>
                </a:lnTo>
                <a:cubicBezTo>
                  <a:pt x="14002" y="2051"/>
                  <a:pt x="13923" y="2130"/>
                  <a:pt x="13826" y="2130"/>
                </a:cubicBezTo>
                <a:lnTo>
                  <a:pt x="176" y="2130"/>
                </a:lnTo>
                <a:cubicBezTo>
                  <a:pt x="79" y="2130"/>
                  <a:pt x="0" y="2051"/>
                  <a:pt x="0" y="1954"/>
                </a:cubicBezTo>
                <a:close/>
              </a:path>
            </a:pathLst>
          </a:custGeom>
          <a:solidFill>
            <a:srgbClr val="64d6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372600" y="2558520"/>
            <a:ext cx="5015160" cy="741600"/>
          </a:xfrm>
          <a:custGeom>
            <a:avLst/>
            <a:gdLst/>
            <a:ahLst/>
            <a:rect l="0" t="0" r="r" b="b"/>
            <a:pathLst>
              <a:path w="13931" h="2060">
                <a:moveTo>
                  <a:pt x="0" y="1919"/>
                </a:moveTo>
                <a:lnTo>
                  <a:pt x="0" y="142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2"/>
                </a:cubicBezTo>
                <a:lnTo>
                  <a:pt x="13931" y="1919"/>
                </a:lnTo>
                <a:cubicBezTo>
                  <a:pt x="13931" y="1997"/>
                  <a:pt x="13868" y="2060"/>
                  <a:pt x="13790" y="2060"/>
                </a:cubicBezTo>
                <a:lnTo>
                  <a:pt x="140" y="2060"/>
                </a:lnTo>
                <a:cubicBezTo>
                  <a:pt x="63" y="2060"/>
                  <a:pt x="0" y="1997"/>
                  <a:pt x="0" y="1919"/>
                </a:cubicBezTo>
                <a:close/>
              </a:path>
            </a:pathLst>
          </a:custGeom>
          <a:solidFill>
            <a:srgbClr val="e4f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887360" y="2236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59360" y="2590200"/>
            <a:ext cx="10371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In-time placebo (left).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1558440" y="2590200"/>
            <a:ext cx="2359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Pretend treatment occurred in 2015 instead of 2016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3981240" y="25988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4125240" y="2590200"/>
            <a:ext cx="1163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RMSPE ratio collapses to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459360" y="2710440"/>
            <a:ext cx="189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0.42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650520" y="27190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770040" y="2710440"/>
            <a:ext cx="439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(vs. 22.87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1213200" y="27190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1332720" y="2710440"/>
            <a:ext cx="496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for the real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1864800" y="271044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2016).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2199240" y="2710440"/>
            <a:ext cx="7948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No false positive.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459360" y="2868840"/>
            <a:ext cx="12535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Specification curve (right).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1777320" y="2868840"/>
            <a:ext cx="3368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 of 7 alternative specs (different predictor sets / donor pools) yield ratios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17120" y="2877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&gt;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480" y="298908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17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63760" y="2997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83280" y="2989080"/>
            <a:ext cx="2605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and average effects in the range +354 to +469 deaths/yr.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3346200" y="2989080"/>
            <a:ext cx="1192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 literacy-only spec (+1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4546080" y="2997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4575960" y="2989080"/>
            <a:ext cx="721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205) is excluded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459360" y="3108960"/>
            <a:ext cx="581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as an outlier.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21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359640" y="863280"/>
            <a:ext cx="2419920" cy="1071720"/>
          </a:xfrm>
          <a:custGeom>
            <a:avLst/>
            <a:gdLst/>
            <a:ahLst/>
            <a:rect l="0" t="0" r="r" b="b"/>
            <a:pathLst>
              <a:path w="6722" h="2977">
                <a:moveTo>
                  <a:pt x="0" y="2801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79"/>
                  <a:pt x="6722" y="176"/>
                </a:cubicBezTo>
                <a:lnTo>
                  <a:pt x="6722" y="2801"/>
                </a:lnTo>
                <a:cubicBezTo>
                  <a:pt x="6722" y="2898"/>
                  <a:pt x="6643" y="2977"/>
                  <a:pt x="6546" y="2977"/>
                </a:cubicBezTo>
                <a:lnTo>
                  <a:pt x="176" y="2977"/>
                </a:lnTo>
                <a:cubicBezTo>
                  <a:pt x="79" y="2977"/>
                  <a:pt x="0" y="2898"/>
                  <a:pt x="0" y="280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372600" y="875880"/>
            <a:ext cx="2394000" cy="1046520"/>
          </a:xfrm>
          <a:custGeom>
            <a:avLst/>
            <a:gdLst/>
            <a:ahLst/>
            <a:rect l="0" t="0" r="r" b="b"/>
            <a:pathLst>
              <a:path w="6650" h="2907">
                <a:moveTo>
                  <a:pt x="0" y="2766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2766"/>
                </a:lnTo>
                <a:cubicBezTo>
                  <a:pt x="6650" y="2844"/>
                  <a:pt x="6587" y="2907"/>
                  <a:pt x="6510" y="2907"/>
                </a:cubicBezTo>
                <a:lnTo>
                  <a:pt x="140" y="2907"/>
                </a:lnTo>
                <a:cubicBezTo>
                  <a:pt x="63" y="2907"/>
                  <a:pt x="0" y="2844"/>
                  <a:pt x="0" y="2766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108000" y="42120"/>
            <a:ext cx="9288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Limitations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618840" y="923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756720" y="914400"/>
            <a:ext cx="1355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NSDP T19 starts FY 2011–12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2153880" y="923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2297520" y="914400"/>
            <a:ext cx="272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only 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56720" y="1034640"/>
            <a:ext cx="1643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pre-period years in matching window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618840" y="1201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56720" y="1193040"/>
            <a:ext cx="1626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Census 2021 delayed; urban share &amp;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56720" y="1312920"/>
            <a:ext cx="1713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literacy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interpolated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from 2011 anchor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18840" y="14799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56720" y="1471320"/>
            <a:ext cx="1585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RBI State Finances excise sub-head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51680" y="1591560"/>
            <a:ext cx="605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WAF-blocked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1387800" y="16002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1531080" y="1591560"/>
            <a:ext cx="1073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composite own-tax used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359640" y="2360160"/>
            <a:ext cx="2419920" cy="951480"/>
          </a:xfrm>
          <a:custGeom>
            <a:avLst/>
            <a:gdLst/>
            <a:ahLst/>
            <a:rect l="0" t="0" r="r" b="b"/>
            <a:pathLst>
              <a:path w="6722" h="2643">
                <a:moveTo>
                  <a:pt x="0" y="2467"/>
                </a:moveTo>
                <a:lnTo>
                  <a:pt x="0" y="177"/>
                </a:lnTo>
                <a:cubicBezTo>
                  <a:pt x="0" y="80"/>
                  <a:pt x="79" y="0"/>
                  <a:pt x="176" y="0"/>
                </a:cubicBezTo>
                <a:lnTo>
                  <a:pt x="6546" y="0"/>
                </a:lnTo>
                <a:cubicBezTo>
                  <a:pt x="6643" y="0"/>
                  <a:pt x="6722" y="80"/>
                  <a:pt x="6722" y="177"/>
                </a:cubicBezTo>
                <a:lnTo>
                  <a:pt x="6722" y="2467"/>
                </a:lnTo>
                <a:cubicBezTo>
                  <a:pt x="6722" y="2564"/>
                  <a:pt x="6643" y="2643"/>
                  <a:pt x="6546" y="2643"/>
                </a:cubicBezTo>
                <a:lnTo>
                  <a:pt x="176" y="2643"/>
                </a:lnTo>
                <a:cubicBezTo>
                  <a:pt x="79" y="2643"/>
                  <a:pt x="0" y="2564"/>
                  <a:pt x="0" y="2467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372600" y="2372760"/>
            <a:ext cx="2394000" cy="925920"/>
          </a:xfrm>
          <a:custGeom>
            <a:avLst/>
            <a:gdLst/>
            <a:ahLst/>
            <a:rect l="0" t="0" r="r" b="b"/>
            <a:pathLst>
              <a:path w="6650" h="2572">
                <a:moveTo>
                  <a:pt x="0" y="2432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2432"/>
                </a:lnTo>
                <a:cubicBezTo>
                  <a:pt x="6650" y="2509"/>
                  <a:pt x="6587" y="2572"/>
                  <a:pt x="6510" y="2572"/>
                </a:cubicBezTo>
                <a:lnTo>
                  <a:pt x="140" y="2572"/>
                </a:lnTo>
                <a:cubicBezTo>
                  <a:pt x="63" y="2572"/>
                  <a:pt x="0" y="2509"/>
                  <a:pt x="0" y="2432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756720" y="1711440"/>
            <a:ext cx="37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as proxy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618840" y="24199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56720" y="2411280"/>
            <a:ext cx="1651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Bihar near edge of donor convex hull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2444760" y="2411280"/>
            <a:ext cx="109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756720" y="2531520"/>
            <a:ext cx="910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income/urbanisation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618840" y="26982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756720" y="2689560"/>
            <a:ext cx="172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COVID-19 (2020–21) is a confounding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56720" y="2809800"/>
            <a:ext cx="544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shock for all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1341360" y="2809800"/>
            <a:ext cx="889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post-2020 estimates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618840" y="2976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756720" y="2967840"/>
            <a:ext cx="1576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Inter-state migration post-2016 not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2980800" y="863280"/>
            <a:ext cx="2419560" cy="1197360"/>
          </a:xfrm>
          <a:custGeom>
            <a:avLst/>
            <a:gdLst/>
            <a:ahLst/>
            <a:rect l="0" t="0" r="r" b="b"/>
            <a:pathLst>
              <a:path w="6721" h="3326">
                <a:moveTo>
                  <a:pt x="0" y="3150"/>
                </a:moveTo>
                <a:lnTo>
                  <a:pt x="0" y="176"/>
                </a:lnTo>
                <a:cubicBezTo>
                  <a:pt x="0" y="79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9"/>
                  <a:pt x="6721" y="176"/>
                </a:cubicBezTo>
                <a:lnTo>
                  <a:pt x="6721" y="3150"/>
                </a:lnTo>
                <a:cubicBezTo>
                  <a:pt x="6721" y="3248"/>
                  <a:pt x="6642" y="3326"/>
                  <a:pt x="6545" y="3326"/>
                </a:cubicBezTo>
                <a:lnTo>
                  <a:pt x="175" y="3326"/>
                </a:lnTo>
                <a:cubicBezTo>
                  <a:pt x="78" y="3326"/>
                  <a:pt x="0" y="3248"/>
                  <a:pt x="0" y="315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2993400" y="875880"/>
            <a:ext cx="2394000" cy="1172160"/>
          </a:xfrm>
          <a:custGeom>
            <a:avLst/>
            <a:gdLst/>
            <a:ahLst/>
            <a:rect l="0" t="0" r="r" b="b"/>
            <a:pathLst>
              <a:path w="6650" h="3256">
                <a:moveTo>
                  <a:pt x="0" y="3115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3115"/>
                </a:lnTo>
                <a:cubicBezTo>
                  <a:pt x="6650" y="3193"/>
                  <a:pt x="6587" y="3256"/>
                  <a:pt x="6510" y="3256"/>
                </a:cubicBezTo>
                <a:lnTo>
                  <a:pt x="140" y="3256"/>
                </a:lnTo>
                <a:cubicBezTo>
                  <a:pt x="63" y="3256"/>
                  <a:pt x="0" y="3193"/>
                  <a:pt x="0" y="3115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756720" y="3088080"/>
            <a:ext cx="386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captured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240000" y="923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3377520" y="914400"/>
            <a:ext cx="939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BSTS overfits with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4324320" y="956520"/>
            <a:ext cx="10584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pre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4463280" y="914400"/>
            <a:ext cx="171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= 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660200" y="923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&lt;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4773960" y="914400"/>
            <a:ext cx="31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J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= 13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5120280" y="9230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77520" y="1049040"/>
            <a:ext cx="6408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max_donors=3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058640" y="1034640"/>
            <a:ext cx="1000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restriction (subjective)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3240000" y="1201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3377520" y="1193040"/>
            <a:ext cx="1869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Growth BSTS uses single donor + shifted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3377520" y="1312920"/>
            <a:ext cx="188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treatment date (2017) — credible interval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3377520" y="1433160"/>
            <a:ext cx="618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reflects model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4038120" y="1433160"/>
            <a:ext cx="1078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constraint, not posterior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3377520" y="1553400"/>
            <a:ext cx="50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uncertainty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3240000" y="17200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3377520" y="1711440"/>
            <a:ext cx="1709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Permutation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p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-values from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J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= 14 are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3377520" y="1831680"/>
            <a:ext cx="407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coarse (1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3785040" y="1840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/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3838680" y="183168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3976200" y="1840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089600" y="183168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4143240" y="1840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2980800" y="2333880"/>
            <a:ext cx="2419560" cy="624240"/>
          </a:xfrm>
          <a:custGeom>
            <a:avLst/>
            <a:gdLst/>
            <a:ahLst/>
            <a:rect l="0" t="0" r="r" b="b"/>
            <a:pathLst>
              <a:path w="6721" h="1734">
                <a:moveTo>
                  <a:pt x="0" y="1558"/>
                </a:moveTo>
                <a:lnTo>
                  <a:pt x="0" y="176"/>
                </a:lnTo>
                <a:cubicBezTo>
                  <a:pt x="0" y="78"/>
                  <a:pt x="78" y="0"/>
                  <a:pt x="175" y="0"/>
                </a:cubicBezTo>
                <a:lnTo>
                  <a:pt x="6545" y="0"/>
                </a:lnTo>
                <a:cubicBezTo>
                  <a:pt x="6642" y="0"/>
                  <a:pt x="6721" y="78"/>
                  <a:pt x="6721" y="176"/>
                </a:cubicBezTo>
                <a:lnTo>
                  <a:pt x="6721" y="1558"/>
                </a:lnTo>
                <a:cubicBezTo>
                  <a:pt x="6721" y="1655"/>
                  <a:pt x="6642" y="1734"/>
                  <a:pt x="6545" y="1734"/>
                </a:cubicBezTo>
                <a:lnTo>
                  <a:pt x="175" y="1734"/>
                </a:lnTo>
                <a:cubicBezTo>
                  <a:pt x="78" y="1734"/>
                  <a:pt x="0" y="1655"/>
                  <a:pt x="0" y="1558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2993400" y="2346480"/>
            <a:ext cx="2394000" cy="598680"/>
          </a:xfrm>
          <a:custGeom>
            <a:avLst/>
            <a:gdLst/>
            <a:ahLst/>
            <a:rect l="0" t="0" r="r" b="b"/>
            <a:pathLst>
              <a:path w="6650" h="1663">
                <a:moveTo>
                  <a:pt x="0" y="1523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510" y="0"/>
                </a:lnTo>
                <a:cubicBezTo>
                  <a:pt x="6587" y="0"/>
                  <a:pt x="6650" y="63"/>
                  <a:pt x="6650" y="141"/>
                </a:cubicBezTo>
                <a:lnTo>
                  <a:pt x="6650" y="1523"/>
                </a:lnTo>
                <a:cubicBezTo>
                  <a:pt x="6650" y="1601"/>
                  <a:pt x="6587" y="1663"/>
                  <a:pt x="6510" y="1663"/>
                </a:cubicBezTo>
                <a:lnTo>
                  <a:pt x="140" y="1663"/>
                </a:lnTo>
                <a:cubicBezTo>
                  <a:pt x="63" y="1663"/>
                  <a:pt x="0" y="1601"/>
                  <a:pt x="0" y="1523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173120" y="1831680"/>
            <a:ext cx="599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07 minimum)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3080160" y="2374200"/>
            <a:ext cx="7534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Honest framing: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3929400" y="237420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221360" y="2374200"/>
            <a:ext cx="1024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is a hard SCM case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3080160" y="2494440"/>
            <a:ext cx="2225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short pre-period, outlier on covariates, COVID con-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3080160" y="2614320"/>
            <a:ext cx="37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founder.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553920" y="2614320"/>
            <a:ext cx="1655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Triangulating SCM and BSTS is the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080160" y="2734560"/>
            <a:ext cx="803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strongest defence.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22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08000" y="42120"/>
            <a:ext cx="13874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Companion Tool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359640" y="1038960"/>
            <a:ext cx="2520720" cy="1726200"/>
          </a:xfrm>
          <a:custGeom>
            <a:avLst/>
            <a:gdLst/>
            <a:ahLst/>
            <a:rect l="0" t="0" r="r" b="b"/>
            <a:pathLst>
              <a:path w="7002" h="4795">
                <a:moveTo>
                  <a:pt x="0" y="4619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6826" y="0"/>
                </a:lnTo>
                <a:cubicBezTo>
                  <a:pt x="6923" y="0"/>
                  <a:pt x="7002" y="79"/>
                  <a:pt x="7002" y="176"/>
                </a:cubicBezTo>
                <a:lnTo>
                  <a:pt x="7002" y="4619"/>
                </a:lnTo>
                <a:cubicBezTo>
                  <a:pt x="7002" y="4716"/>
                  <a:pt x="6923" y="4795"/>
                  <a:pt x="6826" y="4795"/>
                </a:cubicBezTo>
                <a:lnTo>
                  <a:pt x="176" y="4795"/>
                </a:lnTo>
                <a:cubicBezTo>
                  <a:pt x="79" y="4795"/>
                  <a:pt x="0" y="4716"/>
                  <a:pt x="0" y="4619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372600" y="1051560"/>
            <a:ext cx="2494800" cy="1701000"/>
          </a:xfrm>
          <a:custGeom>
            <a:avLst/>
            <a:gdLst/>
            <a:ahLst/>
            <a:rect l="0" t="0" r="r" b="b"/>
            <a:pathLst>
              <a:path w="6930" h="4725">
                <a:moveTo>
                  <a:pt x="0" y="4584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6790" y="0"/>
                </a:lnTo>
                <a:cubicBezTo>
                  <a:pt x="6867" y="0"/>
                  <a:pt x="6930" y="63"/>
                  <a:pt x="6930" y="141"/>
                </a:cubicBezTo>
                <a:lnTo>
                  <a:pt x="6930" y="4584"/>
                </a:lnTo>
                <a:cubicBezTo>
                  <a:pt x="6930" y="4662"/>
                  <a:pt x="6867" y="4725"/>
                  <a:pt x="6790" y="4725"/>
                </a:cubicBezTo>
                <a:lnTo>
                  <a:pt x="140" y="4725"/>
                </a:lnTo>
                <a:cubicBezTo>
                  <a:pt x="63" y="4725"/>
                  <a:pt x="0" y="4662"/>
                  <a:pt x="0" y="4584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546200" y="42120"/>
            <a:ext cx="190260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— </a:t>
            </a:r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Interactive Website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459360" y="1084680"/>
            <a:ext cx="2934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Stack.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810000" y="1084680"/>
            <a:ext cx="1969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FastAPI (Python) backend serving precom-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459360" y="1204920"/>
            <a:ext cx="1838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puted SCM/BSTS JSONs + a live SCM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458080" y="1219320"/>
            <a:ext cx="3207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/refit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59360" y="1325160"/>
            <a:ext cx="1742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endpoint with user- chosen donor pool.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251080" y="1325160"/>
            <a:ext cx="541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Next.js 16 /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59360" y="1445400"/>
            <a:ext cx="2358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React 19 / Tailwind 4 / Recharts / Zustand frontend.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55760" y="1757880"/>
            <a:ext cx="9777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Three outcome tabs.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1595880" y="1757880"/>
            <a:ext cx="713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Road accidents,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2400120" y="1757880"/>
            <a:ext cx="361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own tax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59360" y="1878120"/>
            <a:ext cx="37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revenue,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891360" y="1878120"/>
            <a:ext cx="1806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NSDP growth — each with main chart,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9360" y="1998360"/>
            <a:ext cx="230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gap chart, placebo, donor weights, predictor balance,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59360" y="2118240"/>
            <a:ext cx="86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downloadable CSV.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455760" y="2310480"/>
            <a:ext cx="9547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AI assistant (Gemini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1477440" y="2310480"/>
            <a:ext cx="4701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2.5-flash).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2020680" y="2310480"/>
            <a:ext cx="74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Per-tab dynamic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9360" y="2430720"/>
            <a:ext cx="965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context — the model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1482480" y="2430720"/>
            <a:ext cx="1279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answers questions about the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3081240" y="874800"/>
            <a:ext cx="2319120" cy="1186920"/>
          </a:xfrm>
          <a:custGeom>
            <a:avLst/>
            <a:gdLst/>
            <a:ahLst/>
            <a:rect l="0" t="0" r="r" b="b"/>
            <a:pathLst>
              <a:path w="6442" h="3297">
                <a:moveTo>
                  <a:pt x="0" y="3122"/>
                </a:moveTo>
                <a:lnTo>
                  <a:pt x="0" y="176"/>
                </a:lnTo>
                <a:cubicBezTo>
                  <a:pt x="0" y="79"/>
                  <a:pt x="79" y="0"/>
                  <a:pt x="176" y="0"/>
                </a:cubicBezTo>
                <a:lnTo>
                  <a:pt x="6266" y="0"/>
                </a:lnTo>
                <a:cubicBezTo>
                  <a:pt x="6363" y="0"/>
                  <a:pt x="6442" y="79"/>
                  <a:pt x="6442" y="176"/>
                </a:cubicBezTo>
                <a:lnTo>
                  <a:pt x="6442" y="3122"/>
                </a:lnTo>
                <a:cubicBezTo>
                  <a:pt x="6442" y="3219"/>
                  <a:pt x="6363" y="3297"/>
                  <a:pt x="6266" y="3297"/>
                </a:cubicBezTo>
                <a:lnTo>
                  <a:pt x="176" y="3297"/>
                </a:lnTo>
                <a:cubicBezTo>
                  <a:pt x="79" y="3297"/>
                  <a:pt x="0" y="3219"/>
                  <a:pt x="0" y="3122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3094200" y="1123560"/>
            <a:ext cx="2293200" cy="925560"/>
          </a:xfrm>
          <a:custGeom>
            <a:avLst/>
            <a:gdLst/>
            <a:ahLst/>
            <a:rect l="0" t="0" r="r" b="b"/>
            <a:pathLst>
              <a:path w="6370" h="2571">
                <a:moveTo>
                  <a:pt x="0" y="2431"/>
                </a:moveTo>
                <a:lnTo>
                  <a:pt x="0" y="0"/>
                </a:lnTo>
                <a:lnTo>
                  <a:pt x="6370" y="0"/>
                </a:lnTo>
                <a:lnTo>
                  <a:pt x="6370" y="2431"/>
                </a:lnTo>
                <a:cubicBezTo>
                  <a:pt x="6370" y="2508"/>
                  <a:pt x="6307" y="2571"/>
                  <a:pt x="6230" y="2571"/>
                </a:cubicBezTo>
                <a:lnTo>
                  <a:pt x="140" y="2571"/>
                </a:lnTo>
                <a:cubicBezTo>
                  <a:pt x="62" y="2571"/>
                  <a:pt x="0" y="2508"/>
                  <a:pt x="0" y="2431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459360" y="2550960"/>
            <a:ext cx="2344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active outcome with the correct numbers + caveats.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3180960" y="88344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_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3444840" y="870480"/>
            <a:ext cx="61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LMSans12"/>
                <a:ea typeface="LMSans12"/>
              </a:rPr>
              <a:t>Endpoints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3180960" y="117288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3355560" y="1172880"/>
            <a:ext cx="607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3180960" y="126144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3355560" y="1261440"/>
            <a:ext cx="768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/api/case/bihar/scm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3180960" y="135000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3355560" y="1350000"/>
            <a:ext cx="930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/api/case/bihar/scm/tax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3180960" y="143856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355560" y="1438560"/>
            <a:ext cx="1052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/api/case/bihar/scm/growth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3180960" y="152712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3355560" y="1527120"/>
            <a:ext cx="810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/api/case/bihar/bsts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3180960" y="161568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3355560" y="1615680"/>
            <a:ext cx="971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/api/case/bihar/bsts/tax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3180960" y="170424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3355560" y="1704240"/>
            <a:ext cx="1091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/api/case/bihar/bsts/growth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3180960" y="1792800"/>
            <a:ext cx="1052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POST /api/case/bihar/refit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3081240" y="2316960"/>
            <a:ext cx="2319120" cy="392400"/>
          </a:xfrm>
          <a:custGeom>
            <a:avLst/>
            <a:gdLst/>
            <a:ahLst/>
            <a:rect l="0" t="0" r="r" b="b"/>
            <a:pathLst>
              <a:path w="6442" h="1090">
                <a:moveTo>
                  <a:pt x="0" y="928"/>
                </a:moveTo>
                <a:lnTo>
                  <a:pt x="0" y="162"/>
                </a:lnTo>
                <a:cubicBezTo>
                  <a:pt x="0" y="72"/>
                  <a:pt x="73" y="0"/>
                  <a:pt x="162" y="0"/>
                </a:cubicBezTo>
                <a:lnTo>
                  <a:pt x="6280" y="0"/>
                </a:lnTo>
                <a:cubicBezTo>
                  <a:pt x="6369" y="0"/>
                  <a:pt x="6442" y="72"/>
                  <a:pt x="6442" y="162"/>
                </a:cubicBezTo>
                <a:lnTo>
                  <a:pt x="6442" y="928"/>
                </a:lnTo>
                <a:cubicBezTo>
                  <a:pt x="6442" y="1018"/>
                  <a:pt x="6369" y="1090"/>
                  <a:pt x="6280" y="1090"/>
                </a:cubicBezTo>
                <a:lnTo>
                  <a:pt x="162" y="1090"/>
                </a:lnTo>
                <a:cubicBezTo>
                  <a:pt x="73" y="1090"/>
                  <a:pt x="0" y="1018"/>
                  <a:pt x="0" y="928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3088800" y="2324520"/>
            <a:ext cx="2303640" cy="377280"/>
          </a:xfrm>
          <a:custGeom>
            <a:avLst/>
            <a:gdLst/>
            <a:ahLst/>
            <a:rect l="0" t="0" r="r" b="b"/>
            <a:pathLst>
              <a:path w="6399" h="1048">
                <a:moveTo>
                  <a:pt x="0" y="907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6259" y="0"/>
                </a:lnTo>
                <a:cubicBezTo>
                  <a:pt x="6337" y="0"/>
                  <a:pt x="6399" y="63"/>
                  <a:pt x="6399" y="141"/>
                </a:cubicBezTo>
                <a:lnTo>
                  <a:pt x="6399" y="907"/>
                </a:lnTo>
                <a:cubicBezTo>
                  <a:pt x="6399" y="985"/>
                  <a:pt x="6337" y="1048"/>
                  <a:pt x="6259" y="1048"/>
                </a:cubicBezTo>
                <a:lnTo>
                  <a:pt x="141" y="1048"/>
                </a:lnTo>
                <a:cubicBezTo>
                  <a:pt x="63" y="1048"/>
                  <a:pt x="0" y="985"/>
                  <a:pt x="0" y="907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180960" y="1881360"/>
            <a:ext cx="5266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POST /api/ask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3175920" y="2376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Font Awesome 5 Brands Regular"/>
                <a:ea typeface="Font Awesome 5 Brands Regular"/>
              </a:rPr>
              <a:t>§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327480" y="2382480"/>
            <a:ext cx="12290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github.com/amsorrytola/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3175920" y="2502360"/>
            <a:ext cx="9075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scm-policy-india-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23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359640" y="757080"/>
            <a:ext cx="5040720" cy="820440"/>
          </a:xfrm>
          <a:custGeom>
            <a:avLst/>
            <a:gdLst/>
            <a:ahLst/>
            <a:rect l="0" t="0" r="r" b="b"/>
            <a:pathLst>
              <a:path w="14002" h="2279">
                <a:moveTo>
                  <a:pt x="0" y="2103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8"/>
                  <a:pt x="14002" y="175"/>
                </a:cubicBezTo>
                <a:lnTo>
                  <a:pt x="14002" y="2103"/>
                </a:lnTo>
                <a:cubicBezTo>
                  <a:pt x="14002" y="2201"/>
                  <a:pt x="13923" y="2279"/>
                  <a:pt x="13826" y="2279"/>
                </a:cubicBezTo>
                <a:lnTo>
                  <a:pt x="176" y="2279"/>
                </a:lnTo>
                <a:cubicBezTo>
                  <a:pt x="79" y="2279"/>
                  <a:pt x="0" y="2201"/>
                  <a:pt x="0" y="210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372600" y="769680"/>
            <a:ext cx="5015160" cy="795240"/>
          </a:xfrm>
          <a:custGeom>
            <a:avLst/>
            <a:gdLst/>
            <a:ahLst/>
            <a:rect l="0" t="0" r="r" b="b"/>
            <a:pathLst>
              <a:path w="13931" h="2209">
                <a:moveTo>
                  <a:pt x="0" y="2068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0"/>
                </a:cubicBezTo>
                <a:lnTo>
                  <a:pt x="13931" y="2068"/>
                </a:lnTo>
                <a:cubicBezTo>
                  <a:pt x="13931" y="2146"/>
                  <a:pt x="13868" y="2209"/>
                  <a:pt x="13790" y="2209"/>
                </a:cubicBezTo>
                <a:lnTo>
                  <a:pt x="140" y="2209"/>
                </a:lnTo>
                <a:cubicBezTo>
                  <a:pt x="63" y="2209"/>
                  <a:pt x="0" y="2146"/>
                  <a:pt x="0" y="2068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08000" y="42120"/>
            <a:ext cx="97452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Conclusions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459360" y="780120"/>
            <a:ext cx="35838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Bihar’s 2016 prohibition produced a</a:t>
            </a:r>
            <a:r>
              <a:rPr b="1" lang="en-US" sz="1090" spc="-1" strike="noStrike">
                <a:solidFill>
                  <a:srgbClr val="1b9e4b"/>
                </a:solidFill>
                <a:latin typeface="LMSans10"/>
                <a:ea typeface="LMSans10"/>
              </a:rPr>
              <a:t> statistically meaningful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4083120" y="780120"/>
            <a:ext cx="12200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1b9e4b"/>
                </a:solidFill>
                <a:latin typeface="LMSans10"/>
                <a:ea typeface="LMSans10"/>
              </a:rPr>
              <a:t>short-run reduction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459360" y="952200"/>
            <a:ext cx="2355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1b9e4b"/>
                </a:solidFill>
                <a:latin typeface="LMSans10"/>
                <a:ea typeface="LMSans10"/>
              </a:rPr>
              <a:t>in road-accident deaths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(rank 2 / 14,</a:t>
            </a:r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p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837160" y="9640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≈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2983320" y="952200"/>
            <a:ext cx="1353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0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051000" y="96408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3089520" y="952200"/>
            <a:ext cx="22348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071) that</a:t>
            </a:r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 reversed by 2018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, alongside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59360" y="1124280"/>
            <a:ext cx="11206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a</a:t>
            </a:r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 persistent fiscal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1675800" y="1124280"/>
            <a:ext cx="8330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ef4444"/>
                </a:solidFill>
                <a:latin typeface="LMSans10"/>
                <a:ea typeface="LMSans10"/>
              </a:rPr>
              <a:t>contraction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(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521800" y="1136160"/>
            <a:ext cx="2217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−</a:t>
            </a:r>
            <a:r>
              <a:rPr b="0" lang="en-US" sz="1090" spc="-1" strike="noStrike">
                <a:solidFill>
                  <a:srgbClr val="000000"/>
                </a:solidFill>
                <a:latin typeface="Font Awesome 5 Free Solid"/>
                <a:ea typeface="Font Awesome 5 Free Solid"/>
              </a:rPr>
              <a:t>Ñ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2739240" y="1124280"/>
            <a:ext cx="7336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2,017 Cr/yr,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3550320" y="1124280"/>
            <a:ext cx="1707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attenuated composite) and a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459360" y="1296360"/>
            <a:ext cx="2832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suggestive but not significant</a:t>
            </a:r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growth headwind (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285720" y="13082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−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3393360" y="1296360"/>
            <a:ext cx="5950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3 pp/yr,</a:t>
            </a:r>
            <a:r>
              <a:rPr b="0" i="1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 p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4010400" y="13082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≈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156560" y="1296360"/>
            <a:ext cx="138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0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4226040" y="13082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4264560" y="1296360"/>
            <a:ext cx="2307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00000"/>
                </a:solidFill>
                <a:latin typeface="LMSans10"/>
                <a:ea typeface="LMSans10"/>
              </a:rPr>
              <a:t>43).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360000" y="1766520"/>
            <a:ext cx="10659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Methodological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1482480" y="1766520"/>
            <a:ext cx="761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f4c81"/>
                </a:solidFill>
                <a:latin typeface="LMSans10"/>
                <a:ea typeface="LMSans10"/>
              </a:rPr>
              <a:t>takeaways.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496440" y="197172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657360" y="1960200"/>
            <a:ext cx="22258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Lagged-outcome anchoring is essential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922840" y="1960200"/>
            <a:ext cx="215712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for treated units near the convex hull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5117040" y="1960200"/>
            <a:ext cx="26424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edge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636480" y="2132280"/>
            <a:ext cx="20397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— </a:t>
            </a:r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without it the SCM degenerates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496440" y="23666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657360" y="2354760"/>
            <a:ext cx="41824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BSTS and SCM disagree on magnitude but agree on direction across all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4882320" y="2354760"/>
            <a:ext cx="2919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three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57360" y="2526840"/>
            <a:ext cx="4763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outcomes — triangulation strengthens the qualitative claim, not the precise number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96440" y="276156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57360" y="2749680"/>
            <a:ext cx="449640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For short pre-periods, sparser BSTS specifications (1–3 donors) dominate the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657360" y="2921760"/>
            <a:ext cx="47016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full-pool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359640" y="3360600"/>
            <a:ext cx="5040720" cy="394920"/>
          </a:xfrm>
          <a:custGeom>
            <a:avLst/>
            <a:gdLst/>
            <a:ahLst/>
            <a:rect l="0" t="0" r="r" b="b"/>
            <a:pathLst>
              <a:path w="14002" h="1097">
                <a:moveTo>
                  <a:pt x="0" y="920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8"/>
                  <a:pt x="14002" y="175"/>
                </a:cubicBezTo>
                <a:lnTo>
                  <a:pt x="14002" y="920"/>
                </a:lnTo>
                <a:cubicBezTo>
                  <a:pt x="14002" y="1017"/>
                  <a:pt x="13923" y="1097"/>
                  <a:pt x="13826" y="1097"/>
                </a:cubicBezTo>
                <a:lnTo>
                  <a:pt x="176" y="1097"/>
                </a:lnTo>
                <a:cubicBezTo>
                  <a:pt x="79" y="1097"/>
                  <a:pt x="0" y="1017"/>
                  <a:pt x="0" y="920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372600" y="3373200"/>
            <a:ext cx="5015160" cy="369720"/>
          </a:xfrm>
          <a:custGeom>
            <a:avLst/>
            <a:gdLst/>
            <a:ahLst/>
            <a:rect l="0" t="0" r="r" b="b"/>
            <a:pathLst>
              <a:path w="13931" h="1027">
                <a:moveTo>
                  <a:pt x="0" y="886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0"/>
                </a:cubicBezTo>
                <a:lnTo>
                  <a:pt x="13931" y="886"/>
                </a:lnTo>
                <a:cubicBezTo>
                  <a:pt x="13931" y="964"/>
                  <a:pt x="13868" y="1027"/>
                  <a:pt x="13790" y="1027"/>
                </a:cubicBezTo>
                <a:lnTo>
                  <a:pt x="140" y="1027"/>
                </a:lnTo>
                <a:cubicBezTo>
                  <a:pt x="63" y="1027"/>
                  <a:pt x="0" y="964"/>
                  <a:pt x="0" y="886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1180800" y="2921760"/>
            <a:ext cx="3970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0a3a66"/>
                </a:solidFill>
                <a:latin typeface="LMSans10"/>
                <a:ea typeface="LMSans10"/>
              </a:rPr>
              <a:t>default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459360" y="3406320"/>
            <a:ext cx="592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Future work.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101240" y="3406320"/>
            <a:ext cx="4126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Pure-excise series via state-budget archive scrape; high-frequency outcomes (monthly Vahan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9360" y="3526560"/>
            <a:ext cx="59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data); spatial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1090440" y="3526560"/>
            <a:ext cx="66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spillover model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794960" y="3526560"/>
            <a:ext cx="1643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with Jharkhand / UP / WB borders.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24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-360" y="-360"/>
            <a:ext cx="5760720" cy="720720"/>
          </a:xfrm>
          <a:custGeom>
            <a:avLst/>
            <a:gdLst/>
            <a:ahLst/>
            <a:rect l="0" t="0" r="r" b="b"/>
            <a:pathLst>
              <a:path w="16002" h="2002">
                <a:moveTo>
                  <a:pt x="0" y="2002"/>
                </a:moveTo>
                <a:lnTo>
                  <a:pt x="0" y="0"/>
                </a:lnTo>
                <a:lnTo>
                  <a:pt x="16002" y="0"/>
                </a:lnTo>
                <a:lnTo>
                  <a:pt x="16002" y="2002"/>
                </a:lnTo>
                <a:lnTo>
                  <a:pt x="0" y="2002"/>
                </a:lnTo>
                <a:close/>
              </a:path>
            </a:pathLst>
          </a:custGeom>
          <a:solidFill>
            <a:srgbClr val="0a3a66">
              <a:alpha val="55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2880000" y="359640"/>
            <a:ext cx="3600360" cy="3600720"/>
          </a:xfrm>
          <a:custGeom>
            <a:avLst/>
            <a:gdLst/>
            <a:ahLst/>
            <a:rect l="0" t="0" r="r" b="b"/>
            <a:pathLst>
              <a:path w="10001" h="10002">
                <a:moveTo>
                  <a:pt x="10001" y="5002"/>
                </a:moveTo>
                <a:cubicBezTo>
                  <a:pt x="10001" y="2239"/>
                  <a:pt x="7762" y="0"/>
                  <a:pt x="5000" y="0"/>
                </a:cubicBezTo>
                <a:cubicBezTo>
                  <a:pt x="2238" y="0"/>
                  <a:pt x="0" y="2239"/>
                  <a:pt x="0" y="5002"/>
                </a:cubicBezTo>
                <a:cubicBezTo>
                  <a:pt x="0" y="7763"/>
                  <a:pt x="2238" y="10002"/>
                  <a:pt x="5000" y="10002"/>
                </a:cubicBezTo>
                <a:cubicBezTo>
                  <a:pt x="7762" y="10002"/>
                  <a:pt x="10001" y="7763"/>
                  <a:pt x="10001" y="5002"/>
                </a:cubicBezTo>
                <a:close/>
              </a:path>
            </a:pathLst>
          </a:custGeom>
          <a:solidFill>
            <a:srgbClr val="1a6ab5">
              <a:alpha val="18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305640" y="431640"/>
            <a:ext cx="0" cy="2376360"/>
          </a:xfrm>
          <a:prstGeom prst="line">
            <a:avLst/>
          </a:prstGeom>
          <a:ln w="2520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1618200" y="489960"/>
            <a:ext cx="2628000" cy="724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90" spc="-1" strike="noStrike">
                <a:solidFill>
                  <a:srgbClr val="ffffff"/>
                </a:solidFill>
                <a:latin typeface="LMSans10"/>
                <a:ea typeface="LMSans10"/>
              </a:rPr>
              <a:t>Thank you.</a:t>
            </a:r>
            <a:endParaRPr b="0" lang="en-US" sz="39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359640" y="2293200"/>
            <a:ext cx="1613520" cy="471240"/>
          </a:xfrm>
          <a:custGeom>
            <a:avLst/>
            <a:gdLst/>
            <a:ahLst/>
            <a:rect l="0" t="0" r="r" b="b"/>
            <a:pathLst>
              <a:path w="4482" h="1309">
                <a:moveTo>
                  <a:pt x="0" y="1098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098"/>
                </a:lnTo>
                <a:cubicBezTo>
                  <a:pt x="4482" y="1214"/>
                  <a:pt x="4387" y="1309"/>
                  <a:pt x="4271" y="1309"/>
                </a:cubicBezTo>
                <a:lnTo>
                  <a:pt x="211" y="1309"/>
                </a:lnTo>
                <a:cubicBezTo>
                  <a:pt x="95" y="1309"/>
                  <a:pt x="0" y="1214"/>
                  <a:pt x="0" y="1098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359640" y="2293200"/>
            <a:ext cx="1613520" cy="471240"/>
          </a:xfrm>
          <a:custGeom>
            <a:avLst/>
            <a:gdLst/>
            <a:ahLst/>
            <a:rect l="0" t="0" r="r" b="b"/>
            <a:pathLst>
              <a:path w="4482" h="1309">
                <a:moveTo>
                  <a:pt x="0" y="1098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098"/>
                </a:lnTo>
                <a:cubicBezTo>
                  <a:pt x="4482" y="1214"/>
                  <a:pt x="4387" y="1309"/>
                  <a:pt x="4271" y="1309"/>
                </a:cubicBezTo>
                <a:lnTo>
                  <a:pt x="211" y="1309"/>
                </a:lnTo>
                <a:cubicBezTo>
                  <a:pt x="95" y="1309"/>
                  <a:pt x="0" y="1214"/>
                  <a:pt x="0" y="109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1870920" y="1297080"/>
            <a:ext cx="20109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f4a261"/>
                </a:solidFill>
                <a:latin typeface="LMSans17"/>
                <a:ea typeface="LMSans17"/>
              </a:rPr>
              <a:t>Questions &amp; Discussion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092960" y="235980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Brands Regular"/>
                <a:ea typeface="Font Awesome 5 Brands Regular"/>
              </a:rPr>
              <a:t>§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2073240" y="2293200"/>
            <a:ext cx="1613520" cy="450360"/>
          </a:xfrm>
          <a:custGeom>
            <a:avLst/>
            <a:gdLst/>
            <a:ahLst/>
            <a:rect l="0" t="0" r="r" b="b"/>
            <a:pathLst>
              <a:path w="4482" h="1251">
                <a:moveTo>
                  <a:pt x="0" y="1040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040"/>
                </a:lnTo>
                <a:cubicBezTo>
                  <a:pt x="4482" y="1156"/>
                  <a:pt x="4387" y="1251"/>
                  <a:pt x="4271" y="1251"/>
                </a:cubicBezTo>
                <a:lnTo>
                  <a:pt x="211" y="1251"/>
                </a:lnTo>
                <a:cubicBezTo>
                  <a:pt x="95" y="1251"/>
                  <a:pt x="0" y="1156"/>
                  <a:pt x="0" y="1040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2073240" y="2293200"/>
            <a:ext cx="1613520" cy="450360"/>
          </a:xfrm>
          <a:custGeom>
            <a:avLst/>
            <a:gdLst/>
            <a:ahLst/>
            <a:rect l="0" t="0" r="r" b="b"/>
            <a:pathLst>
              <a:path w="4482" h="1251">
                <a:moveTo>
                  <a:pt x="0" y="1040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040"/>
                </a:lnTo>
                <a:cubicBezTo>
                  <a:pt x="4482" y="1156"/>
                  <a:pt x="4387" y="1251"/>
                  <a:pt x="4271" y="1251"/>
                </a:cubicBezTo>
                <a:lnTo>
                  <a:pt x="211" y="1251"/>
                </a:lnTo>
                <a:cubicBezTo>
                  <a:pt x="95" y="1251"/>
                  <a:pt x="0" y="1156"/>
                  <a:pt x="0" y="104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471960" y="2539800"/>
            <a:ext cx="154908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fffff"/>
                </a:solidFill>
                <a:latin typeface="LMMono8"/>
                <a:ea typeface="LMMono8"/>
              </a:rPr>
              <a:t>amsorrytola/scm-policy-india-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2804040" y="234432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#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3786840" y="2293200"/>
            <a:ext cx="1613520" cy="469440"/>
          </a:xfrm>
          <a:custGeom>
            <a:avLst/>
            <a:gdLst/>
            <a:ahLst/>
            <a:rect l="0" t="0" r="r" b="b"/>
            <a:pathLst>
              <a:path w="4482" h="1304">
                <a:moveTo>
                  <a:pt x="0" y="1093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093"/>
                </a:lnTo>
                <a:cubicBezTo>
                  <a:pt x="4482" y="1209"/>
                  <a:pt x="4387" y="1304"/>
                  <a:pt x="4271" y="1304"/>
                </a:cubicBezTo>
                <a:lnTo>
                  <a:pt x="211" y="1304"/>
                </a:lnTo>
                <a:cubicBezTo>
                  <a:pt x="95" y="1304"/>
                  <a:pt x="0" y="1209"/>
                  <a:pt x="0" y="1093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3786840" y="2293200"/>
            <a:ext cx="1613520" cy="469440"/>
          </a:xfrm>
          <a:custGeom>
            <a:avLst/>
            <a:gdLst/>
            <a:ahLst/>
            <a:rect l="0" t="0" r="r" b="b"/>
            <a:pathLst>
              <a:path w="4482" h="1304">
                <a:moveTo>
                  <a:pt x="0" y="1093"/>
                </a:moveTo>
                <a:lnTo>
                  <a:pt x="0" y="211"/>
                </a:lnTo>
                <a:cubicBezTo>
                  <a:pt x="0" y="95"/>
                  <a:pt x="95" y="0"/>
                  <a:pt x="211" y="0"/>
                </a:cubicBezTo>
                <a:lnTo>
                  <a:pt x="4271" y="0"/>
                </a:lnTo>
                <a:cubicBezTo>
                  <a:pt x="4387" y="0"/>
                  <a:pt x="4482" y="95"/>
                  <a:pt x="4482" y="211"/>
                </a:cubicBezTo>
                <a:lnTo>
                  <a:pt x="4482" y="1093"/>
                </a:lnTo>
                <a:cubicBezTo>
                  <a:pt x="4482" y="1209"/>
                  <a:pt x="4387" y="1304"/>
                  <a:pt x="4271" y="1304"/>
                </a:cubicBezTo>
                <a:lnTo>
                  <a:pt x="211" y="1304"/>
                </a:lnTo>
                <a:cubicBezTo>
                  <a:pt x="95" y="1304"/>
                  <a:pt x="0" y="1209"/>
                  <a:pt x="0" y="109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243520" y="2510280"/>
            <a:ext cx="1259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fffff"/>
                </a:solidFill>
                <a:latin typeface="LMSans8"/>
                <a:ea typeface="LMSans8"/>
              </a:rPr>
              <a:t>mohammed_ta@hs.iitr.ac.in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4520160" y="236088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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070160" y="2526480"/>
            <a:ext cx="980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fffff"/>
                </a:solidFill>
                <a:latin typeface="LMSans8"/>
                <a:ea typeface="LMSans8"/>
              </a:rPr>
              <a:t>live demo — see repo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230480" y="3090240"/>
            <a:ext cx="1132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LMSans8"/>
                <a:ea typeface="LMSans8"/>
              </a:rPr>
              <a:t>Mohammed Talha Ansari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395440" y="3090240"/>
            <a:ext cx="212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LMSans8"/>
                <a:ea typeface="LMSans8"/>
              </a:rPr>
              <a:t>· 23322016 · BS-MS Economics, IIT Roorkee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0" y="0"/>
            <a:ext cx="5760000" cy="345240"/>
          </a:xfrm>
          <a:custGeom>
            <a:avLst/>
            <a:gdLst/>
            <a:ahLst/>
            <a:rect l="0" t="0" r="r" b="b"/>
            <a:pathLst>
              <a:path w="16000" h="959">
                <a:moveTo>
                  <a:pt x="0" y="959"/>
                </a:moveTo>
                <a:lnTo>
                  <a:pt x="16000" y="959"/>
                </a:lnTo>
                <a:lnTo>
                  <a:pt x="16000" y="0"/>
                </a:lnTo>
                <a:lnTo>
                  <a:pt x="0" y="0"/>
                </a:lnTo>
                <a:lnTo>
                  <a:pt x="0" y="95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359640" y="732960"/>
            <a:ext cx="5040720" cy="1519920"/>
          </a:xfrm>
          <a:custGeom>
            <a:avLst/>
            <a:gdLst/>
            <a:ahLst/>
            <a:rect l="0" t="0" r="r" b="b"/>
            <a:pathLst>
              <a:path w="14002" h="4222">
                <a:moveTo>
                  <a:pt x="0" y="4047"/>
                </a:moveTo>
                <a:lnTo>
                  <a:pt x="0" y="177"/>
                </a:lnTo>
                <a:cubicBezTo>
                  <a:pt x="0" y="80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80"/>
                  <a:pt x="14002" y="177"/>
                </a:cubicBezTo>
                <a:lnTo>
                  <a:pt x="14002" y="4047"/>
                </a:lnTo>
                <a:cubicBezTo>
                  <a:pt x="14002" y="4144"/>
                  <a:pt x="13923" y="4222"/>
                  <a:pt x="13826" y="4222"/>
                </a:cubicBezTo>
                <a:lnTo>
                  <a:pt x="176" y="4222"/>
                </a:lnTo>
                <a:cubicBezTo>
                  <a:pt x="79" y="4222"/>
                  <a:pt x="0" y="4144"/>
                  <a:pt x="0" y="4047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372600" y="745560"/>
            <a:ext cx="5015160" cy="1494720"/>
          </a:xfrm>
          <a:custGeom>
            <a:avLst/>
            <a:gdLst/>
            <a:ahLst/>
            <a:rect l="0" t="0" r="r" b="b"/>
            <a:pathLst>
              <a:path w="13931" h="4152">
                <a:moveTo>
                  <a:pt x="0" y="4012"/>
                </a:moveTo>
                <a:lnTo>
                  <a:pt x="0" y="142"/>
                </a:lnTo>
                <a:cubicBezTo>
                  <a:pt x="0" y="64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4"/>
                  <a:pt x="13931" y="142"/>
                </a:cubicBezTo>
                <a:lnTo>
                  <a:pt x="13931" y="4012"/>
                </a:lnTo>
                <a:cubicBezTo>
                  <a:pt x="13931" y="4089"/>
                  <a:pt x="13868" y="4152"/>
                  <a:pt x="13790" y="4152"/>
                </a:cubicBezTo>
                <a:lnTo>
                  <a:pt x="140" y="4152"/>
                </a:lnTo>
                <a:cubicBezTo>
                  <a:pt x="63" y="4152"/>
                  <a:pt x="0" y="4089"/>
                  <a:pt x="0" y="4012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108000" y="42120"/>
            <a:ext cx="901440" cy="26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30" spc="-1" strike="noStrike">
                <a:solidFill>
                  <a:srgbClr val="ffffff"/>
                </a:solidFill>
                <a:latin typeface="LMSans10"/>
                <a:ea typeface="LMSans10"/>
              </a:rPr>
              <a:t>References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618840" y="792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753120" y="784080"/>
            <a:ext cx="2289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Abadie, A., Diamond, A., &amp; Hainmueller, J. (2010).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3114360" y="784080"/>
            <a:ext cx="77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Synthetic Control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3928320" y="784080"/>
            <a:ext cx="1361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Methods for Comparative Case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756720" y="904320"/>
            <a:ext cx="351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Studies.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1158480" y="904320"/>
            <a:ext cx="1189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JASA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, 105(490), 493–505.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618840" y="11091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753120" y="1100520"/>
            <a:ext cx="2324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Abadie, A., Diamond, A., &amp; Hainmueller, J. (2015).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3141720" y="1100520"/>
            <a:ext cx="2116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Comparative Politics and the Synthetic Control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756720" y="1220760"/>
            <a:ext cx="372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Method.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1182600" y="1220760"/>
            <a:ext cx="1026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AJPS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, 59(2), 495–510.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18840" y="1425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53120" y="1416960"/>
            <a:ext cx="834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Abadie, A. (2021).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1640520" y="1416960"/>
            <a:ext cx="1137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Using Synthetic Controls.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2833560" y="1416960"/>
            <a:ext cx="950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JEL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, 59(2), 391–425.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18840" y="16214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756720" y="1612800"/>
            <a:ext cx="1238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Brodersen, K. et al. (2015).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2054520" y="1612800"/>
            <a:ext cx="700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Inferring Causal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2795040" y="1612800"/>
            <a:ext cx="1498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Impact Using Bayesian Structural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333320" y="1612800"/>
            <a:ext cx="904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Time-Series Models.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56720" y="1733040"/>
            <a:ext cx="1005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AOAS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, 9(1), 247–274.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18840" y="19378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756720" y="1929240"/>
            <a:ext cx="1692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Doudchenko, N., &amp; Imbens, G. (2016).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2533320" y="1929240"/>
            <a:ext cx="2193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Balancing, Regression, DiD and Synthetic Control.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4820400" y="1929240"/>
            <a:ext cx="470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NBER WP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359640" y="2670120"/>
            <a:ext cx="5040720" cy="400320"/>
          </a:xfrm>
          <a:custGeom>
            <a:avLst/>
            <a:gdLst/>
            <a:ahLst/>
            <a:rect l="0" t="0" r="r" b="b"/>
            <a:pathLst>
              <a:path w="14002" h="1112">
                <a:moveTo>
                  <a:pt x="0" y="936"/>
                </a:moveTo>
                <a:lnTo>
                  <a:pt x="0" y="175"/>
                </a:lnTo>
                <a:cubicBezTo>
                  <a:pt x="0" y="78"/>
                  <a:pt x="79" y="0"/>
                  <a:pt x="176" y="0"/>
                </a:cubicBezTo>
                <a:lnTo>
                  <a:pt x="13826" y="0"/>
                </a:lnTo>
                <a:cubicBezTo>
                  <a:pt x="13923" y="0"/>
                  <a:pt x="14002" y="78"/>
                  <a:pt x="14002" y="175"/>
                </a:cubicBezTo>
                <a:lnTo>
                  <a:pt x="14002" y="936"/>
                </a:lnTo>
                <a:cubicBezTo>
                  <a:pt x="14002" y="1033"/>
                  <a:pt x="13923" y="1112"/>
                  <a:pt x="13826" y="1112"/>
                </a:cubicBezTo>
                <a:lnTo>
                  <a:pt x="176" y="1112"/>
                </a:lnTo>
                <a:cubicBezTo>
                  <a:pt x="79" y="1112"/>
                  <a:pt x="0" y="1033"/>
                  <a:pt x="0" y="936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372600" y="2682720"/>
            <a:ext cx="5015160" cy="374760"/>
          </a:xfrm>
          <a:custGeom>
            <a:avLst/>
            <a:gdLst/>
            <a:ahLst/>
            <a:rect l="0" t="0" r="r" b="b"/>
            <a:pathLst>
              <a:path w="13931" h="1041">
                <a:moveTo>
                  <a:pt x="0" y="901"/>
                </a:moveTo>
                <a:lnTo>
                  <a:pt x="0" y="140"/>
                </a:lnTo>
                <a:cubicBezTo>
                  <a:pt x="0" y="63"/>
                  <a:pt x="63" y="0"/>
                  <a:pt x="140" y="0"/>
                </a:cubicBezTo>
                <a:lnTo>
                  <a:pt x="13790" y="0"/>
                </a:lnTo>
                <a:cubicBezTo>
                  <a:pt x="13868" y="0"/>
                  <a:pt x="13931" y="63"/>
                  <a:pt x="13931" y="140"/>
                </a:cubicBezTo>
                <a:lnTo>
                  <a:pt x="13931" y="901"/>
                </a:lnTo>
                <a:cubicBezTo>
                  <a:pt x="13931" y="978"/>
                  <a:pt x="13868" y="1041"/>
                  <a:pt x="13790" y="1041"/>
                </a:cubicBezTo>
                <a:lnTo>
                  <a:pt x="140" y="1041"/>
                </a:lnTo>
                <a:cubicBezTo>
                  <a:pt x="63" y="1041"/>
                  <a:pt x="0" y="978"/>
                  <a:pt x="0" y="901"/>
                </a:cubicBezTo>
                <a:close/>
              </a:path>
            </a:pathLst>
          </a:custGeom>
          <a:solidFill>
            <a:srgbClr val="e7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756720" y="2049480"/>
            <a:ext cx="296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22791.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618840" y="27298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756720" y="2721240"/>
            <a:ext cx="1498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Chaudhuri, K., &amp; Jha, N. (2024).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2312280" y="2721240"/>
            <a:ext cx="331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Alcohol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682000" y="2721240"/>
            <a:ext cx="703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Ban and Crime: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3437280" y="2721240"/>
            <a:ext cx="1594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The ABCs of the Bihar Prohibition.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756720" y="2841480"/>
            <a:ext cx="1637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Economic Development and Cultural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359640" y="3329640"/>
            <a:ext cx="5040720" cy="482760"/>
          </a:xfrm>
          <a:custGeom>
            <a:avLst/>
            <a:gdLst/>
            <a:ahLst/>
            <a:rect l="0" t="0" r="r" b="b"/>
            <a:pathLst>
              <a:path w="14002" h="1341">
                <a:moveTo>
                  <a:pt x="0" y="1179"/>
                </a:moveTo>
                <a:lnTo>
                  <a:pt x="0" y="162"/>
                </a:lnTo>
                <a:cubicBezTo>
                  <a:pt x="0" y="73"/>
                  <a:pt x="73" y="0"/>
                  <a:pt x="162" y="0"/>
                </a:cubicBezTo>
                <a:lnTo>
                  <a:pt x="13840" y="0"/>
                </a:lnTo>
                <a:cubicBezTo>
                  <a:pt x="13929" y="0"/>
                  <a:pt x="14002" y="73"/>
                  <a:pt x="14002" y="162"/>
                </a:cubicBezTo>
                <a:lnTo>
                  <a:pt x="14002" y="1179"/>
                </a:lnTo>
                <a:cubicBezTo>
                  <a:pt x="14002" y="1268"/>
                  <a:pt x="13929" y="1341"/>
                  <a:pt x="13840" y="1341"/>
                </a:cubicBezTo>
                <a:lnTo>
                  <a:pt x="162" y="1341"/>
                </a:lnTo>
                <a:cubicBezTo>
                  <a:pt x="73" y="1341"/>
                  <a:pt x="0" y="1268"/>
                  <a:pt x="0" y="1179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367560" y="3337200"/>
            <a:ext cx="5025240" cy="467640"/>
          </a:xfrm>
          <a:custGeom>
            <a:avLst/>
            <a:gdLst/>
            <a:ahLst/>
            <a:rect l="0" t="0" r="r" b="b"/>
            <a:pathLst>
              <a:path w="13959" h="1299">
                <a:moveTo>
                  <a:pt x="0" y="1158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13818" y="0"/>
                </a:lnTo>
                <a:cubicBezTo>
                  <a:pt x="13896" y="0"/>
                  <a:pt x="13959" y="63"/>
                  <a:pt x="13959" y="141"/>
                </a:cubicBezTo>
                <a:lnTo>
                  <a:pt x="13959" y="1158"/>
                </a:lnTo>
                <a:cubicBezTo>
                  <a:pt x="13959" y="1236"/>
                  <a:pt x="13896" y="1299"/>
                  <a:pt x="13818" y="1299"/>
                </a:cubicBezTo>
                <a:lnTo>
                  <a:pt x="140" y="1299"/>
                </a:lnTo>
                <a:cubicBezTo>
                  <a:pt x="63" y="1299"/>
                  <a:pt x="0" y="1236"/>
                  <a:pt x="0" y="1158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2440800" y="2841480"/>
            <a:ext cx="668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Change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, 72(4).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454320" y="3364920"/>
            <a:ext cx="2613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Data.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822960" y="3364920"/>
            <a:ext cx="1108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MoRTH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Road Accidents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2034360" y="3364920"/>
            <a:ext cx="671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in India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annual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2806200" y="3364920"/>
            <a:ext cx="313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reports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3177720" y="3364920"/>
            <a:ext cx="409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2010–23;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656880" y="3364920"/>
            <a:ext cx="17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RBI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3886200" y="3364920"/>
            <a:ext cx="581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Handbook of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4554000" y="336492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Statistics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5026320" y="3364920"/>
            <a:ext cx="268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on In-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454320" y="3485160"/>
            <a:ext cx="50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dian States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1055880" y="3485160"/>
            <a:ext cx="255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(T19,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1383480" y="3485160"/>
            <a:ext cx="308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T168);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1772280" y="3485160"/>
            <a:ext cx="313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Census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151720" y="3485160"/>
            <a:ext cx="102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of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302920" y="3485160"/>
            <a:ext cx="1215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India 2011 Primary Census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3671280" y="3485160"/>
            <a:ext cx="415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Abstract.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4221000" y="3485160"/>
            <a:ext cx="169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Full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452480" y="3485160"/>
            <a:ext cx="794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provenance log in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454320" y="3619440"/>
            <a:ext cx="13356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data/raw/bihar/SOURCES.md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1798560" y="36054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26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