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5759450" cy="324008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87640" y="4248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287640" y="673560"/>
            <a:ext cx="5183280" cy="166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87640" y="114840"/>
            <a:ext cx="5183280" cy="48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287640" y="673560"/>
            <a:ext cx="5183280" cy="166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49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3060000" y="539640"/>
            <a:ext cx="3960360" cy="3960720"/>
          </a:xfrm>
          <a:custGeom>
            <a:avLst/>
            <a:gdLst/>
            <a:ahLst/>
            <a:rect l="0" t="0" r="r" b="b"/>
            <a:pathLst>
              <a:path w="11001" h="11002">
                <a:moveTo>
                  <a:pt x="11001" y="5502"/>
                </a:moveTo>
                <a:cubicBezTo>
                  <a:pt x="11001" y="2463"/>
                  <a:pt x="8538" y="0"/>
                  <a:pt x="5500" y="0"/>
                </a:cubicBezTo>
                <a:cubicBezTo>
                  <a:pt x="2462" y="0"/>
                  <a:pt x="0" y="2463"/>
                  <a:pt x="0" y="5502"/>
                </a:cubicBezTo>
                <a:cubicBezTo>
                  <a:pt x="0" y="8539"/>
                  <a:pt x="2462" y="11002"/>
                  <a:pt x="5500" y="11002"/>
                </a:cubicBezTo>
                <a:cubicBezTo>
                  <a:pt x="8538" y="11002"/>
                  <a:pt x="11001" y="8539"/>
                  <a:pt x="11001" y="5502"/>
                </a:cubicBezTo>
                <a:close/>
              </a:path>
            </a:pathLst>
          </a:custGeom>
          <a:solidFill>
            <a:srgbClr val="1a6ab5">
              <a:alpha val="1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-360" y="-360"/>
            <a:ext cx="1620720" cy="3240720"/>
          </a:xfrm>
          <a:custGeom>
            <a:avLst/>
            <a:gdLst/>
            <a:ahLst/>
            <a:rect l="0" t="0" r="r" b="b"/>
            <a:pathLst>
              <a:path w="4502" h="9002">
                <a:moveTo>
                  <a:pt x="0" y="0"/>
                </a:moveTo>
                <a:lnTo>
                  <a:pt x="4502" y="0"/>
                </a:lnTo>
                <a:cubicBezTo>
                  <a:pt x="2502" y="3001"/>
                  <a:pt x="2502" y="6002"/>
                  <a:pt x="3502" y="9002"/>
                </a:cubicBezTo>
                <a:lnTo>
                  <a:pt x="0" y="9002"/>
                </a:lnTo>
                <a:lnTo>
                  <a:pt x="0" y="0"/>
                </a:lnTo>
                <a:close/>
              </a:path>
            </a:pathLst>
          </a:custGeom>
          <a:solidFill>
            <a:srgbClr val="0a3a66">
              <a:alpha val="5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05640" y="503640"/>
            <a:ext cx="0" cy="2232360"/>
          </a:xfrm>
          <a:prstGeom prst="line">
            <a:avLst/>
          </a:prstGeom>
          <a:ln w="25200">
            <a:solidFill>
              <a:srgbClr val="f4a2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305640" y="431640"/>
            <a:ext cx="5094360" cy="0"/>
          </a:xfrm>
          <a:prstGeom prst="line">
            <a:avLst/>
          </a:prstGeom>
          <a:ln w="5040">
            <a:solidFill>
              <a:srgbClr val="f4a2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60000" y="443520"/>
            <a:ext cx="83448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fffff"/>
                </a:solidFill>
                <a:latin typeface="LMSans10"/>
                <a:ea typeface="LMSans10"/>
              </a:rPr>
              <a:t>Causal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288800" y="443520"/>
            <a:ext cx="222264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fffff"/>
                </a:solidFill>
                <a:latin typeface="LMSans10"/>
                <a:ea typeface="LMSans10"/>
              </a:rPr>
              <a:t>Impact of Bihar’s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60000" y="808560"/>
            <a:ext cx="164520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4a261"/>
                </a:solidFill>
                <a:latin typeface="LMSans10"/>
                <a:ea typeface="LMSans10"/>
              </a:rPr>
              <a:t>2016 Alcohol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101680" y="808560"/>
            <a:ext cx="138744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4a261"/>
                </a:solidFill>
                <a:latin typeface="LMSans10"/>
                <a:ea typeface="LMSans10"/>
              </a:rPr>
              <a:t>Prohibition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60000" y="1297440"/>
            <a:ext cx="105372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e5e7eb"/>
                </a:solidFill>
                <a:latin typeface="LMSans10"/>
                <a:ea typeface="LMSans10"/>
              </a:rPr>
              <a:t>A Synthetic Control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456200" y="1297440"/>
            <a:ext cx="11710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e5e7eb"/>
                </a:solidFill>
                <a:latin typeface="LMSans10"/>
                <a:ea typeface="LMSans10"/>
              </a:rPr>
              <a:t>&amp; Bayesian Structural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60000" y="1449360"/>
            <a:ext cx="10872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e5e7eb"/>
                </a:solidFill>
                <a:latin typeface="LMSans10"/>
                <a:ea typeface="LMSans10"/>
              </a:rPr>
              <a:t>Time Series Analysis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927440"/>
            <a:ext cx="14698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ffffff"/>
                </a:solidFill>
                <a:latin typeface="LMSans10"/>
                <a:ea typeface="LMSans10"/>
              </a:rPr>
              <a:t>Mohammed Talha Ansari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884240" y="192744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f4a261"/>
                </a:solidFill>
                <a:latin typeface="LMSans10"/>
                <a:ea typeface="LMSans10"/>
              </a:rPr>
              <a:t>|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988640" y="194472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e5e7eb"/>
                </a:solidFill>
                <a:latin typeface="LMMono10"/>
                <a:ea typeface="LMMono10"/>
              </a:rPr>
              <a:t>23322016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60000" y="2157120"/>
            <a:ext cx="1561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e5e7eb"/>
                </a:solidFill>
                <a:latin typeface="LMSans9"/>
                <a:ea typeface="LMSans9"/>
              </a:rPr>
              <a:t>BS-MS Economics, IIT Roorkee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60000" y="2343600"/>
            <a:ext cx="1494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e5e7eb"/>
                </a:solidFill>
                <a:latin typeface="LMSans9"/>
                <a:ea typeface="LMSans9"/>
              </a:rPr>
              <a:t>HST-102 Time Series Analysis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60000" y="27932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e5e7eb"/>
                </a:solidFill>
                <a:latin typeface="Font Awesome 5 Free Solid"/>
                <a:ea typeface="Font Awesome 5 Free Solid"/>
              </a:rPr>
              <a:t>z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02200" y="2784600"/>
            <a:ext cx="44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e5e7eb"/>
                </a:solidFill>
                <a:latin typeface="LMSans8"/>
                <a:ea typeface="LMSans8"/>
              </a:rPr>
              <a:t>May 2026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088640" y="27846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f4a261"/>
                </a:solidFill>
                <a:latin typeface="LMSans8"/>
                <a:ea typeface="LMSans8"/>
              </a:rPr>
              <a:t>|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262160" y="27932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e5e7eb"/>
                </a:solidFill>
                <a:latin typeface="Font Awesome 5 Brands Regular"/>
                <a:ea typeface="Font Awesome 5 Brands Regular"/>
              </a:rPr>
              <a:t>§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3674880" y="610920"/>
            <a:ext cx="1594440" cy="1476360"/>
          </a:xfrm>
          <a:custGeom>
            <a:avLst/>
            <a:gdLst/>
            <a:ahLst/>
            <a:rect l="0" t="0" r="r" b="b"/>
            <a:pathLst>
              <a:path w="4429" h="4101">
                <a:moveTo>
                  <a:pt x="0" y="3890"/>
                </a:moveTo>
                <a:lnTo>
                  <a:pt x="0" y="211"/>
                </a:lnTo>
                <a:cubicBezTo>
                  <a:pt x="0" y="95"/>
                  <a:pt x="94" y="0"/>
                  <a:pt x="211" y="0"/>
                </a:cubicBezTo>
                <a:lnTo>
                  <a:pt x="4218" y="0"/>
                </a:lnTo>
                <a:cubicBezTo>
                  <a:pt x="4334" y="0"/>
                  <a:pt x="4429" y="95"/>
                  <a:pt x="4429" y="211"/>
                </a:cubicBezTo>
                <a:lnTo>
                  <a:pt x="4429" y="3890"/>
                </a:lnTo>
                <a:cubicBezTo>
                  <a:pt x="4429" y="4007"/>
                  <a:pt x="4334" y="4101"/>
                  <a:pt x="4218" y="4101"/>
                </a:cubicBezTo>
                <a:lnTo>
                  <a:pt x="211" y="4101"/>
                </a:lnTo>
                <a:cubicBezTo>
                  <a:pt x="94" y="4101"/>
                  <a:pt x="0" y="4007"/>
                  <a:pt x="0" y="3890"/>
                </a:cubicBezTo>
                <a:close/>
              </a:path>
            </a:pathLst>
          </a:custGeom>
          <a:noFill/>
          <a:ln w="7560">
            <a:solidFill>
              <a:srgbClr val="ffffff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413720" y="2798640"/>
            <a:ext cx="15490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e5e7eb"/>
                </a:solidFill>
                <a:latin typeface="LMMono8"/>
                <a:ea typeface="LMMono8"/>
              </a:rPr>
              <a:t>amsorrytola/scm-policy-india-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748680" y="773280"/>
            <a:ext cx="1446480" cy="0"/>
          </a:xfrm>
          <a:prstGeom prst="line">
            <a:avLst/>
          </a:prstGeom>
          <a:ln w="5040">
            <a:solidFill>
              <a:srgbClr val="f4a2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3792960" y="1909800"/>
            <a:ext cx="1357920" cy="0"/>
          </a:xfrm>
          <a:prstGeom prst="line">
            <a:avLst/>
          </a:prstGeom>
          <a:ln w="50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 flipV="1">
            <a:off x="3792960" y="876600"/>
            <a:ext cx="0" cy="1033200"/>
          </a:xfrm>
          <a:prstGeom prst="line">
            <a:avLst/>
          </a:prstGeom>
          <a:ln w="50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 flipV="1">
            <a:off x="4353840" y="876600"/>
            <a:ext cx="0" cy="1033200"/>
          </a:xfrm>
          <a:prstGeom prst="line">
            <a:avLst/>
          </a:prstGeom>
          <a:ln w="8640">
            <a:solidFill>
              <a:srgbClr val="f4a261"/>
            </a:solidFill>
            <a:custDash>
              <a:ds d="437500" sp="4375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797640" y="632880"/>
            <a:ext cx="14209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Road accident deaths — Bihar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792960" y="1157040"/>
            <a:ext cx="1328760" cy="208800"/>
          </a:xfrm>
          <a:custGeom>
            <a:avLst/>
            <a:gdLst/>
            <a:ahLst/>
            <a:rect l="0" t="0" r="r" b="b"/>
            <a:pathLst>
              <a:path fill="none" w="3691" h="580">
                <a:moveTo>
                  <a:pt x="0" y="0"/>
                </a:moveTo>
                <a:cubicBezTo>
                  <a:pt x="0" y="0"/>
                  <a:pt x="276" y="46"/>
                  <a:pt x="451" y="82"/>
                </a:cubicBezTo>
                <a:cubicBezTo>
                  <a:pt x="626" y="119"/>
                  <a:pt x="727" y="149"/>
                  <a:pt x="902" y="189"/>
                </a:cubicBezTo>
                <a:cubicBezTo>
                  <a:pt x="1077" y="229"/>
                  <a:pt x="1225" y="265"/>
                  <a:pt x="1353" y="287"/>
                </a:cubicBezTo>
                <a:cubicBezTo>
                  <a:pt x="1480" y="310"/>
                  <a:pt x="1438" y="280"/>
                  <a:pt x="1558" y="304"/>
                </a:cubicBezTo>
                <a:cubicBezTo>
                  <a:pt x="1677" y="328"/>
                  <a:pt x="1801" y="369"/>
                  <a:pt x="1968" y="410"/>
                </a:cubicBezTo>
                <a:cubicBezTo>
                  <a:pt x="2135" y="452"/>
                  <a:pt x="2244" y="485"/>
                  <a:pt x="2420" y="517"/>
                </a:cubicBezTo>
                <a:cubicBezTo>
                  <a:pt x="2595" y="550"/>
                  <a:pt x="2696" y="566"/>
                  <a:pt x="2871" y="575"/>
                </a:cubicBezTo>
                <a:cubicBezTo>
                  <a:pt x="3046" y="585"/>
                  <a:pt x="3163" y="578"/>
                  <a:pt x="3322" y="567"/>
                </a:cubicBezTo>
                <a:cubicBezTo>
                  <a:pt x="3481" y="556"/>
                  <a:pt x="3691" y="517"/>
                  <a:pt x="3691" y="517"/>
                </a:cubicBezTo>
              </a:path>
            </a:pathLst>
          </a:custGeom>
          <a:ln w="12600">
            <a:solidFill>
              <a:srgbClr val="ffffff"/>
            </a:solidFill>
            <a:custDash>
              <a:ds d="300000" sp="300000"/>
            </a:custDash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792960" y="994680"/>
            <a:ext cx="1328760" cy="497160"/>
          </a:xfrm>
          <a:custGeom>
            <a:avLst/>
            <a:gdLst/>
            <a:ahLst/>
            <a:rect l="0" t="0" r="r" b="b"/>
            <a:pathLst>
              <a:path fill="none" w="3691" h="1381">
                <a:moveTo>
                  <a:pt x="0" y="369"/>
                </a:moveTo>
                <a:cubicBezTo>
                  <a:pt x="0" y="369"/>
                  <a:pt x="301" y="424"/>
                  <a:pt x="451" y="451"/>
                </a:cubicBezTo>
                <a:cubicBezTo>
                  <a:pt x="601" y="479"/>
                  <a:pt x="752" y="499"/>
                  <a:pt x="902" y="533"/>
                </a:cubicBezTo>
                <a:cubicBezTo>
                  <a:pt x="1052" y="567"/>
                  <a:pt x="1244" y="619"/>
                  <a:pt x="1353" y="656"/>
                </a:cubicBezTo>
                <a:cubicBezTo>
                  <a:pt x="1462" y="694"/>
                  <a:pt x="1455" y="639"/>
                  <a:pt x="1558" y="756"/>
                </a:cubicBezTo>
                <a:cubicBezTo>
                  <a:pt x="1660" y="872"/>
                  <a:pt x="1824" y="1278"/>
                  <a:pt x="1968" y="1354"/>
                </a:cubicBezTo>
                <a:cubicBezTo>
                  <a:pt x="2111" y="1431"/>
                  <a:pt x="2269" y="1331"/>
                  <a:pt x="2420" y="1215"/>
                </a:cubicBezTo>
                <a:cubicBezTo>
                  <a:pt x="2570" y="1099"/>
                  <a:pt x="2721" y="825"/>
                  <a:pt x="2871" y="656"/>
                </a:cubicBezTo>
                <a:cubicBezTo>
                  <a:pt x="3021" y="488"/>
                  <a:pt x="3185" y="314"/>
                  <a:pt x="3322" y="205"/>
                </a:cubicBezTo>
                <a:cubicBezTo>
                  <a:pt x="3458" y="96"/>
                  <a:pt x="3691" y="0"/>
                  <a:pt x="3691" y="0"/>
                </a:cubicBezTo>
              </a:path>
            </a:pathLst>
          </a:custGeom>
          <a:ln w="20160">
            <a:solidFill>
              <a:srgbClr val="f4a261"/>
            </a:solidFill>
            <a:miter/>
          </a:ln>
        </p:spPr>
        <p:txBody>
          <a:bodyPr lIns="10080" rIns="10080" tIns="10080" bIns="10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3778200" y="1113120"/>
            <a:ext cx="29520" cy="29520"/>
          </a:xfrm>
          <a:custGeom>
            <a:avLst/>
            <a:gdLst/>
            <a:ahLst/>
            <a:rect l="0" t="0" r="r" b="b"/>
            <a:pathLst>
              <a:path w="82" h="82">
                <a:moveTo>
                  <a:pt x="82" y="40"/>
                </a:moveTo>
                <a:cubicBezTo>
                  <a:pt x="82" y="18"/>
                  <a:pt x="64" y="0"/>
                  <a:pt x="42" y="0"/>
                </a:cubicBezTo>
                <a:cubicBezTo>
                  <a:pt x="18" y="0"/>
                  <a:pt x="0" y="18"/>
                  <a:pt x="0" y="40"/>
                </a:cubicBezTo>
                <a:cubicBezTo>
                  <a:pt x="0" y="63"/>
                  <a:pt x="18" y="82"/>
                  <a:pt x="42" y="82"/>
                </a:cubicBezTo>
                <a:cubicBezTo>
                  <a:pt x="64" y="82"/>
                  <a:pt x="82" y="63"/>
                  <a:pt x="82" y="40"/>
                </a:cubicBezTo>
                <a:close/>
              </a:path>
            </a:pathLst>
          </a:custGeom>
          <a:solidFill>
            <a:srgbClr val="f4a2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4339080" y="1251720"/>
            <a:ext cx="29520" cy="29520"/>
          </a:xfrm>
          <a:custGeom>
            <a:avLst/>
            <a:gdLst/>
            <a:ahLst/>
            <a:rect l="0" t="0" r="r" b="b"/>
            <a:pathLst>
              <a:path w="82" h="82">
                <a:moveTo>
                  <a:pt x="82" y="42"/>
                </a:moveTo>
                <a:cubicBezTo>
                  <a:pt x="82" y="19"/>
                  <a:pt x="63" y="0"/>
                  <a:pt x="41" y="0"/>
                </a:cubicBezTo>
                <a:cubicBezTo>
                  <a:pt x="18" y="0"/>
                  <a:pt x="0" y="19"/>
                  <a:pt x="0" y="42"/>
                </a:cubicBezTo>
                <a:cubicBezTo>
                  <a:pt x="0" y="64"/>
                  <a:pt x="18" y="82"/>
                  <a:pt x="41" y="82"/>
                </a:cubicBezTo>
                <a:cubicBezTo>
                  <a:pt x="63" y="82"/>
                  <a:pt x="82" y="64"/>
                  <a:pt x="82" y="42"/>
                </a:cubicBezTo>
                <a:close/>
              </a:path>
            </a:pathLst>
          </a:custGeom>
          <a:solidFill>
            <a:srgbClr val="f4a2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5104800" y="978120"/>
            <a:ext cx="33480" cy="33480"/>
          </a:xfrm>
          <a:custGeom>
            <a:avLst/>
            <a:gdLst/>
            <a:ahLst/>
            <a:rect l="0" t="0" r="r" b="b"/>
            <a:pathLst>
              <a:path w="93" h="93">
                <a:moveTo>
                  <a:pt x="93" y="46"/>
                </a:moveTo>
                <a:cubicBezTo>
                  <a:pt x="93" y="21"/>
                  <a:pt x="72" y="0"/>
                  <a:pt x="47" y="0"/>
                </a:cubicBezTo>
                <a:cubicBezTo>
                  <a:pt x="20" y="0"/>
                  <a:pt x="0" y="21"/>
                  <a:pt x="0" y="46"/>
                </a:cubicBezTo>
                <a:cubicBezTo>
                  <a:pt x="0" y="72"/>
                  <a:pt x="20" y="93"/>
                  <a:pt x="47" y="93"/>
                </a:cubicBezTo>
                <a:cubicBezTo>
                  <a:pt x="72" y="93"/>
                  <a:pt x="93" y="72"/>
                  <a:pt x="93" y="46"/>
                </a:cubicBezTo>
                <a:close/>
              </a:path>
            </a:pathLst>
          </a:custGeom>
          <a:solidFill>
            <a:srgbClr val="f4a2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4594320" y="838440"/>
            <a:ext cx="51120" cy="18000"/>
          </a:xfrm>
          <a:custGeom>
            <a:avLst/>
            <a:gdLst/>
            <a:ahLst/>
            <a:rect l="0" t="0" r="r" b="b"/>
            <a:pathLst>
              <a:path w="142" h="50">
                <a:moveTo>
                  <a:pt x="0" y="50"/>
                </a:moveTo>
                <a:lnTo>
                  <a:pt x="142" y="50"/>
                </a:lnTo>
                <a:lnTo>
                  <a:pt x="142" y="0"/>
                </a:lnTo>
                <a:lnTo>
                  <a:pt x="0" y="0"/>
                </a:lnTo>
                <a:lnTo>
                  <a:pt x="0" y="50"/>
                </a:lnTo>
                <a:close/>
              </a:path>
            </a:pathLst>
          </a:custGeom>
          <a:solidFill>
            <a:srgbClr val="f4a2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273200" y="1941840"/>
            <a:ext cx="16236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f4a261"/>
                </a:solidFill>
                <a:latin typeface="LMSans8"/>
                <a:ea typeface="LMSans8"/>
              </a:rPr>
              <a:t>2016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4889520" y="844200"/>
            <a:ext cx="50760" cy="0"/>
          </a:xfrm>
          <a:prstGeom prst="line">
            <a:avLst/>
          </a:prstGeom>
          <a:ln w="10080">
            <a:solidFill>
              <a:srgbClr val="ffffff">
                <a:alpha val="7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659120" y="786240"/>
            <a:ext cx="18648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00" spc="-1" strike="noStrike">
                <a:solidFill>
                  <a:srgbClr val="f4a261"/>
                </a:solidFill>
                <a:latin typeface="LMSans10"/>
                <a:ea typeface="LMSans10"/>
              </a:rPr>
              <a:t>Bihar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53600" y="778680"/>
            <a:ext cx="31608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LMSans8"/>
                <a:ea typeface="LMSans8"/>
              </a:rPr>
              <a:t>Synthetic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359640" y="985320"/>
            <a:ext cx="2419920" cy="738000"/>
          </a:xfrm>
          <a:custGeom>
            <a:avLst/>
            <a:gdLst/>
            <a:ahLst/>
            <a:rect l="0" t="0" r="r" b="b"/>
            <a:pathLst>
              <a:path w="6722" h="2050">
                <a:moveTo>
                  <a:pt x="0" y="1916"/>
                </a:moveTo>
                <a:lnTo>
                  <a:pt x="0" y="133"/>
                </a:lnTo>
                <a:cubicBezTo>
                  <a:pt x="0" y="60"/>
                  <a:pt x="60" y="0"/>
                  <a:pt x="134" y="0"/>
                </a:cubicBezTo>
                <a:lnTo>
                  <a:pt x="6588" y="0"/>
                </a:lnTo>
                <a:cubicBezTo>
                  <a:pt x="6662" y="0"/>
                  <a:pt x="6722" y="60"/>
                  <a:pt x="6722" y="133"/>
                </a:cubicBezTo>
                <a:lnTo>
                  <a:pt x="6722" y="1916"/>
                </a:lnTo>
                <a:cubicBezTo>
                  <a:pt x="6722" y="1990"/>
                  <a:pt x="6662" y="2050"/>
                  <a:pt x="6588" y="2050"/>
                </a:cubicBezTo>
                <a:lnTo>
                  <a:pt x="134" y="2050"/>
                </a:lnTo>
                <a:cubicBezTo>
                  <a:pt x="60" y="2050"/>
                  <a:pt x="0" y="1990"/>
                  <a:pt x="0" y="1916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370080" y="995400"/>
            <a:ext cx="2399040" cy="717480"/>
          </a:xfrm>
          <a:custGeom>
            <a:avLst/>
            <a:gdLst/>
            <a:ahLst/>
            <a:rect l="0" t="0" r="r" b="b"/>
            <a:pathLst>
              <a:path w="6664" h="1993">
                <a:moveTo>
                  <a:pt x="0" y="1888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7"/>
                  <a:pt x="6664" y="105"/>
                </a:cubicBezTo>
                <a:lnTo>
                  <a:pt x="6664" y="1888"/>
                </a:lnTo>
                <a:cubicBezTo>
                  <a:pt x="6664" y="1946"/>
                  <a:pt x="6617" y="1993"/>
                  <a:pt x="6559" y="1993"/>
                </a:cubicBezTo>
                <a:lnTo>
                  <a:pt x="105" y="1993"/>
                </a:lnTo>
                <a:cubicBezTo>
                  <a:pt x="47" y="1993"/>
                  <a:pt x="0" y="1946"/>
                  <a:pt x="0" y="1888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00080" y="5760"/>
            <a:ext cx="5097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Outline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53600" y="100440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03000" y="1004400"/>
            <a:ext cx="1383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Motivation &amp; policy context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56840" y="116892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2.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06240" y="1168920"/>
            <a:ext cx="927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Research questions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56840" y="133344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3.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06240" y="1333440"/>
            <a:ext cx="1126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Identification challenge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453600" y="149796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4.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03000" y="1497960"/>
            <a:ext cx="66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Data &amp; panel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359640" y="2156760"/>
            <a:ext cx="2419920" cy="573480"/>
          </a:xfrm>
          <a:custGeom>
            <a:avLst/>
            <a:gdLst/>
            <a:ahLst/>
            <a:rect l="0" t="0" r="r" b="b"/>
            <a:pathLst>
              <a:path w="6722" h="1593">
                <a:moveTo>
                  <a:pt x="0" y="1459"/>
                </a:moveTo>
                <a:lnTo>
                  <a:pt x="0" y="133"/>
                </a:lnTo>
                <a:cubicBezTo>
                  <a:pt x="0" y="60"/>
                  <a:pt x="60" y="0"/>
                  <a:pt x="134" y="0"/>
                </a:cubicBezTo>
                <a:lnTo>
                  <a:pt x="6588" y="0"/>
                </a:lnTo>
                <a:cubicBezTo>
                  <a:pt x="6662" y="0"/>
                  <a:pt x="6722" y="60"/>
                  <a:pt x="6722" y="133"/>
                </a:cubicBezTo>
                <a:lnTo>
                  <a:pt x="6722" y="1459"/>
                </a:lnTo>
                <a:cubicBezTo>
                  <a:pt x="6722" y="1533"/>
                  <a:pt x="6662" y="1593"/>
                  <a:pt x="6588" y="1593"/>
                </a:cubicBezTo>
                <a:lnTo>
                  <a:pt x="134" y="1593"/>
                </a:lnTo>
                <a:cubicBezTo>
                  <a:pt x="60" y="1593"/>
                  <a:pt x="0" y="1533"/>
                  <a:pt x="0" y="1459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370080" y="2166840"/>
            <a:ext cx="2399040" cy="553320"/>
          </a:xfrm>
          <a:custGeom>
            <a:avLst/>
            <a:gdLst/>
            <a:ahLst/>
            <a:rect l="0" t="0" r="r" b="b"/>
            <a:pathLst>
              <a:path w="6664" h="1537">
                <a:moveTo>
                  <a:pt x="0" y="1431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7"/>
                  <a:pt x="6664" y="105"/>
                </a:cubicBezTo>
                <a:lnTo>
                  <a:pt x="6664" y="1431"/>
                </a:lnTo>
                <a:cubicBezTo>
                  <a:pt x="6664" y="1489"/>
                  <a:pt x="6617" y="1537"/>
                  <a:pt x="6559" y="1537"/>
                </a:cubicBezTo>
                <a:lnTo>
                  <a:pt x="105" y="1537"/>
                </a:lnTo>
                <a:cubicBezTo>
                  <a:pt x="47" y="1537"/>
                  <a:pt x="0" y="1489"/>
                  <a:pt x="0" y="1431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305360" y="1497960"/>
            <a:ext cx="602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construction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56840" y="217584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5.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06240" y="2175840"/>
            <a:ext cx="861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Synthetic Control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503000" y="2175840"/>
            <a:ext cx="377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Method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56840" y="234036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6.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06240" y="2340360"/>
            <a:ext cx="572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Convex hull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214640" y="2340360"/>
            <a:ext cx="678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problem &amp; fix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53600" y="250488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7.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603000" y="2504880"/>
            <a:ext cx="959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Bayesian Structural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2980800" y="955800"/>
            <a:ext cx="2419560" cy="743040"/>
          </a:xfrm>
          <a:custGeom>
            <a:avLst/>
            <a:gdLst/>
            <a:ahLst/>
            <a:rect l="0" t="0" r="r" b="b"/>
            <a:pathLst>
              <a:path w="6721" h="2064">
                <a:moveTo>
                  <a:pt x="0" y="1930"/>
                </a:moveTo>
                <a:lnTo>
                  <a:pt x="0" y="134"/>
                </a:lnTo>
                <a:cubicBezTo>
                  <a:pt x="0" y="60"/>
                  <a:pt x="59" y="0"/>
                  <a:pt x="133" y="0"/>
                </a:cubicBezTo>
                <a:lnTo>
                  <a:pt x="6587" y="0"/>
                </a:lnTo>
                <a:cubicBezTo>
                  <a:pt x="6661" y="0"/>
                  <a:pt x="6721" y="60"/>
                  <a:pt x="6721" y="134"/>
                </a:cubicBezTo>
                <a:lnTo>
                  <a:pt x="6721" y="1930"/>
                </a:lnTo>
                <a:cubicBezTo>
                  <a:pt x="6721" y="2004"/>
                  <a:pt x="6661" y="2064"/>
                  <a:pt x="6587" y="2064"/>
                </a:cubicBezTo>
                <a:lnTo>
                  <a:pt x="133" y="2064"/>
                </a:lnTo>
                <a:cubicBezTo>
                  <a:pt x="59" y="2064"/>
                  <a:pt x="0" y="2004"/>
                  <a:pt x="0" y="193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2990880" y="965880"/>
            <a:ext cx="2399040" cy="722880"/>
          </a:xfrm>
          <a:custGeom>
            <a:avLst/>
            <a:gdLst/>
            <a:ahLst/>
            <a:rect l="0" t="0" r="r" b="b"/>
            <a:pathLst>
              <a:path w="6664" h="2008">
                <a:moveTo>
                  <a:pt x="0" y="1902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8"/>
                  <a:pt x="6664" y="106"/>
                </a:cubicBezTo>
                <a:lnTo>
                  <a:pt x="6664" y="1902"/>
                </a:lnTo>
                <a:cubicBezTo>
                  <a:pt x="6664" y="1961"/>
                  <a:pt x="6617" y="2008"/>
                  <a:pt x="6559" y="2008"/>
                </a:cubicBezTo>
                <a:lnTo>
                  <a:pt x="105" y="2008"/>
                </a:lnTo>
                <a:cubicBezTo>
                  <a:pt x="47" y="2008"/>
                  <a:pt x="0" y="1961"/>
                  <a:pt x="0" y="1902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590840" y="2504880"/>
            <a:ext cx="57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Time Series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077640" y="98028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8.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227040" y="979920"/>
            <a:ext cx="1556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Road-accident deaths (primary)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077640" y="114480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9.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227040" y="1144440"/>
            <a:ext cx="1160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Own tax revenue (fiscal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4422600" y="1144440"/>
            <a:ext cx="313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proxy)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074400" y="1309320"/>
            <a:ext cx="160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10.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286440" y="1308960"/>
            <a:ext cx="1216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NSDP per-capita growth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074400" y="1473480"/>
            <a:ext cx="160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11.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2980800" y="2132640"/>
            <a:ext cx="2419560" cy="565920"/>
          </a:xfrm>
          <a:custGeom>
            <a:avLst/>
            <a:gdLst/>
            <a:ahLst/>
            <a:rect l="0" t="0" r="r" b="b"/>
            <a:pathLst>
              <a:path w="6721" h="1572">
                <a:moveTo>
                  <a:pt x="0" y="1438"/>
                </a:moveTo>
                <a:lnTo>
                  <a:pt x="0" y="134"/>
                </a:lnTo>
                <a:cubicBezTo>
                  <a:pt x="0" y="60"/>
                  <a:pt x="59" y="0"/>
                  <a:pt x="133" y="0"/>
                </a:cubicBezTo>
                <a:lnTo>
                  <a:pt x="6587" y="0"/>
                </a:lnTo>
                <a:cubicBezTo>
                  <a:pt x="6661" y="0"/>
                  <a:pt x="6721" y="60"/>
                  <a:pt x="6721" y="134"/>
                </a:cubicBezTo>
                <a:lnTo>
                  <a:pt x="6721" y="1438"/>
                </a:lnTo>
                <a:cubicBezTo>
                  <a:pt x="6721" y="1512"/>
                  <a:pt x="6661" y="1572"/>
                  <a:pt x="6587" y="1572"/>
                </a:cubicBezTo>
                <a:lnTo>
                  <a:pt x="133" y="1572"/>
                </a:lnTo>
                <a:cubicBezTo>
                  <a:pt x="59" y="1572"/>
                  <a:pt x="0" y="1512"/>
                  <a:pt x="0" y="143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2990880" y="2142720"/>
            <a:ext cx="2399040" cy="545760"/>
          </a:xfrm>
          <a:custGeom>
            <a:avLst/>
            <a:gdLst/>
            <a:ahLst/>
            <a:rect l="0" t="0" r="r" b="b"/>
            <a:pathLst>
              <a:path w="6664" h="1516">
                <a:moveTo>
                  <a:pt x="0" y="1410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8"/>
                  <a:pt x="6664" y="106"/>
                </a:cubicBezTo>
                <a:lnTo>
                  <a:pt x="6664" y="1410"/>
                </a:lnTo>
                <a:cubicBezTo>
                  <a:pt x="6664" y="1468"/>
                  <a:pt x="6617" y="1516"/>
                  <a:pt x="6559" y="1516"/>
                </a:cubicBezTo>
                <a:lnTo>
                  <a:pt x="105" y="1516"/>
                </a:lnTo>
                <a:cubicBezTo>
                  <a:pt x="47" y="1516"/>
                  <a:pt x="0" y="1468"/>
                  <a:pt x="0" y="1410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286440" y="147348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Cross-outcome synthesis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074400" y="2152080"/>
            <a:ext cx="160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12.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286440" y="2152080"/>
            <a:ext cx="1224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Robustness &amp; limitations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074400" y="2316600"/>
            <a:ext cx="160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13.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286440" y="2316240"/>
            <a:ext cx="1218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Interactive website demo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074400" y="2481120"/>
            <a:ext cx="160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14.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286440" y="2480760"/>
            <a:ext cx="1073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Conclusions &amp; Q &amp; 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359640" y="723960"/>
            <a:ext cx="2772720" cy="668160"/>
          </a:xfrm>
          <a:custGeom>
            <a:avLst/>
            <a:gdLst/>
            <a:ahLst/>
            <a:rect l="0" t="0" r="r" b="b"/>
            <a:pathLst>
              <a:path w="7702" h="1856">
                <a:moveTo>
                  <a:pt x="0" y="1723"/>
                </a:moveTo>
                <a:lnTo>
                  <a:pt x="0" y="133"/>
                </a:lnTo>
                <a:cubicBezTo>
                  <a:pt x="0" y="60"/>
                  <a:pt x="60" y="0"/>
                  <a:pt x="134" y="0"/>
                </a:cubicBezTo>
                <a:lnTo>
                  <a:pt x="7568" y="0"/>
                </a:lnTo>
                <a:cubicBezTo>
                  <a:pt x="7642" y="0"/>
                  <a:pt x="7702" y="60"/>
                  <a:pt x="7702" y="133"/>
                </a:cubicBezTo>
                <a:lnTo>
                  <a:pt x="7702" y="1723"/>
                </a:lnTo>
                <a:cubicBezTo>
                  <a:pt x="7702" y="1796"/>
                  <a:pt x="7642" y="1856"/>
                  <a:pt x="7568" y="1856"/>
                </a:cubicBezTo>
                <a:lnTo>
                  <a:pt x="134" y="1856"/>
                </a:lnTo>
                <a:cubicBezTo>
                  <a:pt x="60" y="1856"/>
                  <a:pt x="0" y="1796"/>
                  <a:pt x="0" y="1723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370080" y="734040"/>
            <a:ext cx="2752200" cy="648000"/>
          </a:xfrm>
          <a:custGeom>
            <a:avLst/>
            <a:gdLst/>
            <a:ahLst/>
            <a:rect l="0" t="0" r="r" b="b"/>
            <a:pathLst>
              <a:path w="7645" h="1800">
                <a:moveTo>
                  <a:pt x="0" y="1695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7539" y="0"/>
                </a:lnTo>
                <a:cubicBezTo>
                  <a:pt x="7597" y="0"/>
                  <a:pt x="7645" y="47"/>
                  <a:pt x="7645" y="105"/>
                </a:cubicBezTo>
                <a:lnTo>
                  <a:pt x="7645" y="1695"/>
                </a:lnTo>
                <a:cubicBezTo>
                  <a:pt x="7645" y="1753"/>
                  <a:pt x="7597" y="1800"/>
                  <a:pt x="7539" y="1800"/>
                </a:cubicBezTo>
                <a:lnTo>
                  <a:pt x="105" y="1800"/>
                </a:lnTo>
                <a:cubicBezTo>
                  <a:pt x="47" y="1800"/>
                  <a:pt x="0" y="1753"/>
                  <a:pt x="0" y="1695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00080" y="5760"/>
            <a:ext cx="3257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Motivation — Why Study Bihar’s Prohibition?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52520" y="743040"/>
            <a:ext cx="5662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The policy.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059840" y="743040"/>
            <a:ext cx="409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Effective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504800" y="743040"/>
            <a:ext cx="6638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dc823c"/>
                </a:solidFill>
                <a:latin typeface="LMSans10"/>
                <a:ea typeface="LMSans10"/>
              </a:rPr>
              <a:t>April 5, 2016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159640" y="743040"/>
            <a:ext cx="906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, Bihar enacted to-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56840" y="882360"/>
            <a:ext cx="124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tal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17040" y="882360"/>
            <a:ext cx="2428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prohibition on the sale and consumption of alcohol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439200" y="1021320"/>
            <a:ext cx="1328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— </a:t>
            </a:r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the largest sub-national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794240" y="1021320"/>
            <a:ext cx="1252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prohibition by population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56840" y="1160640"/>
            <a:ext cx="171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in modern history (~120M people).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53520" y="1522440"/>
            <a:ext cx="26510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Why this case is methodologically interesting: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96800" y="17366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37200" y="1726920"/>
            <a:ext cx="1937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Sharp, well-dated discontinuity — ideal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596320" y="1726920"/>
            <a:ext cx="473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for causal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37200" y="1865880"/>
            <a:ext cx="349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designs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96800" y="20656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37200" y="2055960"/>
            <a:ext cx="909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Single treated unit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582200" y="20656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738440" y="2055960"/>
            <a:ext cx="1325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DiD parallel-trends hard to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37200" y="2194920"/>
            <a:ext cx="1328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defend; SCM is the natural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999080" y="2194920"/>
            <a:ext cx="303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choice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96800" y="23947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37200" y="2384640"/>
            <a:ext cx="2125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Multiple competing channels (safety, fiscal,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3384000" y="723960"/>
            <a:ext cx="2016360" cy="481320"/>
          </a:xfrm>
          <a:custGeom>
            <a:avLst/>
            <a:gdLst/>
            <a:ahLst/>
            <a:rect l="0" t="0" r="r" b="b"/>
            <a:pathLst>
              <a:path w="5601" h="1337">
                <a:moveTo>
                  <a:pt x="0" y="1196"/>
                </a:moveTo>
                <a:lnTo>
                  <a:pt x="0" y="140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0"/>
                </a:cubicBezTo>
                <a:lnTo>
                  <a:pt x="5601" y="1196"/>
                </a:lnTo>
                <a:cubicBezTo>
                  <a:pt x="5601" y="1273"/>
                  <a:pt x="5538" y="1337"/>
                  <a:pt x="5460" y="1337"/>
                </a:cubicBezTo>
                <a:lnTo>
                  <a:pt x="140" y="1337"/>
                </a:lnTo>
                <a:cubicBezTo>
                  <a:pt x="63" y="1337"/>
                  <a:pt x="0" y="1273"/>
                  <a:pt x="0" y="1196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3384000" y="723960"/>
            <a:ext cx="2016360" cy="481320"/>
          </a:xfrm>
          <a:custGeom>
            <a:avLst/>
            <a:gdLst/>
            <a:ahLst/>
            <a:rect l="0" t="0" r="r" b="b"/>
            <a:pathLst>
              <a:path w="5601" h="1337">
                <a:moveTo>
                  <a:pt x="0" y="1196"/>
                </a:moveTo>
                <a:lnTo>
                  <a:pt x="0" y="140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0"/>
                </a:cubicBezTo>
                <a:lnTo>
                  <a:pt x="5601" y="1196"/>
                </a:lnTo>
                <a:cubicBezTo>
                  <a:pt x="5601" y="1273"/>
                  <a:pt x="5538" y="1337"/>
                  <a:pt x="5460" y="1337"/>
                </a:cubicBezTo>
                <a:lnTo>
                  <a:pt x="140" y="1337"/>
                </a:lnTo>
                <a:cubicBezTo>
                  <a:pt x="63" y="1337"/>
                  <a:pt x="0" y="1273"/>
                  <a:pt x="0" y="1196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37200" y="2523960"/>
            <a:ext cx="2346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economic) — direction of net effect is empirical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015080" y="669960"/>
            <a:ext cx="74916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4a261"/>
                </a:solidFill>
                <a:latin typeface="LMSans10"/>
                <a:ea typeface="LMSans10"/>
              </a:rPr>
              <a:t>120M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3384000" y="1441800"/>
            <a:ext cx="2016360" cy="520200"/>
          </a:xfrm>
          <a:custGeom>
            <a:avLst/>
            <a:gdLst/>
            <a:ahLst/>
            <a:rect l="0" t="0" r="r" b="b"/>
            <a:pathLst>
              <a:path w="5601" h="1445">
                <a:moveTo>
                  <a:pt x="0" y="1304"/>
                </a:moveTo>
                <a:lnTo>
                  <a:pt x="0" y="141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1"/>
                </a:cubicBezTo>
                <a:lnTo>
                  <a:pt x="5601" y="1304"/>
                </a:lnTo>
                <a:cubicBezTo>
                  <a:pt x="5601" y="1382"/>
                  <a:pt x="5538" y="1445"/>
                  <a:pt x="5460" y="1445"/>
                </a:cubicBezTo>
                <a:lnTo>
                  <a:pt x="140" y="1445"/>
                </a:lnTo>
                <a:cubicBezTo>
                  <a:pt x="63" y="1445"/>
                  <a:pt x="0" y="1382"/>
                  <a:pt x="0" y="1304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3384000" y="1441800"/>
            <a:ext cx="2016360" cy="520200"/>
          </a:xfrm>
          <a:custGeom>
            <a:avLst/>
            <a:gdLst/>
            <a:ahLst/>
            <a:rect l="0" t="0" r="r" b="b"/>
            <a:pathLst>
              <a:path w="5601" h="1445">
                <a:moveTo>
                  <a:pt x="0" y="1304"/>
                </a:moveTo>
                <a:lnTo>
                  <a:pt x="0" y="141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1"/>
                </a:cubicBezTo>
                <a:lnTo>
                  <a:pt x="5601" y="1304"/>
                </a:lnTo>
                <a:cubicBezTo>
                  <a:pt x="5601" y="1382"/>
                  <a:pt x="5538" y="1445"/>
                  <a:pt x="5460" y="1445"/>
                </a:cubicBezTo>
                <a:lnTo>
                  <a:pt x="140" y="1445"/>
                </a:lnTo>
                <a:cubicBezTo>
                  <a:pt x="63" y="1445"/>
                  <a:pt x="0" y="1382"/>
                  <a:pt x="0" y="1304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932280" y="994680"/>
            <a:ext cx="8982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affected population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748320" y="1444680"/>
            <a:ext cx="277920" cy="38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9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Ñ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973320" y="1420920"/>
            <a:ext cx="112536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4a261"/>
                </a:solidFill>
                <a:latin typeface="LMSans10"/>
                <a:ea typeface="LMSans10"/>
              </a:rPr>
              <a:t>4,000 Cr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3384000" y="2198520"/>
            <a:ext cx="2016360" cy="487080"/>
          </a:xfrm>
          <a:custGeom>
            <a:avLst/>
            <a:gdLst/>
            <a:ahLst/>
            <a:rect l="0" t="0" r="r" b="b"/>
            <a:pathLst>
              <a:path w="5601" h="1353">
                <a:moveTo>
                  <a:pt x="0" y="1211"/>
                </a:moveTo>
                <a:lnTo>
                  <a:pt x="0" y="140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0"/>
                </a:cubicBezTo>
                <a:lnTo>
                  <a:pt x="5601" y="1211"/>
                </a:lnTo>
                <a:cubicBezTo>
                  <a:pt x="5601" y="1289"/>
                  <a:pt x="5538" y="1353"/>
                  <a:pt x="5460" y="1353"/>
                </a:cubicBezTo>
                <a:lnTo>
                  <a:pt x="140" y="1353"/>
                </a:lnTo>
                <a:cubicBezTo>
                  <a:pt x="63" y="1353"/>
                  <a:pt x="0" y="1289"/>
                  <a:pt x="0" y="1211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3384000" y="2198520"/>
            <a:ext cx="2016360" cy="487080"/>
          </a:xfrm>
          <a:custGeom>
            <a:avLst/>
            <a:gdLst/>
            <a:ahLst/>
            <a:rect l="0" t="0" r="r" b="b"/>
            <a:pathLst>
              <a:path w="5601" h="1353">
                <a:moveTo>
                  <a:pt x="0" y="1211"/>
                </a:moveTo>
                <a:lnTo>
                  <a:pt x="0" y="140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0"/>
                </a:cubicBezTo>
                <a:lnTo>
                  <a:pt x="5601" y="1211"/>
                </a:lnTo>
                <a:cubicBezTo>
                  <a:pt x="5601" y="1289"/>
                  <a:pt x="5538" y="1353"/>
                  <a:pt x="5460" y="1353"/>
                </a:cubicBezTo>
                <a:lnTo>
                  <a:pt x="140" y="1353"/>
                </a:lnTo>
                <a:cubicBezTo>
                  <a:pt x="63" y="1353"/>
                  <a:pt x="0" y="1289"/>
                  <a:pt x="0" y="1211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473280" y="1745640"/>
            <a:ext cx="18082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pre-prohibition state excise (FY15–16)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3672720" y="2144520"/>
            <a:ext cx="150192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4a261"/>
                </a:solidFill>
                <a:latin typeface="LMSans10"/>
                <a:ea typeface="LMSans10"/>
              </a:rPr>
              <a:t>3 outcomes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767040" y="2469240"/>
            <a:ext cx="6393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safety / fiscal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473000" y="2469240"/>
            <a:ext cx="529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/ economic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3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359640" y="702000"/>
            <a:ext cx="5040720" cy="813600"/>
          </a:xfrm>
          <a:custGeom>
            <a:avLst/>
            <a:gdLst/>
            <a:ahLst/>
            <a:rect l="0" t="0" r="r" b="b"/>
            <a:pathLst>
              <a:path w="14002" h="2260">
                <a:moveTo>
                  <a:pt x="0" y="2127"/>
                </a:moveTo>
                <a:lnTo>
                  <a:pt x="0" y="133"/>
                </a:lnTo>
                <a:cubicBezTo>
                  <a:pt x="0" y="60"/>
                  <a:pt x="60" y="0"/>
                  <a:pt x="134" y="0"/>
                </a:cubicBezTo>
                <a:lnTo>
                  <a:pt x="13868" y="0"/>
                </a:lnTo>
                <a:cubicBezTo>
                  <a:pt x="13942" y="0"/>
                  <a:pt x="14002" y="60"/>
                  <a:pt x="14002" y="133"/>
                </a:cubicBezTo>
                <a:lnTo>
                  <a:pt x="14002" y="2127"/>
                </a:lnTo>
                <a:cubicBezTo>
                  <a:pt x="14002" y="2201"/>
                  <a:pt x="13942" y="2260"/>
                  <a:pt x="13868" y="2260"/>
                </a:cubicBezTo>
                <a:lnTo>
                  <a:pt x="134" y="2260"/>
                </a:lnTo>
                <a:cubicBezTo>
                  <a:pt x="60" y="2260"/>
                  <a:pt x="0" y="2201"/>
                  <a:pt x="0" y="2127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370080" y="712080"/>
            <a:ext cx="5020200" cy="793440"/>
          </a:xfrm>
          <a:custGeom>
            <a:avLst/>
            <a:gdLst/>
            <a:ahLst/>
            <a:rect l="0" t="0" r="r" b="b"/>
            <a:pathLst>
              <a:path w="13945" h="2204">
                <a:moveTo>
                  <a:pt x="0" y="2099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13839" y="0"/>
                </a:lnTo>
                <a:cubicBezTo>
                  <a:pt x="13897" y="0"/>
                  <a:pt x="13945" y="47"/>
                  <a:pt x="13945" y="105"/>
                </a:cubicBezTo>
                <a:lnTo>
                  <a:pt x="13945" y="2099"/>
                </a:lnTo>
                <a:cubicBezTo>
                  <a:pt x="13945" y="2157"/>
                  <a:pt x="13897" y="2204"/>
                  <a:pt x="13839" y="2204"/>
                </a:cubicBezTo>
                <a:lnTo>
                  <a:pt x="105" y="2204"/>
                </a:lnTo>
                <a:cubicBezTo>
                  <a:pt x="47" y="2204"/>
                  <a:pt x="0" y="2157"/>
                  <a:pt x="0" y="2099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00080" y="5760"/>
            <a:ext cx="13633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Research Questions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73480" y="72108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LMSans9"/>
                <a:ea typeface="LMSans9"/>
              </a:rPr>
              <a:t>1.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33680" y="721080"/>
            <a:ext cx="739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Did prohibition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506600" y="721080"/>
            <a:ext cx="14745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dc823c"/>
                </a:solidFill>
                <a:latin typeface="LMSans10"/>
                <a:ea typeface="LMSans10"/>
              </a:rPr>
              <a:t>reduce road-accident deaths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013920" y="721080"/>
            <a:ext cx="1328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relative to a counterfactual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375800" y="721080"/>
            <a:ext cx="893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Bihar that did not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33680" y="860400"/>
            <a:ext cx="88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enact prohibition?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73480" y="107532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LMSans9"/>
                <a:ea typeface="LMSans9"/>
              </a:rPr>
              <a:t>2.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33680" y="1075320"/>
            <a:ext cx="739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Did prohibition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506600" y="1075320"/>
            <a:ext cx="15490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dc823c"/>
                </a:solidFill>
                <a:latin typeface="LMSans10"/>
                <a:ea typeface="LMSans10"/>
              </a:rPr>
              <a:t>reduce state own-tax revenue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085200" y="1075320"/>
            <a:ext cx="1835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via the loss of the excise component?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73480" y="129060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LMSans9"/>
                <a:ea typeface="LMSans9"/>
              </a:rPr>
              <a:t>3.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33680" y="1290600"/>
            <a:ext cx="739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Did prohibition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506600" y="1290600"/>
            <a:ext cx="2068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dc823c"/>
                </a:solidFill>
                <a:latin typeface="LMSans10"/>
                <a:ea typeface="LMSans10"/>
              </a:rPr>
              <a:t>accelerate or depress per-capita growth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598920" y="1290600"/>
            <a:ext cx="1469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relative to comparable states?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360000" y="1702080"/>
            <a:ext cx="7963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Identification.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248480" y="1702080"/>
            <a:ext cx="385812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Construct a</a:t>
            </a:r>
            <a:r>
              <a:rPr b="0" i="1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 synthetic Bihar</a:t>
            </a:r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 as a weighted average of donor states whose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60000" y="1874160"/>
            <a:ext cx="464292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pre-2016 trajectory tracks Bihar’s, then read the post-2016 gap as the treatment effect.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55680" y="2046240"/>
            <a:ext cx="203364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Triangulate with a Bayesian structural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2413800" y="2046240"/>
            <a:ext cx="7534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counterfactual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359640" y="2437560"/>
            <a:ext cx="5040720" cy="353520"/>
          </a:xfrm>
          <a:custGeom>
            <a:avLst/>
            <a:gdLst/>
            <a:ahLst/>
            <a:rect l="0" t="0" r="r" b="b"/>
            <a:pathLst>
              <a:path w="14002" h="982">
                <a:moveTo>
                  <a:pt x="0" y="848"/>
                </a:moveTo>
                <a:lnTo>
                  <a:pt x="0" y="134"/>
                </a:lnTo>
                <a:cubicBezTo>
                  <a:pt x="0" y="60"/>
                  <a:pt x="60" y="0"/>
                  <a:pt x="134" y="0"/>
                </a:cubicBezTo>
                <a:lnTo>
                  <a:pt x="13868" y="0"/>
                </a:lnTo>
                <a:cubicBezTo>
                  <a:pt x="13942" y="0"/>
                  <a:pt x="14002" y="60"/>
                  <a:pt x="14002" y="134"/>
                </a:cubicBezTo>
                <a:lnTo>
                  <a:pt x="14002" y="848"/>
                </a:lnTo>
                <a:cubicBezTo>
                  <a:pt x="14002" y="922"/>
                  <a:pt x="13942" y="982"/>
                  <a:pt x="13868" y="982"/>
                </a:cubicBezTo>
                <a:lnTo>
                  <a:pt x="134" y="982"/>
                </a:lnTo>
                <a:cubicBezTo>
                  <a:pt x="60" y="982"/>
                  <a:pt x="0" y="922"/>
                  <a:pt x="0" y="848"/>
                </a:cubicBezTo>
                <a:close/>
              </a:path>
            </a:pathLst>
          </a:custGeom>
          <a:solidFill>
            <a:srgbClr val="64d6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370080" y="2447640"/>
            <a:ext cx="5020200" cy="333360"/>
          </a:xfrm>
          <a:custGeom>
            <a:avLst/>
            <a:gdLst/>
            <a:ahLst/>
            <a:rect l="0" t="0" r="r" b="b"/>
            <a:pathLst>
              <a:path w="13945" h="926">
                <a:moveTo>
                  <a:pt x="0" y="820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13839" y="0"/>
                </a:lnTo>
                <a:cubicBezTo>
                  <a:pt x="13897" y="0"/>
                  <a:pt x="13945" y="48"/>
                  <a:pt x="13945" y="106"/>
                </a:cubicBezTo>
                <a:lnTo>
                  <a:pt x="13945" y="820"/>
                </a:lnTo>
                <a:cubicBezTo>
                  <a:pt x="13945" y="879"/>
                  <a:pt x="13897" y="926"/>
                  <a:pt x="13839" y="926"/>
                </a:cubicBezTo>
                <a:lnTo>
                  <a:pt x="105" y="926"/>
                </a:lnTo>
                <a:cubicBezTo>
                  <a:pt x="47" y="926"/>
                  <a:pt x="0" y="879"/>
                  <a:pt x="0" y="820"/>
                </a:cubicBezTo>
                <a:close/>
              </a:path>
            </a:pathLst>
          </a:custGeom>
          <a:solidFill>
            <a:srgbClr val="e4f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209040" y="2046240"/>
            <a:ext cx="44424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(BSTS).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451440" y="2462760"/>
            <a:ext cx="4792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Why three outcomes?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Each isolates a distinct welfare dimension — Q1 the</a:t>
            </a:r>
            <a:r>
              <a:rPr b="1" lang="en-US" sz="790" spc="-1" strike="noStrike">
                <a:solidFill>
                  <a:srgbClr val="1b9e4b"/>
                </a:solidFill>
                <a:latin typeface="LMSans10"/>
                <a:ea typeface="LMSans10"/>
              </a:rPr>
              <a:t> intended public-health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gain, Q2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456840" y="2583000"/>
            <a:ext cx="703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the</a:t>
            </a:r>
            <a:r>
              <a:rPr b="1" lang="en-US" sz="790" spc="-1" strike="noStrike">
                <a:solidFill>
                  <a:srgbClr val="ef4444"/>
                </a:solidFill>
                <a:latin typeface="LMSans10"/>
                <a:ea typeface="LMSans10"/>
              </a:rPr>
              <a:t> direct fiscal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202040" y="2583000"/>
            <a:ext cx="2529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ef4444"/>
                </a:solidFill>
                <a:latin typeface="LMSans10"/>
                <a:ea typeface="LMSans10"/>
              </a:rPr>
              <a:t>cost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, Q3 the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net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economic effect of competing channels.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4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94680" y="5760"/>
            <a:ext cx="19756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The Identification Challenge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60000" y="583920"/>
            <a:ext cx="10630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Standard tools fall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470240" y="583920"/>
            <a:ext cx="3315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short.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496800" y="7981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37200" y="788400"/>
            <a:ext cx="2109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DiD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886320" y="788400"/>
            <a:ext cx="768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requires parallel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687320" y="788400"/>
            <a:ext cx="1065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pre-trends — Bihar is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637200" y="927360"/>
            <a:ext cx="210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an outlier on income, urbanisation, literacy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496800" y="11271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37200" y="1117440"/>
            <a:ext cx="1209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IV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96680" y="1117080"/>
            <a:ext cx="200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has no obvious instrument for state-wide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637200" y="1256400"/>
            <a:ext cx="281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policy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96800" y="14558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637200" y="1446120"/>
            <a:ext cx="909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Single treated unit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582200" y="14558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738440" y="1446120"/>
            <a:ext cx="980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no within-treatment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59640" y="2013120"/>
            <a:ext cx="2419920" cy="573840"/>
          </a:xfrm>
          <a:custGeom>
            <a:avLst/>
            <a:gdLst/>
            <a:ahLst/>
            <a:rect l="0" t="0" r="r" b="b"/>
            <a:pathLst>
              <a:path w="6722" h="1594">
                <a:moveTo>
                  <a:pt x="0" y="1460"/>
                </a:moveTo>
                <a:lnTo>
                  <a:pt x="0" y="133"/>
                </a:lnTo>
                <a:cubicBezTo>
                  <a:pt x="0" y="59"/>
                  <a:pt x="60" y="0"/>
                  <a:pt x="134" y="0"/>
                </a:cubicBezTo>
                <a:lnTo>
                  <a:pt x="6588" y="0"/>
                </a:lnTo>
                <a:cubicBezTo>
                  <a:pt x="6662" y="0"/>
                  <a:pt x="6722" y="59"/>
                  <a:pt x="6722" y="133"/>
                </a:cubicBezTo>
                <a:lnTo>
                  <a:pt x="6722" y="1460"/>
                </a:lnTo>
                <a:cubicBezTo>
                  <a:pt x="6722" y="1534"/>
                  <a:pt x="6662" y="1594"/>
                  <a:pt x="6588" y="1594"/>
                </a:cubicBezTo>
                <a:lnTo>
                  <a:pt x="134" y="1594"/>
                </a:lnTo>
                <a:cubicBezTo>
                  <a:pt x="60" y="1594"/>
                  <a:pt x="0" y="1534"/>
                  <a:pt x="0" y="1460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70080" y="2023200"/>
            <a:ext cx="2399040" cy="553680"/>
          </a:xfrm>
          <a:custGeom>
            <a:avLst/>
            <a:gdLst/>
            <a:ahLst/>
            <a:rect l="0" t="0" r="r" b="b"/>
            <a:pathLst>
              <a:path w="6664" h="1538">
                <a:moveTo>
                  <a:pt x="0" y="1433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7"/>
                  <a:pt x="6664" y="105"/>
                </a:cubicBezTo>
                <a:lnTo>
                  <a:pt x="6664" y="1433"/>
                </a:lnTo>
                <a:cubicBezTo>
                  <a:pt x="6664" y="1491"/>
                  <a:pt x="6617" y="1538"/>
                  <a:pt x="6559" y="1538"/>
                </a:cubicBezTo>
                <a:lnTo>
                  <a:pt x="105" y="1538"/>
                </a:lnTo>
                <a:cubicBezTo>
                  <a:pt x="47" y="1538"/>
                  <a:pt x="0" y="1491"/>
                  <a:pt x="0" y="1433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34320" y="1585440"/>
            <a:ext cx="424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variation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456840" y="2037960"/>
            <a:ext cx="13327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SCM matches the structure.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869120" y="2037960"/>
            <a:ext cx="8146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One treated unit,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456840" y="2158200"/>
            <a:ext cx="2210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many donors, long pre-period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exactly the set-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56840" y="2278440"/>
            <a:ext cx="2198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ting Abadie–Diamond–Hainmueller (2010) intro-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980800" y="935640"/>
            <a:ext cx="2419560" cy="1128600"/>
          </a:xfrm>
          <a:custGeom>
            <a:avLst/>
            <a:gdLst/>
            <a:ahLst/>
            <a:rect l="0" t="0" r="r" b="b"/>
            <a:pathLst>
              <a:path w="6721" h="3135">
                <a:moveTo>
                  <a:pt x="0" y="3002"/>
                </a:moveTo>
                <a:lnTo>
                  <a:pt x="0" y="134"/>
                </a:lnTo>
                <a:cubicBezTo>
                  <a:pt x="0" y="60"/>
                  <a:pt x="59" y="0"/>
                  <a:pt x="133" y="0"/>
                </a:cubicBezTo>
                <a:lnTo>
                  <a:pt x="6587" y="0"/>
                </a:lnTo>
                <a:cubicBezTo>
                  <a:pt x="6661" y="0"/>
                  <a:pt x="6721" y="60"/>
                  <a:pt x="6721" y="134"/>
                </a:cubicBezTo>
                <a:lnTo>
                  <a:pt x="6721" y="3002"/>
                </a:lnTo>
                <a:cubicBezTo>
                  <a:pt x="6721" y="3076"/>
                  <a:pt x="6661" y="3135"/>
                  <a:pt x="6587" y="3135"/>
                </a:cubicBezTo>
                <a:lnTo>
                  <a:pt x="133" y="3135"/>
                </a:lnTo>
                <a:cubicBezTo>
                  <a:pt x="59" y="3135"/>
                  <a:pt x="0" y="3076"/>
                  <a:pt x="0" y="3002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990880" y="946080"/>
            <a:ext cx="2399040" cy="1108080"/>
          </a:xfrm>
          <a:custGeom>
            <a:avLst/>
            <a:gdLst/>
            <a:ahLst/>
            <a:rect l="0" t="0" r="r" b="b"/>
            <a:pathLst>
              <a:path w="6664" h="3078">
                <a:moveTo>
                  <a:pt x="0" y="2973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7"/>
                  <a:pt x="6664" y="105"/>
                </a:cubicBezTo>
                <a:lnTo>
                  <a:pt x="6664" y="2973"/>
                </a:lnTo>
                <a:cubicBezTo>
                  <a:pt x="6664" y="3031"/>
                  <a:pt x="6617" y="3078"/>
                  <a:pt x="6559" y="3078"/>
                </a:cubicBezTo>
                <a:lnTo>
                  <a:pt x="105" y="3078"/>
                </a:lnTo>
                <a:cubicBezTo>
                  <a:pt x="47" y="3078"/>
                  <a:pt x="0" y="3031"/>
                  <a:pt x="0" y="2973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56840" y="2398680"/>
            <a:ext cx="995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duced the method for.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077640" y="960840"/>
            <a:ext cx="2213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Bihar’s pre-period income and urbanisation lie at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3077640" y="1081080"/>
            <a:ext cx="1515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the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lower edge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of the donor pool.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688640" y="1081080"/>
            <a:ext cx="601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 naive SCM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3077640" y="1201320"/>
            <a:ext cx="2198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optimiser collapses to a</a:t>
            </a:r>
            <a:r>
              <a:rPr b="1" lang="en-US" sz="790" spc="-1" strike="noStrike">
                <a:solidFill>
                  <a:srgbClr val="ef4444"/>
                </a:solidFill>
                <a:latin typeface="LMSans10"/>
                <a:ea typeface="LMSans10"/>
              </a:rPr>
              <a:t> corner solution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(100% UP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074040" y="1321560"/>
            <a:ext cx="365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weight).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3077640" y="1495800"/>
            <a:ext cx="16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Fix: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598920" y="1495800"/>
            <a:ext cx="316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include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106520" y="1495800"/>
            <a:ext cx="29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lagged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4588200" y="1495800"/>
            <a:ext cx="427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outcomes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5208480" y="1495800"/>
            <a:ext cx="10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3077640" y="1630080"/>
            <a:ext cx="960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Mono8"/>
                <a:ea typeface="LMMono8"/>
              </a:rPr>
              <a:t>special_predictors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4141440" y="1616040"/>
            <a:ext cx="35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(Abadie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4594320" y="1616040"/>
            <a:ext cx="217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2010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4909680" y="1616040"/>
            <a:ext cx="201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§IV)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5209560" y="1616040"/>
            <a:ext cx="109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077640" y="1735920"/>
            <a:ext cx="162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this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321000" y="1735920"/>
            <a:ext cx="345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anchors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746160" y="1735920"/>
            <a:ext cx="14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970440" y="1735920"/>
            <a:ext cx="404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synthetic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4458240" y="1735920"/>
            <a:ext cx="10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to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631760" y="1735920"/>
            <a:ext cx="314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Bihar’s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5026680" y="1735920"/>
            <a:ext cx="273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actual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3077640" y="1856160"/>
            <a:ext cx="2027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trajectory, not just its socio-economic profile.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5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00080" y="5760"/>
            <a:ext cx="10112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Data — Panel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1159200" y="5760"/>
            <a:ext cx="8892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Construction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356040" y="527040"/>
            <a:ext cx="365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f4c81"/>
                </a:solidFill>
                <a:latin typeface="LMSans10"/>
                <a:ea typeface="LMSans10"/>
              </a:rPr>
              <a:t>Annual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61760" y="527040"/>
            <a:ext cx="122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f4c81"/>
                </a:solidFill>
                <a:latin typeface="LMSans10"/>
                <a:ea typeface="LMSans10"/>
              </a:rPr>
              <a:t>state panel, 2010–2022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2015640" y="526680"/>
            <a:ext cx="595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— 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15 states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649240" y="5367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×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2779200" y="526680"/>
            <a:ext cx="986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13 years = 195 obs.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3807720" y="526680"/>
            <a:ext cx="1353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Telangana excluded (only 2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359640" y="966960"/>
            <a:ext cx="5040000" cy="0"/>
          </a:xfrm>
          <a:prstGeom prst="line">
            <a:avLst/>
          </a:prstGeom>
          <a:ln w="1080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84040" y="1012320"/>
            <a:ext cx="1227600" cy="204840"/>
          </a:xfrm>
          <a:custGeom>
            <a:avLst/>
            <a:gdLst/>
            <a:ahLst/>
            <a:rect l="0" t="0" r="r" b="b"/>
            <a:pathLst>
              <a:path w="3410" h="569">
                <a:moveTo>
                  <a:pt x="0" y="569"/>
                </a:moveTo>
                <a:lnTo>
                  <a:pt x="3410" y="569"/>
                </a:lnTo>
                <a:lnTo>
                  <a:pt x="3410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60000" y="698760"/>
            <a:ext cx="2059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pre-treatment obs after 2014 bifurcation).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511280" y="1012320"/>
            <a:ext cx="2752200" cy="204840"/>
          </a:xfrm>
          <a:custGeom>
            <a:avLst/>
            <a:gdLst/>
            <a:ahLst/>
            <a:rect l="0" t="0" r="r" b="b"/>
            <a:pathLst>
              <a:path w="7645" h="569">
                <a:moveTo>
                  <a:pt x="0" y="569"/>
                </a:moveTo>
                <a:lnTo>
                  <a:pt x="7645" y="569"/>
                </a:lnTo>
                <a:lnTo>
                  <a:pt x="7645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60000" y="979920"/>
            <a:ext cx="3754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Variable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4263120" y="1012320"/>
            <a:ext cx="1212840" cy="204840"/>
          </a:xfrm>
          <a:custGeom>
            <a:avLst/>
            <a:gdLst/>
            <a:ahLst/>
            <a:rect l="0" t="0" r="r" b="b"/>
            <a:pathLst>
              <a:path w="3369" h="569">
                <a:moveTo>
                  <a:pt x="0" y="569"/>
                </a:moveTo>
                <a:lnTo>
                  <a:pt x="3369" y="569"/>
                </a:lnTo>
                <a:lnTo>
                  <a:pt x="3369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587240" y="1064160"/>
            <a:ext cx="520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Description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359640" y="1244880"/>
            <a:ext cx="5040000" cy="0"/>
          </a:xfrm>
          <a:prstGeom prst="line">
            <a:avLst/>
          </a:prstGeom>
          <a:ln w="684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4339080" y="979920"/>
            <a:ext cx="3117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Source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360000" y="1270080"/>
            <a:ext cx="10674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road_accident_deaths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587240" y="1255680"/>
            <a:ext cx="1402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Persons killed in road accidents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4339080" y="1255680"/>
            <a:ext cx="1056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MoRTH PDFs 2010–23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360000" y="1389960"/>
            <a:ext cx="960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own_tax_revenue_cr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587240" y="1375920"/>
            <a:ext cx="1555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State own-tax revenue (composite,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188520" y="13845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Font Awesome 5 Free Solid"/>
                <a:ea typeface="Font Awesome 5 Free Solid"/>
              </a:rPr>
              <a:t>Ñ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3269880" y="1375920"/>
            <a:ext cx="146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Cr)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4339080" y="1375920"/>
            <a:ext cx="925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RBI Handbook T168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360000" y="1510200"/>
            <a:ext cx="101412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nsdp_pc_current_inr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587240" y="1496160"/>
            <a:ext cx="1753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Net State Domestic Product per capita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4339080" y="1496160"/>
            <a:ext cx="872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RBI Handbook T19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360000" y="1630440"/>
            <a:ext cx="801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nsdp_growth_yoy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587240" y="1616400"/>
            <a:ext cx="2018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YoY % growth of NSDP per capita (derived)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339080" y="1616400"/>
            <a:ext cx="916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Computed from T19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360000" y="1750680"/>
            <a:ext cx="801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urban_share_pct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587240" y="1736640"/>
            <a:ext cx="1043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Urban population share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339080" y="1736640"/>
            <a:ext cx="1000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Census 2011 + interp.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360000" y="1870920"/>
            <a:ext cx="9075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literacy_rate_pct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587240" y="1856880"/>
            <a:ext cx="1006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Literacy rate (age 7+)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359640" y="2039760"/>
            <a:ext cx="5040000" cy="0"/>
          </a:xfrm>
          <a:prstGeom prst="line">
            <a:avLst/>
          </a:prstGeom>
          <a:ln w="1080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359640" y="2249280"/>
            <a:ext cx="5040720" cy="345600"/>
          </a:xfrm>
          <a:custGeom>
            <a:avLst/>
            <a:gdLst/>
            <a:ahLst/>
            <a:rect l="0" t="0" r="r" b="b"/>
            <a:pathLst>
              <a:path w="14002" h="960">
                <a:moveTo>
                  <a:pt x="0" y="836"/>
                </a:moveTo>
                <a:lnTo>
                  <a:pt x="0" y="123"/>
                </a:lnTo>
                <a:cubicBezTo>
                  <a:pt x="0" y="55"/>
                  <a:pt x="56" y="0"/>
                  <a:pt x="123" y="0"/>
                </a:cubicBezTo>
                <a:lnTo>
                  <a:pt x="13879" y="0"/>
                </a:lnTo>
                <a:cubicBezTo>
                  <a:pt x="13947" y="0"/>
                  <a:pt x="14002" y="55"/>
                  <a:pt x="14002" y="123"/>
                </a:cubicBezTo>
                <a:lnTo>
                  <a:pt x="14002" y="836"/>
                </a:lnTo>
                <a:cubicBezTo>
                  <a:pt x="14002" y="904"/>
                  <a:pt x="13947" y="960"/>
                  <a:pt x="13879" y="960"/>
                </a:cubicBezTo>
                <a:lnTo>
                  <a:pt x="123" y="960"/>
                </a:lnTo>
                <a:cubicBezTo>
                  <a:pt x="56" y="960"/>
                  <a:pt x="0" y="904"/>
                  <a:pt x="0" y="836"/>
                </a:cubicBez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366120" y="2255400"/>
            <a:ext cx="5027760" cy="333360"/>
          </a:xfrm>
          <a:custGeom>
            <a:avLst/>
            <a:gdLst/>
            <a:ahLst/>
            <a:rect l="0" t="0" r="r" b="b"/>
            <a:pathLst>
              <a:path w="13966" h="926">
                <a:moveTo>
                  <a:pt x="0" y="820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13861" y="0"/>
                </a:lnTo>
                <a:cubicBezTo>
                  <a:pt x="13919" y="0"/>
                  <a:pt x="13966" y="48"/>
                  <a:pt x="13966" y="106"/>
                </a:cubicBezTo>
                <a:lnTo>
                  <a:pt x="13966" y="820"/>
                </a:lnTo>
                <a:cubicBezTo>
                  <a:pt x="13966" y="879"/>
                  <a:pt x="13919" y="926"/>
                  <a:pt x="13861" y="926"/>
                </a:cubicBezTo>
                <a:lnTo>
                  <a:pt x="105" y="926"/>
                </a:lnTo>
                <a:cubicBezTo>
                  <a:pt x="47" y="926"/>
                  <a:pt x="0" y="879"/>
                  <a:pt x="0" y="820"/>
                </a:cubicBezTo>
                <a:close/>
              </a:path>
            </a:pathLst>
          </a:custGeom>
          <a:solidFill>
            <a:srgbClr val="f5f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4339080" y="1856880"/>
            <a:ext cx="1000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Census 2011 + interp.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436680" y="2270520"/>
            <a:ext cx="826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Acquisition stack.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327680" y="2270520"/>
            <a:ext cx="1527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MoRTH PDFs via Wayback CDX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908080" y="22791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054600" y="2284560"/>
            <a:ext cx="374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Mono8"/>
                <a:ea typeface="LMMono8"/>
              </a:rPr>
              <a:t>camelot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469680" y="2270520"/>
            <a:ext cx="1100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stream-mode extraction.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4645440" y="2270520"/>
            <a:ext cx="65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RBI behind F5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440280" y="2390760"/>
            <a:ext cx="1145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BIG-IP TSPD cookie wall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628640" y="2390760"/>
            <a:ext cx="945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— 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two-step warmup.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2617200" y="2390760"/>
            <a:ext cx="166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Full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2818440" y="2390760"/>
            <a:ext cx="695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provenance log: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3564000" y="2404800"/>
            <a:ext cx="13356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Mono8"/>
                <a:ea typeface="LMMono8"/>
              </a:rPr>
              <a:t>data/raw/bihar/SOURCES.md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4908240" y="23907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6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70" name="" descr=""/>
          <p:cNvPicPr/>
          <p:nvPr/>
        </p:nvPicPr>
        <p:blipFill>
          <a:blip r:embed="rId1"/>
          <a:stretch/>
        </p:blipFill>
        <p:spPr>
          <a:xfrm>
            <a:off x="360000" y="704880"/>
            <a:ext cx="2922840" cy="1441440"/>
          </a:xfrm>
          <a:prstGeom prst="rect">
            <a:avLst/>
          </a:prstGeom>
          <a:ln w="0">
            <a:noFill/>
          </a:ln>
        </p:spPr>
      </p:pic>
      <p:sp>
        <p:nvSpPr>
          <p:cNvPr id="271" name=""/>
          <p:cNvSpPr txBox="1"/>
          <p:nvPr/>
        </p:nvSpPr>
        <p:spPr>
          <a:xfrm>
            <a:off x="100080" y="5760"/>
            <a:ext cx="28278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Pre-Treatment EDA — Donor Selection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3379320" y="652320"/>
            <a:ext cx="1983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Top correlated donors (pre-2016):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3520800" y="8661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3658320" y="856440"/>
            <a:ext cx="1718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Jharkhand, Odisha, UP, MP, West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3661200" y="995760"/>
            <a:ext cx="334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Bengal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3520800" y="11952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3661200" y="1185480"/>
            <a:ext cx="1598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Geographic neighbours &amp; similar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3661200" y="1324800"/>
            <a:ext cx="925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income trajectories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3520800" y="15242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3661200" y="1514520"/>
            <a:ext cx="585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Pre-period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296960" y="15242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420440" y="151452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4478760" y="15242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3384000" y="1899000"/>
            <a:ext cx="2016360" cy="593640"/>
          </a:xfrm>
          <a:custGeom>
            <a:avLst/>
            <a:gdLst/>
            <a:ahLst/>
            <a:rect l="0" t="0" r="r" b="b"/>
            <a:pathLst>
              <a:path w="5601" h="1649">
                <a:moveTo>
                  <a:pt x="0" y="1515"/>
                </a:moveTo>
                <a:lnTo>
                  <a:pt x="0" y="133"/>
                </a:lnTo>
                <a:cubicBezTo>
                  <a:pt x="0" y="59"/>
                  <a:pt x="59" y="0"/>
                  <a:pt x="133" y="0"/>
                </a:cubicBezTo>
                <a:lnTo>
                  <a:pt x="5467" y="0"/>
                </a:lnTo>
                <a:cubicBezTo>
                  <a:pt x="5541" y="0"/>
                  <a:pt x="5601" y="59"/>
                  <a:pt x="5601" y="133"/>
                </a:cubicBezTo>
                <a:lnTo>
                  <a:pt x="5601" y="1515"/>
                </a:lnTo>
                <a:cubicBezTo>
                  <a:pt x="5601" y="1589"/>
                  <a:pt x="5541" y="1649"/>
                  <a:pt x="5467" y="1649"/>
                </a:cubicBezTo>
                <a:lnTo>
                  <a:pt x="133" y="1649"/>
                </a:lnTo>
                <a:cubicBezTo>
                  <a:pt x="59" y="1649"/>
                  <a:pt x="0" y="1589"/>
                  <a:pt x="0" y="1515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3394080" y="1909080"/>
            <a:ext cx="1995840" cy="573480"/>
          </a:xfrm>
          <a:custGeom>
            <a:avLst/>
            <a:gdLst/>
            <a:ahLst/>
            <a:rect l="0" t="0" r="r" b="b"/>
            <a:pathLst>
              <a:path w="5544" h="1593">
                <a:moveTo>
                  <a:pt x="0" y="1487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5439" y="0"/>
                </a:lnTo>
                <a:cubicBezTo>
                  <a:pt x="5497" y="0"/>
                  <a:pt x="5544" y="47"/>
                  <a:pt x="5544" y="105"/>
                </a:cubicBezTo>
                <a:lnTo>
                  <a:pt x="5544" y="1487"/>
                </a:lnTo>
                <a:cubicBezTo>
                  <a:pt x="5544" y="1546"/>
                  <a:pt x="5497" y="1593"/>
                  <a:pt x="5439" y="1593"/>
                </a:cubicBezTo>
                <a:lnTo>
                  <a:pt x="105" y="1593"/>
                </a:lnTo>
                <a:cubicBezTo>
                  <a:pt x="47" y="1593"/>
                  <a:pt x="0" y="1546"/>
                  <a:pt x="0" y="1487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4511520" y="151452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9 for top 3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3475440" y="1923840"/>
            <a:ext cx="808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Why this matters.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4334760" y="1923840"/>
            <a:ext cx="962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Donor pool must span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3480840" y="2044080"/>
            <a:ext cx="1616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Bihar’s pre-trend in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outcome space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5175000" y="2044080"/>
            <a:ext cx="14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Se-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3480840" y="2164320"/>
            <a:ext cx="1745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lecting on outcome correlation is more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3480840" y="2284560"/>
            <a:ext cx="1824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robust than selecting on covariates alone.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7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00080" y="5760"/>
            <a:ext cx="20505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Method — Synthetic Control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356040" y="695160"/>
            <a:ext cx="681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Treated unit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069560" y="695160"/>
            <a:ext cx="1289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= 1 (Bihar) and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J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donors.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404440" y="695160"/>
            <a:ext cx="756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Choose weights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3197880" y="69552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a3a66"/>
                </a:solidFill>
                <a:latin typeface="LMSans10"/>
                <a:ea typeface="LMSans10"/>
              </a:rPr>
              <a:t>w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3315240" y="695160"/>
            <a:ext cx="255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= (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w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3564360" y="75204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2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3610800" y="705240"/>
            <a:ext cx="2660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, . . . ,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3871080" y="69516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w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3951000" y="752760"/>
            <a:ext cx="14112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J</a:t>
            </a:r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+1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4105080" y="69516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4150440" y="697320"/>
            <a:ext cx="75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MathSymbols6"/>
                <a:ea typeface="LMMathSymbols6"/>
              </a:rPr>
              <a:t>⊤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359640" y="982440"/>
            <a:ext cx="5040720" cy="389520"/>
          </a:xfrm>
          <a:custGeom>
            <a:avLst/>
            <a:gdLst/>
            <a:ahLst/>
            <a:rect l="0" t="0" r="r" b="b"/>
            <a:pathLst>
              <a:path w="14002" h="1082">
                <a:moveTo>
                  <a:pt x="0" y="948"/>
                </a:moveTo>
                <a:lnTo>
                  <a:pt x="0" y="133"/>
                </a:lnTo>
                <a:cubicBezTo>
                  <a:pt x="0" y="59"/>
                  <a:pt x="60" y="0"/>
                  <a:pt x="134" y="0"/>
                </a:cubicBezTo>
                <a:lnTo>
                  <a:pt x="13868" y="0"/>
                </a:lnTo>
                <a:cubicBezTo>
                  <a:pt x="13942" y="0"/>
                  <a:pt x="14002" y="59"/>
                  <a:pt x="14002" y="133"/>
                </a:cubicBezTo>
                <a:lnTo>
                  <a:pt x="14002" y="948"/>
                </a:lnTo>
                <a:cubicBezTo>
                  <a:pt x="14002" y="1021"/>
                  <a:pt x="13942" y="1082"/>
                  <a:pt x="13868" y="1082"/>
                </a:cubicBezTo>
                <a:lnTo>
                  <a:pt x="134" y="1082"/>
                </a:lnTo>
                <a:cubicBezTo>
                  <a:pt x="60" y="1082"/>
                  <a:pt x="0" y="1021"/>
                  <a:pt x="0" y="94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370080" y="992520"/>
            <a:ext cx="5020200" cy="369360"/>
          </a:xfrm>
          <a:custGeom>
            <a:avLst/>
            <a:gdLst/>
            <a:ahLst/>
            <a:rect l="0" t="0" r="r" b="b"/>
            <a:pathLst>
              <a:path w="13945" h="1026">
                <a:moveTo>
                  <a:pt x="0" y="921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13839" y="0"/>
                </a:lnTo>
                <a:cubicBezTo>
                  <a:pt x="13897" y="0"/>
                  <a:pt x="13945" y="47"/>
                  <a:pt x="13945" y="105"/>
                </a:cubicBezTo>
                <a:lnTo>
                  <a:pt x="13945" y="921"/>
                </a:lnTo>
                <a:cubicBezTo>
                  <a:pt x="13945" y="979"/>
                  <a:pt x="13897" y="1026"/>
                  <a:pt x="13839" y="1026"/>
                </a:cubicBezTo>
                <a:lnTo>
                  <a:pt x="105" y="1026"/>
                </a:lnTo>
                <a:cubicBezTo>
                  <a:pt x="47" y="1026"/>
                  <a:pt x="0" y="979"/>
                  <a:pt x="0" y="921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4268880" y="695160"/>
            <a:ext cx="410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to solve: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143360" y="1053360"/>
            <a:ext cx="1260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237680" y="1052640"/>
            <a:ext cx="8820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MathSymbols7"/>
                <a:ea typeface="LMMathSymbols7"/>
              </a:rPr>
              <a:t>∗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366200" y="1053360"/>
            <a:ext cx="5464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= arg min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721520" y="1179000"/>
            <a:ext cx="882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90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787400" y="1186200"/>
            <a:ext cx="15300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MathSymbols7"/>
                <a:ea typeface="LMMathSymbols7"/>
              </a:rPr>
              <a:t>∈</a:t>
            </a:r>
            <a:r>
              <a:rPr b="0" i="1" lang="en-US" sz="690" spc="-1" strike="noStrike">
                <a:solidFill>
                  <a:srgbClr val="000000"/>
                </a:solidFill>
                <a:latin typeface="LMMathSymbols7"/>
                <a:ea typeface="LMMathSymbols7"/>
              </a:rPr>
              <a:t>W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998720" y="956520"/>
            <a:ext cx="1260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998720" y="1032480"/>
            <a:ext cx="1260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068920" y="10533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X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2153520" y="11163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1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2234880" y="10641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Symbols10"/>
                <a:ea typeface="LMMathSymbols10"/>
              </a:rPr>
              <a:t>−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2361600" y="10533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X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2445840" y="11163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0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2520360" y="1053360"/>
            <a:ext cx="1260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2614680" y="956520"/>
            <a:ext cx="1260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2614680" y="1032480"/>
            <a:ext cx="1260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2684880" y="114768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V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2789280" y="10641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,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2972160" y="10641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Symbols10"/>
                <a:ea typeface="LMMathSymbols10"/>
              </a:rPr>
              <a:t>W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3142440" y="10533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=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3276000" y="9237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MathExtension10"/>
                <a:ea typeface="LMMathExtension10"/>
              </a:rPr>
              <a:t>n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3360600" y="1053360"/>
            <a:ext cx="21384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:</a:t>
            </a:r>
            <a:r>
              <a:rPr b="0" i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3604680" y="11163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j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3678480" y="10641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Symbols10"/>
                <a:ea typeface="LMMathSymbols10"/>
              </a:rPr>
              <a:t>≥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812040" y="10533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0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875400" y="10641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,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3966840" y="94392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MathExtension10"/>
                <a:ea typeface="LMMathExtension10"/>
              </a:rPr>
              <a:t>X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4170600" y="10533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4257000" y="11163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j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4330800" y="1053360"/>
            <a:ext cx="2034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= 1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527720" y="9237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MathExtension10"/>
                <a:ea typeface="LMMathExtension10"/>
              </a:rPr>
              <a:t>o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360000" y="14655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X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431640" y="150984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1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478440" y="14655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555840" y="1465560"/>
            <a:ext cx="1349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predictor vector for treated;</a:t>
            </a:r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 X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902600" y="150984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0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949040" y="14655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2026800" y="14655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K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136960" y="14742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2244600" y="1465560"/>
            <a:ext cx="861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J</a:t>
            </a:r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 donor matrix;</a:t>
            </a:r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 V</a:t>
            </a:r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 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3147120" y="1465560"/>
            <a:ext cx="2082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predictor-importance weight matrix (chosen to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360000" y="1585800"/>
            <a:ext cx="1265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minimise pre-period MSPE).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356040" y="1818360"/>
            <a:ext cx="1955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f4c81"/>
                </a:solidFill>
                <a:latin typeface="LMSans10"/>
                <a:ea typeface="LMSans10"/>
              </a:rPr>
              <a:t>Two consequences of the convex-hull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2332800" y="1818360"/>
            <a:ext cx="554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f4c81"/>
                </a:solidFill>
                <a:latin typeface="LMSans10"/>
                <a:ea typeface="LMSans10"/>
              </a:rPr>
              <a:t>constraint: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496800" y="20178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637200" y="2008080"/>
            <a:ext cx="4757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Synthetic Bihar cannot extrapolate beyond the donor envelope — good for honest counterfactuals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496800" y="22075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637200" y="2197800"/>
            <a:ext cx="2396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Near a corner, weights collapse to a single donor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050640" y="22075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3206520" y="2197800"/>
            <a:ext cx="1925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poor pre-fit + spurious post-period gap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8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94680" y="5760"/>
            <a:ext cx="1178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The Convex Hull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4" name="" descr=""/>
          <p:cNvPicPr/>
          <p:nvPr/>
        </p:nvPicPr>
        <p:blipFill>
          <a:blip r:embed="rId1"/>
          <a:stretch/>
        </p:blipFill>
        <p:spPr>
          <a:xfrm>
            <a:off x="360000" y="516600"/>
            <a:ext cx="2519640" cy="1992600"/>
          </a:xfrm>
          <a:prstGeom prst="rect">
            <a:avLst/>
          </a:prstGeom>
          <a:ln w="0">
            <a:noFill/>
          </a:ln>
        </p:spPr>
      </p:pic>
      <p:sp>
        <p:nvSpPr>
          <p:cNvPr id="365" name=""/>
          <p:cNvSpPr txBox="1"/>
          <p:nvPr/>
        </p:nvSpPr>
        <p:spPr>
          <a:xfrm>
            <a:off x="1324080" y="5760"/>
            <a:ext cx="16405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Problem — And Its Fix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474840" y="2538000"/>
            <a:ext cx="1754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Bihar persistently</a:t>
            </a:r>
            <a:r>
              <a:rPr b="0" i="1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 below</a:t>
            </a:r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 the donor pool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2280960" y="2538000"/>
            <a:ext cx="480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average on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150200" y="2658240"/>
            <a:ext cx="954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road-accident deaths.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3075120" y="458280"/>
            <a:ext cx="9334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Without the fix.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3218040" y="6724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3358800" y="662760"/>
            <a:ext cx="2010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Match on socio-economic predictors only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3218040" y="8622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3358800" y="852480"/>
            <a:ext cx="1628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Optimiser picks 100% UP weight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3218040" y="10519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3358800" y="1042200"/>
            <a:ext cx="596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Pre-RMSPE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3991680" y="10519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ef4444"/>
                </a:solidFill>
                <a:latin typeface="LMMathSymbols9"/>
                <a:ea typeface="LMMathSymbols9"/>
              </a:rPr>
              <a:t>∼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4082760" y="1042560"/>
            <a:ext cx="6696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1,300 deaths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4749840" y="1042200"/>
            <a:ext cx="494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; post gap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3358800" y="1181520"/>
            <a:ext cx="579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meaningless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075120" y="1428840"/>
            <a:ext cx="23263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With lagged-outcome anchoring (Abadie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3081600" y="1567800"/>
            <a:ext cx="6238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2010 §IV).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3218040" y="1782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3358800" y="1772280"/>
            <a:ext cx="1549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Each pre-period year’s outcome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4937400" y="1782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5093640" y="177228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3358800" y="1927080"/>
            <a:ext cx="1020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Mono9"/>
                <a:ea typeface="LMMono9"/>
              </a:rPr>
              <a:t>special_predictor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3218040" y="2111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3358800" y="2101320"/>
            <a:ext cx="1027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Pre-RMSPE drops to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4423320" y="2101320"/>
            <a:ext cx="5022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1b9e4b"/>
                </a:solidFill>
                <a:latin typeface="LMSans10"/>
                <a:ea typeface="LMSans10"/>
              </a:rPr>
              <a:t>42 deaths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4963680" y="2101320"/>
            <a:ext cx="11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(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5008680" y="2111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&lt;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5112720" y="2101320"/>
            <a:ext cx="287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1% of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3358800" y="2240280"/>
            <a:ext cx="1070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mean) — excellent fit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9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97" name="" descr=""/>
          <p:cNvPicPr/>
          <p:nvPr/>
        </p:nvPicPr>
        <p:blipFill>
          <a:blip r:embed="rId1"/>
          <a:stretch/>
        </p:blipFill>
        <p:spPr>
          <a:xfrm>
            <a:off x="1116000" y="394200"/>
            <a:ext cx="3527640" cy="1579680"/>
          </a:xfrm>
          <a:prstGeom prst="rect">
            <a:avLst/>
          </a:prstGeom>
          <a:ln w="0">
            <a:noFill/>
          </a:ln>
        </p:spPr>
      </p:pic>
      <p:sp>
        <p:nvSpPr>
          <p:cNvPr id="398" name=""/>
          <p:cNvSpPr/>
          <p:nvPr/>
        </p:nvSpPr>
        <p:spPr>
          <a:xfrm>
            <a:off x="359640" y="2286360"/>
            <a:ext cx="1613520" cy="399240"/>
          </a:xfrm>
          <a:custGeom>
            <a:avLst/>
            <a:gdLst/>
            <a:ahLst/>
            <a:rect l="0" t="0" r="r" b="b"/>
            <a:pathLst>
              <a:path w="4482" h="1109">
                <a:moveTo>
                  <a:pt x="0" y="968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968"/>
                </a:lnTo>
                <a:cubicBezTo>
                  <a:pt x="4482" y="1046"/>
                  <a:pt x="4419" y="1109"/>
                  <a:pt x="4341" y="1109"/>
                </a:cubicBezTo>
                <a:lnTo>
                  <a:pt x="141" y="1109"/>
                </a:lnTo>
                <a:cubicBezTo>
                  <a:pt x="63" y="1109"/>
                  <a:pt x="0" y="1046"/>
                  <a:pt x="0" y="968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359640" y="2286360"/>
            <a:ext cx="1613520" cy="399240"/>
          </a:xfrm>
          <a:custGeom>
            <a:avLst/>
            <a:gdLst/>
            <a:ahLst/>
            <a:rect l="0" t="0" r="r" b="b"/>
            <a:pathLst>
              <a:path w="4482" h="1109">
                <a:moveTo>
                  <a:pt x="0" y="968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968"/>
                </a:lnTo>
                <a:cubicBezTo>
                  <a:pt x="4482" y="1046"/>
                  <a:pt x="4419" y="1109"/>
                  <a:pt x="4341" y="1109"/>
                </a:cubicBezTo>
                <a:lnTo>
                  <a:pt x="141" y="1109"/>
                </a:lnTo>
                <a:cubicBezTo>
                  <a:pt x="63" y="1109"/>
                  <a:pt x="0" y="1046"/>
                  <a:pt x="0" y="96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00080" y="5760"/>
            <a:ext cx="35136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Result — Bihar vs Synthetic Bihar (Road Deaths)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904680" y="2290680"/>
            <a:ext cx="3895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4a261"/>
                </a:solidFill>
                <a:latin typeface="LMSans10"/>
                <a:ea typeface="LMSans10"/>
              </a:rPr>
              <a:t>22.87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292400" y="2303640"/>
            <a:ext cx="151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i="1" lang="en-US" sz="1200" spc="-1" strike="noStrike">
                <a:solidFill>
                  <a:srgbClr val="f4a261"/>
                </a:solidFill>
                <a:latin typeface="LMMathSymbols10"/>
                <a:ea typeface="LMMathSymbols10"/>
              </a:rPr>
              <a:t>×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2073240" y="2286360"/>
            <a:ext cx="1613520" cy="525600"/>
          </a:xfrm>
          <a:custGeom>
            <a:avLst/>
            <a:gdLst/>
            <a:ahLst/>
            <a:rect l="0" t="0" r="r" b="b"/>
            <a:pathLst>
              <a:path w="4482" h="1460">
                <a:moveTo>
                  <a:pt x="0" y="1320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1320"/>
                </a:lnTo>
                <a:cubicBezTo>
                  <a:pt x="4482" y="1397"/>
                  <a:pt x="4419" y="1460"/>
                  <a:pt x="4341" y="1460"/>
                </a:cubicBezTo>
                <a:lnTo>
                  <a:pt x="141" y="1460"/>
                </a:lnTo>
                <a:cubicBezTo>
                  <a:pt x="63" y="1460"/>
                  <a:pt x="0" y="1397"/>
                  <a:pt x="0" y="1320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2073240" y="2286360"/>
            <a:ext cx="1613520" cy="525600"/>
          </a:xfrm>
          <a:custGeom>
            <a:avLst/>
            <a:gdLst/>
            <a:ahLst/>
            <a:rect l="0" t="0" r="r" b="b"/>
            <a:pathLst>
              <a:path w="4482" h="1460">
                <a:moveTo>
                  <a:pt x="0" y="1320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1320"/>
                </a:lnTo>
                <a:cubicBezTo>
                  <a:pt x="4482" y="1397"/>
                  <a:pt x="4419" y="1460"/>
                  <a:pt x="4341" y="1460"/>
                </a:cubicBezTo>
                <a:lnTo>
                  <a:pt x="141" y="1460"/>
                </a:lnTo>
                <a:cubicBezTo>
                  <a:pt x="63" y="1460"/>
                  <a:pt x="0" y="1397"/>
                  <a:pt x="0" y="132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581040" y="2469240"/>
            <a:ext cx="11498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RMSPE ratio (post/pre)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2514960" y="2297160"/>
            <a:ext cx="7246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4a261"/>
                </a:solidFill>
                <a:latin typeface="LMSans10"/>
                <a:ea typeface="LMSans10"/>
              </a:rPr>
              <a:t>+360 / yr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2419920" y="2475720"/>
            <a:ext cx="8982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avg post-treatment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3786840" y="2286360"/>
            <a:ext cx="1613520" cy="399240"/>
          </a:xfrm>
          <a:custGeom>
            <a:avLst/>
            <a:gdLst/>
            <a:ahLst/>
            <a:rect l="0" t="0" r="r" b="b"/>
            <a:pathLst>
              <a:path w="4482" h="1109">
                <a:moveTo>
                  <a:pt x="0" y="968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968"/>
                </a:lnTo>
                <a:cubicBezTo>
                  <a:pt x="4482" y="1046"/>
                  <a:pt x="4419" y="1109"/>
                  <a:pt x="4341" y="1109"/>
                </a:cubicBezTo>
                <a:lnTo>
                  <a:pt x="141" y="1109"/>
                </a:lnTo>
                <a:cubicBezTo>
                  <a:pt x="63" y="1109"/>
                  <a:pt x="0" y="1046"/>
                  <a:pt x="0" y="968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3786840" y="2286360"/>
            <a:ext cx="1613520" cy="399240"/>
          </a:xfrm>
          <a:custGeom>
            <a:avLst/>
            <a:gdLst/>
            <a:ahLst/>
            <a:rect l="0" t="0" r="r" b="b"/>
            <a:pathLst>
              <a:path w="4482" h="1109">
                <a:moveTo>
                  <a:pt x="0" y="968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968"/>
                </a:lnTo>
                <a:cubicBezTo>
                  <a:pt x="4482" y="1046"/>
                  <a:pt x="4419" y="1109"/>
                  <a:pt x="4341" y="1109"/>
                </a:cubicBezTo>
                <a:lnTo>
                  <a:pt x="141" y="1109"/>
                </a:lnTo>
                <a:cubicBezTo>
                  <a:pt x="63" y="1109"/>
                  <a:pt x="0" y="1046"/>
                  <a:pt x="0" y="96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2578680" y="2595960"/>
            <a:ext cx="5965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gap (deaths)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4253040" y="2290680"/>
            <a:ext cx="1544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4a261"/>
                </a:solidFill>
                <a:latin typeface="LMSans10"/>
                <a:ea typeface="LMSans10"/>
              </a:rPr>
              <a:t>p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4385880" y="2303640"/>
            <a:ext cx="151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200" spc="-1" strike="noStrike">
                <a:solidFill>
                  <a:srgbClr val="f4a261"/>
                </a:solidFill>
                <a:latin typeface="LMMathSymbols10"/>
                <a:ea typeface="LMMathSymbols10"/>
              </a:rPr>
              <a:t>≈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4550400" y="2290680"/>
            <a:ext cx="3895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4a261"/>
                </a:solidFill>
                <a:latin typeface="LMSans10"/>
                <a:ea typeface="LMSans10"/>
              </a:rPr>
              <a:t>0.071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3981240" y="2469240"/>
            <a:ext cx="5997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permutation,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4637520" y="2469240"/>
            <a:ext cx="5403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rank 2 / 14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10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19" name="" descr=""/>
          <p:cNvPicPr/>
          <p:nvPr/>
        </p:nvPicPr>
        <p:blipFill>
          <a:blip r:embed="rId1"/>
          <a:stretch/>
        </p:blipFill>
        <p:spPr>
          <a:xfrm>
            <a:off x="360000" y="588240"/>
            <a:ext cx="2771640" cy="986040"/>
          </a:xfrm>
          <a:prstGeom prst="rect">
            <a:avLst/>
          </a:prstGeom>
          <a:ln w="0">
            <a:noFill/>
          </a:ln>
        </p:spPr>
      </p:pic>
      <p:sp>
        <p:nvSpPr>
          <p:cNvPr id="420" name=""/>
          <p:cNvSpPr txBox="1"/>
          <p:nvPr/>
        </p:nvSpPr>
        <p:spPr>
          <a:xfrm>
            <a:off x="94680" y="5760"/>
            <a:ext cx="24163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Treatment Effect — Year by Year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3283200" y="813600"/>
            <a:ext cx="2117160" cy="477720"/>
          </a:xfrm>
          <a:custGeom>
            <a:avLst/>
            <a:gdLst/>
            <a:ahLst/>
            <a:rect l="0" t="0" r="r" b="b"/>
            <a:pathLst>
              <a:path w="5881" h="1327">
                <a:moveTo>
                  <a:pt x="0" y="1194"/>
                </a:moveTo>
                <a:lnTo>
                  <a:pt x="0" y="133"/>
                </a:lnTo>
                <a:cubicBezTo>
                  <a:pt x="0" y="60"/>
                  <a:pt x="59" y="0"/>
                  <a:pt x="133" y="0"/>
                </a:cubicBezTo>
                <a:lnTo>
                  <a:pt x="5747" y="0"/>
                </a:lnTo>
                <a:cubicBezTo>
                  <a:pt x="5821" y="0"/>
                  <a:pt x="5881" y="60"/>
                  <a:pt x="5881" y="133"/>
                </a:cubicBezTo>
                <a:lnTo>
                  <a:pt x="5881" y="1194"/>
                </a:lnTo>
                <a:cubicBezTo>
                  <a:pt x="5881" y="1268"/>
                  <a:pt x="5821" y="1327"/>
                  <a:pt x="5747" y="1327"/>
                </a:cubicBezTo>
                <a:lnTo>
                  <a:pt x="133" y="1327"/>
                </a:lnTo>
                <a:cubicBezTo>
                  <a:pt x="59" y="1327"/>
                  <a:pt x="0" y="1268"/>
                  <a:pt x="0" y="1194"/>
                </a:cubicBezTo>
                <a:close/>
              </a:path>
            </a:pathLst>
          </a:custGeom>
          <a:solidFill>
            <a:srgbClr val="64d6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3293280" y="823680"/>
            <a:ext cx="2096640" cy="457560"/>
          </a:xfrm>
          <a:custGeom>
            <a:avLst/>
            <a:gdLst/>
            <a:ahLst/>
            <a:rect l="0" t="0" r="r" b="b"/>
            <a:pathLst>
              <a:path w="5824" h="1271">
                <a:moveTo>
                  <a:pt x="0" y="1166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5719" y="0"/>
                </a:lnTo>
                <a:cubicBezTo>
                  <a:pt x="5777" y="0"/>
                  <a:pt x="5824" y="47"/>
                  <a:pt x="5824" y="105"/>
                </a:cubicBezTo>
                <a:lnTo>
                  <a:pt x="5824" y="1166"/>
                </a:lnTo>
                <a:cubicBezTo>
                  <a:pt x="5824" y="1224"/>
                  <a:pt x="5777" y="1271"/>
                  <a:pt x="5719" y="1271"/>
                </a:cubicBezTo>
                <a:lnTo>
                  <a:pt x="105" y="1271"/>
                </a:lnTo>
                <a:cubicBezTo>
                  <a:pt x="47" y="1271"/>
                  <a:pt x="0" y="1224"/>
                  <a:pt x="0" y="1166"/>
                </a:cubicBezTo>
                <a:close/>
              </a:path>
            </a:pathLst>
          </a:custGeom>
          <a:solidFill>
            <a:srgbClr val="e4f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3278520" y="529920"/>
            <a:ext cx="11923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Two distinct phases: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3380040" y="842760"/>
            <a:ext cx="11376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2016–2017 (lives saved).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4573080" y="8514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∼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4656600" y="842760"/>
            <a:ext cx="646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600–900 fewer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3380040" y="963000"/>
            <a:ext cx="190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deaths than counterfactual; consistent with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3283200" y="1517040"/>
            <a:ext cx="2117160" cy="578520"/>
          </a:xfrm>
          <a:custGeom>
            <a:avLst/>
            <a:gdLst/>
            <a:ahLst/>
            <a:rect l="0" t="0" r="r" b="b"/>
            <a:pathLst>
              <a:path w="5881" h="1607">
                <a:moveTo>
                  <a:pt x="0" y="1473"/>
                </a:moveTo>
                <a:lnTo>
                  <a:pt x="0" y="134"/>
                </a:lnTo>
                <a:cubicBezTo>
                  <a:pt x="0" y="60"/>
                  <a:pt x="59" y="0"/>
                  <a:pt x="133" y="0"/>
                </a:cubicBezTo>
                <a:lnTo>
                  <a:pt x="5747" y="0"/>
                </a:lnTo>
                <a:cubicBezTo>
                  <a:pt x="5821" y="0"/>
                  <a:pt x="5881" y="60"/>
                  <a:pt x="5881" y="134"/>
                </a:cubicBezTo>
                <a:lnTo>
                  <a:pt x="5881" y="1473"/>
                </a:lnTo>
                <a:cubicBezTo>
                  <a:pt x="5881" y="1547"/>
                  <a:pt x="5821" y="1607"/>
                  <a:pt x="5747" y="1607"/>
                </a:cubicBezTo>
                <a:lnTo>
                  <a:pt x="133" y="1607"/>
                </a:lnTo>
                <a:cubicBezTo>
                  <a:pt x="59" y="1607"/>
                  <a:pt x="0" y="1547"/>
                  <a:pt x="0" y="1473"/>
                </a:cubicBezTo>
                <a:close/>
              </a:path>
            </a:pathLst>
          </a:custGeom>
          <a:solidFill>
            <a:srgbClr val="f58f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3293280" y="1527120"/>
            <a:ext cx="2096640" cy="558360"/>
          </a:xfrm>
          <a:custGeom>
            <a:avLst/>
            <a:gdLst/>
            <a:ahLst/>
            <a:rect l="0" t="0" r="r" b="b"/>
            <a:pathLst>
              <a:path w="5824" h="1551">
                <a:moveTo>
                  <a:pt x="0" y="1445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5719" y="0"/>
                </a:lnTo>
                <a:cubicBezTo>
                  <a:pt x="5777" y="0"/>
                  <a:pt x="5824" y="48"/>
                  <a:pt x="5824" y="106"/>
                </a:cubicBezTo>
                <a:lnTo>
                  <a:pt x="5824" y="1445"/>
                </a:lnTo>
                <a:cubicBezTo>
                  <a:pt x="5824" y="1503"/>
                  <a:pt x="5777" y="1551"/>
                  <a:pt x="5719" y="1551"/>
                </a:cubicBezTo>
                <a:lnTo>
                  <a:pt x="105" y="1551"/>
                </a:lnTo>
                <a:cubicBezTo>
                  <a:pt x="47" y="1551"/>
                  <a:pt x="0" y="1503"/>
                  <a:pt x="0" y="1445"/>
                </a:cubicBezTo>
                <a:close/>
              </a:path>
            </a:pathLst>
          </a:custGeom>
          <a:solidFill>
            <a:srgbClr val="fdec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3380040" y="1083240"/>
            <a:ext cx="1018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immediate compliance.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3380040" y="1546560"/>
            <a:ext cx="13096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2018–2022 (effect reverses).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4747320" y="1546560"/>
            <a:ext cx="55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Bihar climbs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3380040" y="1666800"/>
            <a:ext cx="259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above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3722040" y="1666800"/>
            <a:ext cx="404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synthetic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4206600" y="1666800"/>
            <a:ext cx="105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by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4386960" y="1666800"/>
            <a:ext cx="331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+1,000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4797720" y="1666800"/>
            <a:ext cx="10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to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4968000" y="1666800"/>
            <a:ext cx="331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+3,300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3380040" y="1787040"/>
            <a:ext cx="1901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deaths/yr — consistent with illicit-market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3283200" y="2321280"/>
            <a:ext cx="2117160" cy="346680"/>
          </a:xfrm>
          <a:custGeom>
            <a:avLst/>
            <a:gdLst/>
            <a:ahLst/>
            <a:rect l="0" t="0" r="r" b="b"/>
            <a:pathLst>
              <a:path w="5881" h="963">
                <a:moveTo>
                  <a:pt x="0" y="829"/>
                </a:moveTo>
                <a:lnTo>
                  <a:pt x="0" y="133"/>
                </a:lnTo>
                <a:cubicBezTo>
                  <a:pt x="0" y="60"/>
                  <a:pt x="59" y="0"/>
                  <a:pt x="133" y="0"/>
                </a:cubicBezTo>
                <a:lnTo>
                  <a:pt x="5747" y="0"/>
                </a:lnTo>
                <a:cubicBezTo>
                  <a:pt x="5821" y="0"/>
                  <a:pt x="5881" y="60"/>
                  <a:pt x="5881" y="133"/>
                </a:cubicBezTo>
                <a:lnTo>
                  <a:pt x="5881" y="829"/>
                </a:lnTo>
                <a:cubicBezTo>
                  <a:pt x="5881" y="903"/>
                  <a:pt x="5821" y="963"/>
                  <a:pt x="5747" y="963"/>
                </a:cubicBezTo>
                <a:lnTo>
                  <a:pt x="133" y="963"/>
                </a:lnTo>
                <a:cubicBezTo>
                  <a:pt x="59" y="963"/>
                  <a:pt x="0" y="903"/>
                  <a:pt x="0" y="829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3293280" y="2331360"/>
            <a:ext cx="2096640" cy="326520"/>
          </a:xfrm>
          <a:custGeom>
            <a:avLst/>
            <a:gdLst/>
            <a:ahLst/>
            <a:rect l="0" t="0" r="r" b="b"/>
            <a:pathLst>
              <a:path w="5824" h="907">
                <a:moveTo>
                  <a:pt x="0" y="801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5719" y="0"/>
                </a:lnTo>
                <a:cubicBezTo>
                  <a:pt x="5777" y="0"/>
                  <a:pt x="5824" y="47"/>
                  <a:pt x="5824" y="105"/>
                </a:cubicBezTo>
                <a:lnTo>
                  <a:pt x="5824" y="801"/>
                </a:lnTo>
                <a:cubicBezTo>
                  <a:pt x="5824" y="859"/>
                  <a:pt x="5777" y="907"/>
                  <a:pt x="5719" y="907"/>
                </a:cubicBezTo>
                <a:lnTo>
                  <a:pt x="105" y="907"/>
                </a:lnTo>
                <a:cubicBezTo>
                  <a:pt x="47" y="907"/>
                  <a:pt x="0" y="859"/>
                  <a:pt x="0" y="801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3380040" y="1906920"/>
            <a:ext cx="167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substitution and weaker enforcement.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3380040" y="2346120"/>
            <a:ext cx="709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Donor weights: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4172760" y="2346120"/>
            <a:ext cx="747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Jharkhand 0.68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4988160" y="2346120"/>
            <a:ext cx="311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Odisha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3380040" y="2466360"/>
            <a:ext cx="651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0.16, UP 0.16.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11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50" name="" descr=""/>
          <p:cNvPicPr/>
          <p:nvPr/>
        </p:nvPicPr>
        <p:blipFill>
          <a:blip r:embed="rId1"/>
          <a:stretch/>
        </p:blipFill>
        <p:spPr>
          <a:xfrm>
            <a:off x="360000" y="584280"/>
            <a:ext cx="3023640" cy="1353600"/>
          </a:xfrm>
          <a:prstGeom prst="rect">
            <a:avLst/>
          </a:prstGeom>
          <a:ln w="0">
            <a:noFill/>
          </a:ln>
        </p:spPr>
      </p:pic>
      <p:sp>
        <p:nvSpPr>
          <p:cNvPr id="451" name=""/>
          <p:cNvSpPr txBox="1"/>
          <p:nvPr/>
        </p:nvSpPr>
        <p:spPr>
          <a:xfrm>
            <a:off x="100080" y="5760"/>
            <a:ext cx="2123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Inference — In-Space Placebo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3535200" y="526320"/>
            <a:ext cx="10278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Permutation test.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3535200" y="763200"/>
            <a:ext cx="1850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Refit SCM treating each of 13 donors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3535200" y="935280"/>
            <a:ext cx="622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as if treated.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4207680" y="935280"/>
            <a:ext cx="912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Bihar’s gap (navy)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3535200" y="1107360"/>
            <a:ext cx="1879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should stand out from placebos (gray)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3535200" y="1638720"/>
            <a:ext cx="1865160" cy="399960"/>
          </a:xfrm>
          <a:custGeom>
            <a:avLst/>
            <a:gdLst/>
            <a:ahLst/>
            <a:rect l="0" t="0" r="r" b="b"/>
            <a:pathLst>
              <a:path w="5181" h="1111">
                <a:moveTo>
                  <a:pt x="0" y="970"/>
                </a:moveTo>
                <a:lnTo>
                  <a:pt x="0" y="140"/>
                </a:lnTo>
                <a:cubicBezTo>
                  <a:pt x="0" y="63"/>
                  <a:pt x="63" y="0"/>
                  <a:pt x="140" y="0"/>
                </a:cubicBezTo>
                <a:lnTo>
                  <a:pt x="5040" y="0"/>
                </a:lnTo>
                <a:cubicBezTo>
                  <a:pt x="5118" y="0"/>
                  <a:pt x="5181" y="63"/>
                  <a:pt x="5181" y="140"/>
                </a:cubicBezTo>
                <a:lnTo>
                  <a:pt x="5181" y="970"/>
                </a:lnTo>
                <a:cubicBezTo>
                  <a:pt x="5181" y="1048"/>
                  <a:pt x="5118" y="1111"/>
                  <a:pt x="5040" y="1111"/>
                </a:cubicBezTo>
                <a:lnTo>
                  <a:pt x="140" y="1111"/>
                </a:lnTo>
                <a:cubicBezTo>
                  <a:pt x="63" y="1111"/>
                  <a:pt x="0" y="1048"/>
                  <a:pt x="0" y="970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3535200" y="1638720"/>
            <a:ext cx="1865160" cy="399960"/>
          </a:xfrm>
          <a:custGeom>
            <a:avLst/>
            <a:gdLst/>
            <a:ahLst/>
            <a:rect l="0" t="0" r="r" b="b"/>
            <a:pathLst>
              <a:path w="5181" h="1111">
                <a:moveTo>
                  <a:pt x="0" y="970"/>
                </a:moveTo>
                <a:lnTo>
                  <a:pt x="0" y="140"/>
                </a:lnTo>
                <a:cubicBezTo>
                  <a:pt x="0" y="63"/>
                  <a:pt x="63" y="0"/>
                  <a:pt x="140" y="0"/>
                </a:cubicBezTo>
                <a:lnTo>
                  <a:pt x="5040" y="0"/>
                </a:lnTo>
                <a:cubicBezTo>
                  <a:pt x="5118" y="0"/>
                  <a:pt x="5181" y="63"/>
                  <a:pt x="5181" y="140"/>
                </a:cubicBezTo>
                <a:lnTo>
                  <a:pt x="5181" y="970"/>
                </a:lnTo>
                <a:cubicBezTo>
                  <a:pt x="5181" y="1048"/>
                  <a:pt x="5118" y="1111"/>
                  <a:pt x="5040" y="1111"/>
                </a:cubicBezTo>
                <a:lnTo>
                  <a:pt x="140" y="1111"/>
                </a:lnTo>
                <a:cubicBezTo>
                  <a:pt x="63" y="1111"/>
                  <a:pt x="0" y="1048"/>
                  <a:pt x="0" y="97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3535200" y="1279440"/>
            <a:ext cx="925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if the effect is real.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4050360" y="1649520"/>
            <a:ext cx="8740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4a261"/>
                </a:solidFill>
                <a:latin typeface="LMSans10"/>
                <a:ea typeface="LMSans10"/>
              </a:rPr>
              <a:t>Rank 2 / 14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4222800" y="1828080"/>
            <a:ext cx="1029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4326840" y="18367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ffffff"/>
                </a:solidFill>
                <a:latin typeface="LMMathSymbols8"/>
                <a:ea typeface="LMMathSymbols8"/>
              </a:rPr>
              <a:t>≈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4456800" y="1828080"/>
            <a:ext cx="2552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0.071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3535200" y="2192760"/>
            <a:ext cx="1745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Only Maharashtra has a larger ratio 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3535200" y="2364840"/>
            <a:ext cx="1820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consistent with its own outlier post-2018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3535200" y="2536920"/>
            <a:ext cx="1351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trajectory unrelated to alcohol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4927680" y="2536920"/>
            <a:ext cx="285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policy.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12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71" name="" descr=""/>
          <p:cNvPicPr/>
          <p:nvPr/>
        </p:nvPicPr>
        <p:blipFill>
          <a:blip r:embed="rId1"/>
          <a:stretch/>
        </p:blipFill>
        <p:spPr>
          <a:xfrm>
            <a:off x="360000" y="753840"/>
            <a:ext cx="3023640" cy="1353960"/>
          </a:xfrm>
          <a:prstGeom prst="rect">
            <a:avLst/>
          </a:prstGeom>
          <a:ln w="0">
            <a:noFill/>
          </a:ln>
        </p:spPr>
      </p:pic>
      <p:sp>
        <p:nvSpPr>
          <p:cNvPr id="472" name=""/>
          <p:cNvSpPr txBox="1"/>
          <p:nvPr/>
        </p:nvSpPr>
        <p:spPr>
          <a:xfrm>
            <a:off x="100080" y="5760"/>
            <a:ext cx="2123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Robustness — Leave-One-Out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3535200" y="695520"/>
            <a:ext cx="14486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Drop each donor in turn.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3535200" y="932760"/>
            <a:ext cx="1622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If a single donor were driving the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3535200" y="1104840"/>
            <a:ext cx="1838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result, removing it would collapse the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3535200" y="1276920"/>
            <a:ext cx="470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synthetic.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4056120" y="1276920"/>
            <a:ext cx="502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Instead all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4595040" y="1276920"/>
            <a:ext cx="675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13 LOO refits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3535200" y="1825920"/>
            <a:ext cx="1865160" cy="593640"/>
          </a:xfrm>
          <a:custGeom>
            <a:avLst/>
            <a:gdLst/>
            <a:ahLst/>
            <a:rect l="0" t="0" r="r" b="b"/>
            <a:pathLst>
              <a:path w="5181" h="1649">
                <a:moveTo>
                  <a:pt x="0" y="1516"/>
                </a:moveTo>
                <a:lnTo>
                  <a:pt x="0" y="134"/>
                </a:lnTo>
                <a:cubicBezTo>
                  <a:pt x="0" y="60"/>
                  <a:pt x="59" y="0"/>
                  <a:pt x="133" y="0"/>
                </a:cubicBezTo>
                <a:lnTo>
                  <a:pt x="5047" y="0"/>
                </a:lnTo>
                <a:cubicBezTo>
                  <a:pt x="5121" y="0"/>
                  <a:pt x="5181" y="60"/>
                  <a:pt x="5181" y="134"/>
                </a:cubicBezTo>
                <a:lnTo>
                  <a:pt x="5181" y="1516"/>
                </a:lnTo>
                <a:cubicBezTo>
                  <a:pt x="5181" y="1590"/>
                  <a:pt x="5121" y="1649"/>
                  <a:pt x="5047" y="1649"/>
                </a:cubicBezTo>
                <a:lnTo>
                  <a:pt x="133" y="1649"/>
                </a:lnTo>
                <a:cubicBezTo>
                  <a:pt x="59" y="1649"/>
                  <a:pt x="0" y="1590"/>
                  <a:pt x="0" y="1516"/>
                </a:cubicBezTo>
                <a:close/>
              </a:path>
            </a:pathLst>
          </a:custGeom>
          <a:solidFill>
            <a:srgbClr val="64d6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3545280" y="1836000"/>
            <a:ext cx="1844640" cy="573480"/>
          </a:xfrm>
          <a:custGeom>
            <a:avLst/>
            <a:gdLst/>
            <a:ahLst/>
            <a:rect l="0" t="0" r="r" b="b"/>
            <a:pathLst>
              <a:path w="5124" h="1593">
                <a:moveTo>
                  <a:pt x="0" y="1488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5019" y="0"/>
                </a:lnTo>
                <a:cubicBezTo>
                  <a:pt x="5077" y="0"/>
                  <a:pt x="5124" y="47"/>
                  <a:pt x="5124" y="106"/>
                </a:cubicBezTo>
                <a:lnTo>
                  <a:pt x="5124" y="1488"/>
                </a:lnTo>
                <a:cubicBezTo>
                  <a:pt x="5124" y="1546"/>
                  <a:pt x="5077" y="1593"/>
                  <a:pt x="5019" y="1593"/>
                </a:cubicBezTo>
                <a:lnTo>
                  <a:pt x="105" y="1593"/>
                </a:lnTo>
                <a:cubicBezTo>
                  <a:pt x="47" y="1593"/>
                  <a:pt x="0" y="1546"/>
                  <a:pt x="0" y="1488"/>
                </a:cubicBezTo>
                <a:close/>
              </a:path>
            </a:pathLst>
          </a:custGeom>
          <a:solidFill>
            <a:srgbClr val="e4f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535200" y="1449000"/>
            <a:ext cx="1598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trace nearly the same trajectory.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3632040" y="1851120"/>
            <a:ext cx="281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Result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3972240" y="1851120"/>
            <a:ext cx="10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is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4096080" y="1851120"/>
            <a:ext cx="1548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1b9e4b"/>
                </a:solidFill>
                <a:latin typeface="LMSans10"/>
                <a:ea typeface="LMSans10"/>
              </a:rPr>
              <a:t>not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4310640" y="1851120"/>
            <a:ext cx="9259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1b9e4b"/>
                </a:solidFill>
                <a:latin typeface="LMSans10"/>
                <a:ea typeface="LMSans10"/>
              </a:rPr>
              <a:t>driven by any single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3632040" y="1971360"/>
            <a:ext cx="1677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1b9e4b"/>
                </a:solidFill>
                <a:latin typeface="LMSans10"/>
                <a:ea typeface="LMSans10"/>
              </a:rPr>
              <a:t>donor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including dropping the domi-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3632040" y="2091240"/>
            <a:ext cx="1695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nant Jharkhand weight produces a ma-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3632040" y="2211480"/>
            <a:ext cx="706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terially identical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4379400" y="2211480"/>
            <a:ext cx="427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synthetic.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13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00080" y="5760"/>
            <a:ext cx="21877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Method — Bayesian Structural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2330640" y="5760"/>
            <a:ext cx="8251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Time Series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359640" y="834840"/>
            <a:ext cx="5040720" cy="285840"/>
          </a:xfrm>
          <a:custGeom>
            <a:avLst/>
            <a:gdLst/>
            <a:ahLst/>
            <a:rect l="0" t="0" r="r" b="b"/>
            <a:pathLst>
              <a:path w="14002" h="794">
                <a:moveTo>
                  <a:pt x="0" y="661"/>
                </a:moveTo>
                <a:lnTo>
                  <a:pt x="0" y="134"/>
                </a:lnTo>
                <a:cubicBezTo>
                  <a:pt x="0" y="60"/>
                  <a:pt x="60" y="0"/>
                  <a:pt x="134" y="0"/>
                </a:cubicBezTo>
                <a:lnTo>
                  <a:pt x="13868" y="0"/>
                </a:lnTo>
                <a:cubicBezTo>
                  <a:pt x="13942" y="0"/>
                  <a:pt x="14002" y="60"/>
                  <a:pt x="14002" y="134"/>
                </a:cubicBezTo>
                <a:lnTo>
                  <a:pt x="14002" y="661"/>
                </a:lnTo>
                <a:cubicBezTo>
                  <a:pt x="14002" y="735"/>
                  <a:pt x="13942" y="794"/>
                  <a:pt x="13868" y="794"/>
                </a:cubicBezTo>
                <a:lnTo>
                  <a:pt x="134" y="794"/>
                </a:lnTo>
                <a:cubicBezTo>
                  <a:pt x="60" y="794"/>
                  <a:pt x="0" y="735"/>
                  <a:pt x="0" y="661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370080" y="844920"/>
            <a:ext cx="5020200" cy="265680"/>
          </a:xfrm>
          <a:custGeom>
            <a:avLst/>
            <a:gdLst/>
            <a:ahLst/>
            <a:rect l="0" t="0" r="r" b="b"/>
            <a:pathLst>
              <a:path w="13945" h="738">
                <a:moveTo>
                  <a:pt x="0" y="633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13839" y="0"/>
                </a:lnTo>
                <a:cubicBezTo>
                  <a:pt x="13897" y="0"/>
                  <a:pt x="13945" y="48"/>
                  <a:pt x="13945" y="106"/>
                </a:cubicBezTo>
                <a:lnTo>
                  <a:pt x="13945" y="633"/>
                </a:lnTo>
                <a:cubicBezTo>
                  <a:pt x="13945" y="691"/>
                  <a:pt x="13897" y="738"/>
                  <a:pt x="13839" y="738"/>
                </a:cubicBezTo>
                <a:lnTo>
                  <a:pt x="105" y="738"/>
                </a:lnTo>
                <a:cubicBezTo>
                  <a:pt x="47" y="738"/>
                  <a:pt x="0" y="691"/>
                  <a:pt x="0" y="633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360000" y="547920"/>
            <a:ext cx="2850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Brodersen et al. (2015) decompose the observed series as: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2063520" y="8787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y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121840" y="94140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t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2238840" y="8787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=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2407680" y="88920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µ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2483640" y="94140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t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2593800" y="8787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+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2755440" y="88920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τ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2810880" y="94140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t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2921040" y="8787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+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3082680" y="88920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β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3170520" y="873360"/>
            <a:ext cx="8820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MathSymbols7"/>
                <a:ea typeface="LMMathSymbols7"/>
              </a:rPr>
              <a:t>⊤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3255840" y="878760"/>
            <a:ext cx="1260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x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3319200" y="94140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t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3429000" y="8787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+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3590640" y="88920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ε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3649680" y="94140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t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360000" y="1220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Italic8"/>
                <a:ea typeface="LMMathItalic8"/>
              </a:rPr>
              <a:t>µ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424800" y="125424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465840" y="121212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543240" y="1212120"/>
            <a:ext cx="433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local-level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1019160" y="1212120"/>
            <a:ext cx="232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trend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1319400" y="1220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|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1414800" y="1220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Italic8"/>
                <a:ea typeface="LMMathItalic8"/>
              </a:rPr>
              <a:t>τ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1462680" y="125424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503720" y="121212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581120" y="1212120"/>
            <a:ext cx="1259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seasonality (omitted, annual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2881440" y="1212120"/>
            <a:ext cx="23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data)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3186720" y="1220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|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3282480" y="1220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i="1" lang="en-US" sz="790" spc="-1" strike="noStrike">
                <a:solidFill>
                  <a:srgbClr val="0a3a66"/>
                </a:solidFill>
                <a:latin typeface="LMMathItalic10"/>
                <a:ea typeface="LMMathItalic10"/>
              </a:rPr>
              <a:t>β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3352680" y="1208880"/>
            <a:ext cx="75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MathSymbols6"/>
                <a:ea typeface="LMMathSymbols6"/>
              </a:rPr>
              <a:t>⊤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3432240" y="1212120"/>
            <a:ext cx="1008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a3a66"/>
                </a:solidFill>
                <a:latin typeface="LMSans10"/>
                <a:ea typeface="LMSans10"/>
              </a:rPr>
              <a:t>x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3482640" y="125424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3523680" y="121212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3601440" y="1212120"/>
            <a:ext cx="1555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regression on donor outcomes with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360000" y="1332360"/>
            <a:ext cx="910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spike-and-slab</a:t>
            </a:r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 priors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333440" y="13410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|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1429200" y="13410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Italic8"/>
                <a:ea typeface="LMMathItalic8"/>
              </a:rPr>
              <a:t>ε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1478880" y="137448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1549800" y="1341000"/>
            <a:ext cx="180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∼ </a:t>
            </a:r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1766160" y="13323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(0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1861920" y="1341000"/>
            <a:ext cx="110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Italic8"/>
                <a:ea typeface="LMMathItalic8"/>
              </a:rPr>
              <a:t>, σ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1974600" y="132588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2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2021400" y="13323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354240" y="1564920"/>
            <a:ext cx="1847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f4c81"/>
                </a:solidFill>
                <a:latin typeface="LMSans10"/>
                <a:ea typeface="LMSans10"/>
              </a:rPr>
              <a:t>Why BSTS triangulates with SCM: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496800" y="17643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637200" y="1754640"/>
            <a:ext cx="951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Different functional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624680" y="1754640"/>
            <a:ext cx="2658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form (linear regression with priors vs. convex average)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4299120" y="17643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4455360" y="1754640"/>
            <a:ext cx="404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different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637200" y="1893960"/>
            <a:ext cx="1059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mis-specification risks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496800" y="20934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633240" y="2083680"/>
            <a:ext cx="483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Yields full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1154880" y="2083680"/>
            <a:ext cx="425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posterior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1618200" y="20934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1774440" y="2083680"/>
            <a:ext cx="820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credible intervals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496800" y="22831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637200" y="2273400"/>
            <a:ext cx="369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Caveat: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056960" y="2273400"/>
            <a:ext cx="309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with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1367280" y="2329920"/>
            <a:ext cx="10584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pre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508760" y="2273400"/>
            <a:ext cx="18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= 6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723320" y="2283120"/>
            <a:ext cx="120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≪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1873080" y="2273400"/>
            <a:ext cx="1451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J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= 13 the regression overfits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3355560" y="22831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3511800" y="2273400"/>
            <a:ext cx="1877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restrict to top-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k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donors via correlation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632520" y="241272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(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677880" y="2428560"/>
            <a:ext cx="720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Mono9"/>
                <a:ea typeface="LMMono9"/>
              </a:rPr>
              <a:t>max_donors=3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1395360" y="2412720"/>
            <a:ext cx="857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, Brodersen §3.2)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14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68" name="" descr=""/>
          <p:cNvPicPr/>
          <p:nvPr/>
        </p:nvPicPr>
        <p:blipFill>
          <a:blip r:embed="rId1"/>
          <a:stretch/>
        </p:blipFill>
        <p:spPr>
          <a:xfrm>
            <a:off x="1468800" y="251280"/>
            <a:ext cx="2822040" cy="2021040"/>
          </a:xfrm>
          <a:prstGeom prst="rect">
            <a:avLst/>
          </a:prstGeom>
          <a:ln w="0">
            <a:noFill/>
          </a:ln>
        </p:spPr>
      </p:pic>
      <p:sp>
        <p:nvSpPr>
          <p:cNvPr id="569" name=""/>
          <p:cNvSpPr/>
          <p:nvPr/>
        </p:nvSpPr>
        <p:spPr>
          <a:xfrm>
            <a:off x="359640" y="2548440"/>
            <a:ext cx="2419920" cy="357120"/>
          </a:xfrm>
          <a:custGeom>
            <a:avLst/>
            <a:gdLst/>
            <a:ahLst/>
            <a:rect l="0" t="0" r="r" b="b"/>
            <a:pathLst>
              <a:path w="6722" h="992">
                <a:moveTo>
                  <a:pt x="0" y="869"/>
                </a:moveTo>
                <a:lnTo>
                  <a:pt x="0" y="123"/>
                </a:lnTo>
                <a:cubicBezTo>
                  <a:pt x="0" y="55"/>
                  <a:pt x="56" y="0"/>
                  <a:pt x="123" y="0"/>
                </a:cubicBezTo>
                <a:lnTo>
                  <a:pt x="6598" y="0"/>
                </a:lnTo>
                <a:cubicBezTo>
                  <a:pt x="6666" y="0"/>
                  <a:pt x="6722" y="55"/>
                  <a:pt x="6722" y="123"/>
                </a:cubicBezTo>
                <a:lnTo>
                  <a:pt x="6722" y="869"/>
                </a:lnTo>
                <a:cubicBezTo>
                  <a:pt x="6722" y="937"/>
                  <a:pt x="6666" y="992"/>
                  <a:pt x="6598" y="992"/>
                </a:cubicBezTo>
                <a:lnTo>
                  <a:pt x="123" y="992"/>
                </a:lnTo>
                <a:cubicBezTo>
                  <a:pt x="56" y="992"/>
                  <a:pt x="0" y="937"/>
                  <a:pt x="0" y="869"/>
                </a:cubicBez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366120" y="2554920"/>
            <a:ext cx="2406960" cy="344520"/>
          </a:xfrm>
          <a:custGeom>
            <a:avLst/>
            <a:gdLst/>
            <a:ahLst/>
            <a:rect l="0" t="0" r="r" b="b"/>
            <a:pathLst>
              <a:path w="6686" h="957">
                <a:moveTo>
                  <a:pt x="0" y="851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6580" y="0"/>
                </a:lnTo>
                <a:cubicBezTo>
                  <a:pt x="6639" y="0"/>
                  <a:pt x="6686" y="47"/>
                  <a:pt x="6686" y="106"/>
                </a:cubicBezTo>
                <a:lnTo>
                  <a:pt x="6686" y="851"/>
                </a:lnTo>
                <a:cubicBezTo>
                  <a:pt x="6686" y="909"/>
                  <a:pt x="6639" y="957"/>
                  <a:pt x="6580" y="957"/>
                </a:cubicBezTo>
                <a:lnTo>
                  <a:pt x="105" y="957"/>
                </a:lnTo>
                <a:cubicBezTo>
                  <a:pt x="47" y="957"/>
                  <a:pt x="0" y="909"/>
                  <a:pt x="0" y="851"/>
                </a:cubicBezTo>
                <a:close/>
              </a:path>
            </a:pathLst>
          </a:custGeom>
          <a:solidFill>
            <a:srgbClr val="f5f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100080" y="5760"/>
            <a:ext cx="2750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BSTS Result — Road-Accident Deaths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440280" y="2575440"/>
            <a:ext cx="3636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Donors: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861480" y="2575440"/>
            <a:ext cx="491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Haryana (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405440" y="2575440"/>
            <a:ext cx="174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= 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583640" y="258408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1613520" y="2575440"/>
            <a:ext cx="180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82),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1838160" y="2575440"/>
            <a:ext cx="426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Odisha (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2323080" y="2575440"/>
            <a:ext cx="174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= 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2501280" y="258408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2531160" y="2575440"/>
            <a:ext cx="180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67),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435240" y="2695680"/>
            <a:ext cx="567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West Bengal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039680" y="269568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(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= 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326240" y="27043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2980800" y="2548440"/>
            <a:ext cx="2419560" cy="478080"/>
          </a:xfrm>
          <a:custGeom>
            <a:avLst/>
            <a:gdLst/>
            <a:ahLst/>
            <a:rect l="0" t="0" r="r" b="b"/>
            <a:pathLst>
              <a:path w="6721" h="1328">
                <a:moveTo>
                  <a:pt x="0" y="1194"/>
                </a:moveTo>
                <a:lnTo>
                  <a:pt x="0" y="134"/>
                </a:lnTo>
                <a:cubicBezTo>
                  <a:pt x="0" y="60"/>
                  <a:pt x="59" y="0"/>
                  <a:pt x="133" y="0"/>
                </a:cubicBezTo>
                <a:lnTo>
                  <a:pt x="6587" y="0"/>
                </a:lnTo>
                <a:cubicBezTo>
                  <a:pt x="6661" y="0"/>
                  <a:pt x="6721" y="60"/>
                  <a:pt x="6721" y="134"/>
                </a:cubicBezTo>
                <a:lnTo>
                  <a:pt x="6721" y="1194"/>
                </a:lnTo>
                <a:cubicBezTo>
                  <a:pt x="6721" y="1268"/>
                  <a:pt x="6661" y="1328"/>
                  <a:pt x="6587" y="1328"/>
                </a:cubicBezTo>
                <a:lnTo>
                  <a:pt x="133" y="1328"/>
                </a:lnTo>
                <a:cubicBezTo>
                  <a:pt x="59" y="1328"/>
                  <a:pt x="0" y="1268"/>
                  <a:pt x="0" y="1194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2990880" y="2558520"/>
            <a:ext cx="2399040" cy="457920"/>
          </a:xfrm>
          <a:custGeom>
            <a:avLst/>
            <a:gdLst/>
            <a:ahLst/>
            <a:rect l="0" t="0" r="r" b="b"/>
            <a:pathLst>
              <a:path w="6664" h="1272">
                <a:moveTo>
                  <a:pt x="0" y="1166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8"/>
                  <a:pt x="6664" y="106"/>
                </a:cubicBezTo>
                <a:lnTo>
                  <a:pt x="6664" y="1166"/>
                </a:lnTo>
                <a:cubicBezTo>
                  <a:pt x="6664" y="1224"/>
                  <a:pt x="6617" y="1272"/>
                  <a:pt x="6559" y="1272"/>
                </a:cubicBezTo>
                <a:lnTo>
                  <a:pt x="105" y="1272"/>
                </a:lnTo>
                <a:cubicBezTo>
                  <a:pt x="47" y="1272"/>
                  <a:pt x="0" y="1224"/>
                  <a:pt x="0" y="1166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356120" y="2695680"/>
            <a:ext cx="177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63).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3074040" y="2577960"/>
            <a:ext cx="9424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Avg posterior effect: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4061160" y="2577960"/>
            <a:ext cx="1245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+1,076 deaths/yr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larger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3077640" y="2698200"/>
            <a:ext cx="2206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than SCM (+360); BSTS weights post-2020 diver-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3077640" y="2818440"/>
            <a:ext cx="503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gence fully.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15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94" name="" descr=""/>
          <p:cNvPicPr/>
          <p:nvPr/>
        </p:nvPicPr>
        <p:blipFill>
          <a:blip r:embed="rId1"/>
          <a:stretch/>
        </p:blipFill>
        <p:spPr>
          <a:xfrm>
            <a:off x="1216800" y="442440"/>
            <a:ext cx="3326040" cy="1488960"/>
          </a:xfrm>
          <a:prstGeom prst="rect">
            <a:avLst/>
          </a:prstGeom>
          <a:ln w="0">
            <a:noFill/>
          </a:ln>
        </p:spPr>
      </p:pic>
      <p:sp>
        <p:nvSpPr>
          <p:cNvPr id="595" name=""/>
          <p:cNvSpPr/>
          <p:nvPr/>
        </p:nvSpPr>
        <p:spPr>
          <a:xfrm>
            <a:off x="359640" y="2243520"/>
            <a:ext cx="1613520" cy="496440"/>
          </a:xfrm>
          <a:custGeom>
            <a:avLst/>
            <a:gdLst/>
            <a:ahLst/>
            <a:rect l="0" t="0" r="r" b="b"/>
            <a:pathLst>
              <a:path w="4482" h="1379">
                <a:moveTo>
                  <a:pt x="0" y="1237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1237"/>
                </a:lnTo>
                <a:cubicBezTo>
                  <a:pt x="4482" y="1315"/>
                  <a:pt x="4419" y="1379"/>
                  <a:pt x="4341" y="1379"/>
                </a:cubicBezTo>
                <a:lnTo>
                  <a:pt x="141" y="1379"/>
                </a:lnTo>
                <a:cubicBezTo>
                  <a:pt x="63" y="1379"/>
                  <a:pt x="0" y="1315"/>
                  <a:pt x="0" y="1237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359640" y="2243520"/>
            <a:ext cx="1613520" cy="496440"/>
          </a:xfrm>
          <a:custGeom>
            <a:avLst/>
            <a:gdLst/>
            <a:ahLst/>
            <a:rect l="0" t="0" r="r" b="b"/>
            <a:pathLst>
              <a:path w="4482" h="1379">
                <a:moveTo>
                  <a:pt x="0" y="1237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1237"/>
                </a:lnTo>
                <a:cubicBezTo>
                  <a:pt x="4482" y="1315"/>
                  <a:pt x="4419" y="1379"/>
                  <a:pt x="4341" y="1379"/>
                </a:cubicBezTo>
                <a:lnTo>
                  <a:pt x="141" y="1379"/>
                </a:lnTo>
                <a:cubicBezTo>
                  <a:pt x="63" y="1379"/>
                  <a:pt x="0" y="1315"/>
                  <a:pt x="0" y="1237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94680" y="5760"/>
            <a:ext cx="2222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Triangulation — SCM vs BSTS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1038960" y="2259720"/>
            <a:ext cx="2566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f4a261"/>
                </a:solidFill>
                <a:latin typeface="LMSans10"/>
                <a:ea typeface="LMSans10"/>
              </a:rPr>
              <a:t>Sign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600120" y="2409120"/>
            <a:ext cx="11192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Both negative 2016–17,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2073240" y="2243520"/>
            <a:ext cx="1613520" cy="381960"/>
          </a:xfrm>
          <a:custGeom>
            <a:avLst/>
            <a:gdLst/>
            <a:ahLst/>
            <a:rect l="0" t="0" r="r" b="b"/>
            <a:pathLst>
              <a:path w="4482" h="1061">
                <a:moveTo>
                  <a:pt x="0" y="920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920"/>
                </a:lnTo>
                <a:cubicBezTo>
                  <a:pt x="4482" y="998"/>
                  <a:pt x="4419" y="1061"/>
                  <a:pt x="4341" y="1061"/>
                </a:cubicBezTo>
                <a:lnTo>
                  <a:pt x="141" y="1061"/>
                </a:lnTo>
                <a:cubicBezTo>
                  <a:pt x="63" y="1061"/>
                  <a:pt x="0" y="998"/>
                  <a:pt x="0" y="920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2073240" y="2243520"/>
            <a:ext cx="1613520" cy="381960"/>
          </a:xfrm>
          <a:custGeom>
            <a:avLst/>
            <a:gdLst/>
            <a:ahLst/>
            <a:rect l="0" t="0" r="r" b="b"/>
            <a:pathLst>
              <a:path w="4482" h="1061">
                <a:moveTo>
                  <a:pt x="0" y="920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920"/>
                </a:lnTo>
                <a:cubicBezTo>
                  <a:pt x="4482" y="998"/>
                  <a:pt x="4419" y="1061"/>
                  <a:pt x="4341" y="1061"/>
                </a:cubicBezTo>
                <a:lnTo>
                  <a:pt x="141" y="1061"/>
                </a:lnTo>
                <a:cubicBezTo>
                  <a:pt x="63" y="1061"/>
                  <a:pt x="0" y="998"/>
                  <a:pt x="0" y="92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684360" y="2529360"/>
            <a:ext cx="9518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both positive 2018+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2609280" y="2259720"/>
            <a:ext cx="5432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f4a261"/>
                </a:solidFill>
                <a:latin typeface="LMSans10"/>
                <a:ea typeface="LMSans10"/>
              </a:rPr>
              <a:t>Direction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3786840" y="2243520"/>
            <a:ext cx="1613520" cy="367200"/>
          </a:xfrm>
          <a:custGeom>
            <a:avLst/>
            <a:gdLst/>
            <a:ahLst/>
            <a:rect l="0" t="0" r="r" b="b"/>
            <a:pathLst>
              <a:path w="4482" h="1020">
                <a:moveTo>
                  <a:pt x="0" y="879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879"/>
                </a:lnTo>
                <a:cubicBezTo>
                  <a:pt x="4482" y="957"/>
                  <a:pt x="4419" y="1020"/>
                  <a:pt x="4341" y="1020"/>
                </a:cubicBezTo>
                <a:lnTo>
                  <a:pt x="141" y="1020"/>
                </a:lnTo>
                <a:cubicBezTo>
                  <a:pt x="63" y="1020"/>
                  <a:pt x="0" y="957"/>
                  <a:pt x="0" y="879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3786840" y="2243520"/>
            <a:ext cx="1613520" cy="367200"/>
          </a:xfrm>
          <a:custGeom>
            <a:avLst/>
            <a:gdLst/>
            <a:ahLst/>
            <a:rect l="0" t="0" r="r" b="b"/>
            <a:pathLst>
              <a:path w="4482" h="1020">
                <a:moveTo>
                  <a:pt x="0" y="879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879"/>
                </a:lnTo>
                <a:cubicBezTo>
                  <a:pt x="4482" y="957"/>
                  <a:pt x="4419" y="1020"/>
                  <a:pt x="4341" y="1020"/>
                </a:cubicBezTo>
                <a:lnTo>
                  <a:pt x="141" y="1020"/>
                </a:lnTo>
                <a:cubicBezTo>
                  <a:pt x="63" y="1020"/>
                  <a:pt x="0" y="957"/>
                  <a:pt x="0" y="879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2230200" y="2409120"/>
            <a:ext cx="12898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Agree year-by-year (10/10)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4276800" y="2259720"/>
            <a:ext cx="6361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f4a261"/>
                </a:solidFill>
                <a:latin typeface="LMSans10"/>
                <a:ea typeface="LMSans10"/>
              </a:rPr>
              <a:t>Magnitude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4098240" y="2409120"/>
            <a:ext cx="2750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BSTS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4422240" y="2417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ffffff"/>
                </a:solidFill>
                <a:latin typeface="LMMathSymbols8"/>
                <a:ea typeface="LMMathSymbols8"/>
              </a:rPr>
              <a:t>≈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4551840" y="2409120"/>
            <a:ext cx="1684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2–3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4722480" y="2417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ffffff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4852080" y="2409120"/>
            <a:ext cx="2340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SCM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16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616" name="" descr=""/>
          <p:cNvPicPr/>
          <p:nvPr/>
        </p:nvPicPr>
        <p:blipFill>
          <a:blip r:embed="rId1"/>
          <a:stretch/>
        </p:blipFill>
        <p:spPr>
          <a:xfrm>
            <a:off x="360000" y="617760"/>
            <a:ext cx="2771640" cy="2005560"/>
          </a:xfrm>
          <a:prstGeom prst="rect">
            <a:avLst/>
          </a:prstGeom>
          <a:ln w="0">
            <a:noFill/>
          </a:ln>
        </p:spPr>
      </p:pic>
      <p:sp>
        <p:nvSpPr>
          <p:cNvPr id="617" name=""/>
          <p:cNvSpPr txBox="1"/>
          <p:nvPr/>
        </p:nvSpPr>
        <p:spPr>
          <a:xfrm>
            <a:off x="100080" y="5760"/>
            <a:ext cx="29192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Outcome 2 — Own Tax Revenue (Fiscal)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3283200" y="559440"/>
            <a:ext cx="19728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Composite proxy, not pure excise.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3283200" y="798840"/>
            <a:ext cx="209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Own-tax revenue includes excise + VAT + GST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3283200" y="970920"/>
            <a:ext cx="1731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compensation + stamps + vehicle tax.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5076720" y="970920"/>
            <a:ext cx="275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Excise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3279600" y="1143000"/>
            <a:ext cx="165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was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3478680" y="11516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∼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3562560" y="1143000"/>
            <a:ext cx="1588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22–25% of pre-prohibition own-tax.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3283200" y="1659240"/>
            <a:ext cx="2117160" cy="401040"/>
          </a:xfrm>
          <a:custGeom>
            <a:avLst/>
            <a:gdLst/>
            <a:ahLst/>
            <a:rect l="0" t="0" r="r" b="b"/>
            <a:pathLst>
              <a:path w="5881" h="1114">
                <a:moveTo>
                  <a:pt x="0" y="973"/>
                </a:moveTo>
                <a:lnTo>
                  <a:pt x="0" y="141"/>
                </a:lnTo>
                <a:cubicBezTo>
                  <a:pt x="0" y="63"/>
                  <a:pt x="62" y="0"/>
                  <a:pt x="140" y="0"/>
                </a:cubicBezTo>
                <a:lnTo>
                  <a:pt x="5740" y="0"/>
                </a:lnTo>
                <a:cubicBezTo>
                  <a:pt x="5818" y="0"/>
                  <a:pt x="5881" y="63"/>
                  <a:pt x="5881" y="141"/>
                </a:cubicBezTo>
                <a:lnTo>
                  <a:pt x="5881" y="973"/>
                </a:lnTo>
                <a:cubicBezTo>
                  <a:pt x="5881" y="1051"/>
                  <a:pt x="5818" y="1114"/>
                  <a:pt x="5740" y="1114"/>
                </a:cubicBezTo>
                <a:lnTo>
                  <a:pt x="140" y="1114"/>
                </a:lnTo>
                <a:cubicBezTo>
                  <a:pt x="62" y="1114"/>
                  <a:pt x="0" y="1051"/>
                  <a:pt x="0" y="973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3283200" y="1659240"/>
            <a:ext cx="2117160" cy="401040"/>
          </a:xfrm>
          <a:custGeom>
            <a:avLst/>
            <a:gdLst/>
            <a:ahLst/>
            <a:rect l="0" t="0" r="r" b="b"/>
            <a:pathLst>
              <a:path w="5881" h="1114">
                <a:moveTo>
                  <a:pt x="0" y="973"/>
                </a:moveTo>
                <a:lnTo>
                  <a:pt x="0" y="141"/>
                </a:lnTo>
                <a:cubicBezTo>
                  <a:pt x="0" y="63"/>
                  <a:pt x="62" y="0"/>
                  <a:pt x="140" y="0"/>
                </a:cubicBezTo>
                <a:lnTo>
                  <a:pt x="5740" y="0"/>
                </a:lnTo>
                <a:cubicBezTo>
                  <a:pt x="5818" y="0"/>
                  <a:pt x="5881" y="63"/>
                  <a:pt x="5881" y="141"/>
                </a:cubicBezTo>
                <a:lnTo>
                  <a:pt x="5881" y="973"/>
                </a:lnTo>
                <a:cubicBezTo>
                  <a:pt x="5881" y="1051"/>
                  <a:pt x="5818" y="1114"/>
                  <a:pt x="5740" y="1114"/>
                </a:cubicBezTo>
                <a:lnTo>
                  <a:pt x="140" y="1114"/>
                </a:lnTo>
                <a:cubicBezTo>
                  <a:pt x="62" y="1114"/>
                  <a:pt x="0" y="1051"/>
                  <a:pt x="0" y="973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3283200" y="1315080"/>
            <a:ext cx="1358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Effect is therefore</a:t>
            </a:r>
            <a:r>
              <a:rPr b="1" lang="en-US" sz="790" spc="-1" strike="noStrike">
                <a:solidFill>
                  <a:srgbClr val="ef4444"/>
                </a:solidFill>
                <a:latin typeface="LMSans10"/>
                <a:ea typeface="LMSans10"/>
              </a:rPr>
              <a:t> attenuated</a:t>
            </a:r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3820680" y="1698120"/>
            <a:ext cx="221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090" spc="-1" strike="noStrike">
                <a:solidFill>
                  <a:srgbClr val="f4a261"/>
                </a:solidFill>
                <a:latin typeface="LMMathSymbols10"/>
                <a:ea typeface="LMMathSymbols10"/>
              </a:rPr>
              <a:t>−</a:t>
            </a:r>
            <a:r>
              <a:rPr b="0" lang="en-US" sz="109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Ñ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4040280" y="1686240"/>
            <a:ext cx="8647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90" spc="-1" strike="noStrike">
                <a:solidFill>
                  <a:srgbClr val="f4a261"/>
                </a:solidFill>
                <a:latin typeface="LMSans10"/>
                <a:ea typeface="LMSans10"/>
              </a:rPr>
              <a:t>2,017 Cr / yr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3283200" y="2268000"/>
            <a:ext cx="2117160" cy="338760"/>
          </a:xfrm>
          <a:custGeom>
            <a:avLst/>
            <a:gdLst/>
            <a:ahLst/>
            <a:rect l="0" t="0" r="r" b="b"/>
            <a:pathLst>
              <a:path w="5881" h="941">
                <a:moveTo>
                  <a:pt x="0" y="818"/>
                </a:moveTo>
                <a:lnTo>
                  <a:pt x="0" y="123"/>
                </a:lnTo>
                <a:cubicBezTo>
                  <a:pt x="0" y="55"/>
                  <a:pt x="55" y="0"/>
                  <a:pt x="123" y="0"/>
                </a:cubicBezTo>
                <a:lnTo>
                  <a:pt x="5758" y="0"/>
                </a:lnTo>
                <a:cubicBezTo>
                  <a:pt x="5825" y="0"/>
                  <a:pt x="5881" y="55"/>
                  <a:pt x="5881" y="123"/>
                </a:cubicBezTo>
                <a:lnTo>
                  <a:pt x="5881" y="818"/>
                </a:lnTo>
                <a:cubicBezTo>
                  <a:pt x="5881" y="886"/>
                  <a:pt x="5825" y="941"/>
                  <a:pt x="5758" y="941"/>
                </a:cubicBezTo>
                <a:lnTo>
                  <a:pt x="123" y="941"/>
                </a:lnTo>
                <a:cubicBezTo>
                  <a:pt x="55" y="941"/>
                  <a:pt x="0" y="886"/>
                  <a:pt x="0" y="818"/>
                </a:cubicBez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3289320" y="2274120"/>
            <a:ext cx="2104560" cy="326520"/>
          </a:xfrm>
          <a:custGeom>
            <a:avLst/>
            <a:gdLst/>
            <a:ahLst/>
            <a:rect l="0" t="0" r="r" b="b"/>
            <a:pathLst>
              <a:path w="5846" h="907">
                <a:moveTo>
                  <a:pt x="0" y="801"/>
                </a:moveTo>
                <a:lnTo>
                  <a:pt x="0" y="106"/>
                </a:lnTo>
                <a:cubicBezTo>
                  <a:pt x="0" y="47"/>
                  <a:pt x="47" y="0"/>
                  <a:pt x="106" y="0"/>
                </a:cubicBezTo>
                <a:lnTo>
                  <a:pt x="5741" y="0"/>
                </a:lnTo>
                <a:cubicBezTo>
                  <a:pt x="5799" y="0"/>
                  <a:pt x="5846" y="47"/>
                  <a:pt x="5846" y="106"/>
                </a:cubicBezTo>
                <a:lnTo>
                  <a:pt x="5846" y="801"/>
                </a:lnTo>
                <a:cubicBezTo>
                  <a:pt x="5846" y="860"/>
                  <a:pt x="5799" y="907"/>
                  <a:pt x="5741" y="907"/>
                </a:cubicBezTo>
                <a:lnTo>
                  <a:pt x="106" y="907"/>
                </a:lnTo>
                <a:cubicBezTo>
                  <a:pt x="47" y="907"/>
                  <a:pt x="0" y="860"/>
                  <a:pt x="0" y="801"/>
                </a:cubicBezTo>
                <a:close/>
              </a:path>
            </a:pathLst>
          </a:custGeom>
          <a:solidFill>
            <a:srgbClr val="f5f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3632400" y="1849320"/>
            <a:ext cx="13752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avg post-treatment SCM gap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3363480" y="2289240"/>
            <a:ext cx="351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Donors: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3796920" y="2289240"/>
            <a:ext cx="747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Jharkhand 0.84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4624200" y="2289240"/>
            <a:ext cx="403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UP 0.16.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5144760" y="2289240"/>
            <a:ext cx="191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Pre-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3363480" y="2409480"/>
            <a:ext cx="354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RMSPE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3755880" y="2417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Font Awesome 5 Free Solid"/>
                <a:ea typeface="Font Awesome 5 Free Solid"/>
              </a:rPr>
              <a:t>Ñ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3836880" y="2409480"/>
            <a:ext cx="880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1,091 Cr; ratio 3.16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4722480" y="2417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4806360" y="240948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17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359640" y="783000"/>
            <a:ext cx="2520720" cy="764640"/>
          </a:xfrm>
          <a:custGeom>
            <a:avLst/>
            <a:gdLst/>
            <a:ahLst/>
            <a:rect l="0" t="0" r="r" b="b"/>
            <a:pathLst>
              <a:path w="7002" h="2124">
                <a:moveTo>
                  <a:pt x="0" y="1990"/>
                </a:moveTo>
                <a:lnTo>
                  <a:pt x="0" y="134"/>
                </a:lnTo>
                <a:cubicBezTo>
                  <a:pt x="0" y="60"/>
                  <a:pt x="60" y="0"/>
                  <a:pt x="134" y="0"/>
                </a:cubicBezTo>
                <a:lnTo>
                  <a:pt x="6868" y="0"/>
                </a:lnTo>
                <a:cubicBezTo>
                  <a:pt x="6942" y="0"/>
                  <a:pt x="7002" y="60"/>
                  <a:pt x="7002" y="134"/>
                </a:cubicBezTo>
                <a:lnTo>
                  <a:pt x="7002" y="1990"/>
                </a:lnTo>
                <a:cubicBezTo>
                  <a:pt x="7002" y="2064"/>
                  <a:pt x="6942" y="2124"/>
                  <a:pt x="6868" y="2124"/>
                </a:cubicBezTo>
                <a:lnTo>
                  <a:pt x="134" y="2124"/>
                </a:lnTo>
                <a:cubicBezTo>
                  <a:pt x="60" y="2124"/>
                  <a:pt x="0" y="2064"/>
                  <a:pt x="0" y="1990"/>
                </a:cubicBezTo>
                <a:close/>
              </a:path>
            </a:pathLst>
          </a:custGeom>
          <a:solidFill>
            <a:srgbClr val="64d6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370080" y="793080"/>
            <a:ext cx="2499840" cy="744480"/>
          </a:xfrm>
          <a:custGeom>
            <a:avLst/>
            <a:gdLst/>
            <a:ahLst/>
            <a:rect l="0" t="0" r="r" b="b"/>
            <a:pathLst>
              <a:path w="6944" h="2068">
                <a:moveTo>
                  <a:pt x="0" y="1962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6839" y="0"/>
                </a:lnTo>
                <a:cubicBezTo>
                  <a:pt x="6897" y="0"/>
                  <a:pt x="6944" y="47"/>
                  <a:pt x="6944" y="106"/>
                </a:cubicBezTo>
                <a:lnTo>
                  <a:pt x="6944" y="1962"/>
                </a:lnTo>
                <a:cubicBezTo>
                  <a:pt x="6944" y="2021"/>
                  <a:pt x="6897" y="2068"/>
                  <a:pt x="6839" y="2068"/>
                </a:cubicBezTo>
                <a:lnTo>
                  <a:pt x="105" y="2068"/>
                </a:lnTo>
                <a:cubicBezTo>
                  <a:pt x="47" y="2068"/>
                  <a:pt x="0" y="2021"/>
                  <a:pt x="0" y="1962"/>
                </a:cubicBezTo>
                <a:close/>
              </a:path>
            </a:pathLst>
          </a:custGeom>
          <a:solidFill>
            <a:srgbClr val="e4f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100080" y="5760"/>
            <a:ext cx="35517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Outcome 3 — Per-Capita Growth (Two Channels)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456840" y="808200"/>
            <a:ext cx="1556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Household reallocation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alcohol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2079720" y="8168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2225520" y="808200"/>
            <a:ext cx="56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food, educa-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456840" y="928440"/>
            <a:ext cx="55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tion, savings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456840" y="1073880"/>
            <a:ext cx="2294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Productivity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fewer alcohol-related absences &amp; ac-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456840" y="1194120"/>
            <a:ext cx="309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cidents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456840" y="1339560"/>
            <a:ext cx="1398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Public health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lower hospital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359640" y="1917720"/>
            <a:ext cx="2520720" cy="877320"/>
          </a:xfrm>
          <a:custGeom>
            <a:avLst/>
            <a:gdLst/>
            <a:ahLst/>
            <a:rect l="0" t="0" r="r" b="b"/>
            <a:pathLst>
              <a:path w="7002" h="2437">
                <a:moveTo>
                  <a:pt x="0" y="2303"/>
                </a:moveTo>
                <a:lnTo>
                  <a:pt x="0" y="134"/>
                </a:lnTo>
                <a:cubicBezTo>
                  <a:pt x="0" y="60"/>
                  <a:pt x="60" y="0"/>
                  <a:pt x="134" y="0"/>
                </a:cubicBezTo>
                <a:lnTo>
                  <a:pt x="6868" y="0"/>
                </a:lnTo>
                <a:cubicBezTo>
                  <a:pt x="6942" y="0"/>
                  <a:pt x="7002" y="60"/>
                  <a:pt x="7002" y="134"/>
                </a:cubicBezTo>
                <a:lnTo>
                  <a:pt x="7002" y="2303"/>
                </a:lnTo>
                <a:cubicBezTo>
                  <a:pt x="7002" y="2377"/>
                  <a:pt x="6942" y="2437"/>
                  <a:pt x="6868" y="2437"/>
                </a:cubicBezTo>
                <a:lnTo>
                  <a:pt x="134" y="2437"/>
                </a:lnTo>
                <a:cubicBezTo>
                  <a:pt x="60" y="2437"/>
                  <a:pt x="0" y="2377"/>
                  <a:pt x="0" y="2303"/>
                </a:cubicBezTo>
                <a:close/>
              </a:path>
            </a:pathLst>
          </a:custGeom>
          <a:solidFill>
            <a:srgbClr val="f58f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370080" y="1927800"/>
            <a:ext cx="2499840" cy="856800"/>
          </a:xfrm>
          <a:custGeom>
            <a:avLst/>
            <a:gdLst/>
            <a:ahLst/>
            <a:rect l="0" t="0" r="r" b="b"/>
            <a:pathLst>
              <a:path w="6944" h="2380">
                <a:moveTo>
                  <a:pt x="0" y="2275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6839" y="0"/>
                </a:lnTo>
                <a:cubicBezTo>
                  <a:pt x="6897" y="0"/>
                  <a:pt x="6944" y="47"/>
                  <a:pt x="6944" y="106"/>
                </a:cubicBezTo>
                <a:lnTo>
                  <a:pt x="6944" y="2275"/>
                </a:lnTo>
                <a:cubicBezTo>
                  <a:pt x="6944" y="2333"/>
                  <a:pt x="6897" y="2380"/>
                  <a:pt x="6839" y="2380"/>
                </a:cubicBezTo>
                <a:lnTo>
                  <a:pt x="105" y="2380"/>
                </a:lnTo>
                <a:cubicBezTo>
                  <a:pt x="47" y="2380"/>
                  <a:pt x="0" y="2333"/>
                  <a:pt x="0" y="2275"/>
                </a:cubicBezTo>
                <a:close/>
              </a:path>
            </a:pathLst>
          </a:custGeom>
          <a:solidFill>
            <a:srgbClr val="fdec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1895400" y="1339560"/>
            <a:ext cx="538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trauma load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456840" y="1954800"/>
            <a:ext cx="637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Excise loss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1145880" y="1963440"/>
            <a:ext cx="1609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∼</a:t>
            </a:r>
            <a:r>
              <a:rPr b="0" lang="en-US" sz="790" spc="-1" strike="noStrike">
                <a:solidFill>
                  <a:srgbClr val="000000"/>
                </a:solidFill>
                <a:latin typeface="Font Awesome 5 Free Solid"/>
                <a:ea typeface="Font Awesome 5 Free Solid"/>
              </a:rPr>
              <a:t>Ñ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1310760" y="1954800"/>
            <a:ext cx="1483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4,000 Cr/yr in lost public invest-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456840" y="2075040"/>
            <a:ext cx="226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ment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456840" y="2220480"/>
            <a:ext cx="5036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Hospitality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051200" y="2220480"/>
            <a:ext cx="5266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contraction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669680" y="2220480"/>
            <a:ext cx="67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— 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restaurants,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2499480" y="2220480"/>
            <a:ext cx="294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hotels,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456840" y="2340720"/>
            <a:ext cx="334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tourism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456840" y="2486160"/>
            <a:ext cx="2306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Bootlegging / shadow economy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unmeasured by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68" name="" descr=""/>
          <p:cNvPicPr/>
          <p:nvPr/>
        </p:nvPicPr>
        <p:blipFill>
          <a:blip r:embed="rId1"/>
          <a:stretch/>
        </p:blipFill>
        <p:spPr>
          <a:xfrm>
            <a:off x="3081600" y="503640"/>
            <a:ext cx="2318040" cy="1037880"/>
          </a:xfrm>
          <a:prstGeom prst="rect">
            <a:avLst/>
          </a:prstGeom>
          <a:ln w="0">
            <a:noFill/>
          </a:ln>
        </p:spPr>
      </p:pic>
      <p:sp>
        <p:nvSpPr>
          <p:cNvPr id="669" name=""/>
          <p:cNvSpPr txBox="1"/>
          <p:nvPr/>
        </p:nvSpPr>
        <p:spPr>
          <a:xfrm>
            <a:off x="456840" y="2606400"/>
            <a:ext cx="27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NSDP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3135960" y="1582920"/>
            <a:ext cx="346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Donors: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3529440" y="1582920"/>
            <a:ext cx="1806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Odisha 0.66</a:t>
            </a:r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, Rajasthan 0.32, Jharkhand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4140720" y="1703160"/>
            <a:ext cx="220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0.03.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18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676" name="" descr=""/>
          <p:cNvPicPr/>
          <p:nvPr/>
        </p:nvPicPr>
        <p:blipFill>
          <a:blip r:embed="rId1"/>
          <a:stretch/>
        </p:blipFill>
        <p:spPr>
          <a:xfrm>
            <a:off x="360000" y="620280"/>
            <a:ext cx="2469240" cy="1105560"/>
          </a:xfrm>
          <a:prstGeom prst="rect">
            <a:avLst/>
          </a:prstGeom>
          <a:ln w="0">
            <a:noFill/>
          </a:ln>
        </p:spPr>
      </p:pic>
      <p:sp>
        <p:nvSpPr>
          <p:cNvPr id="677" name=""/>
          <p:cNvSpPr txBox="1"/>
          <p:nvPr/>
        </p:nvSpPr>
        <p:spPr>
          <a:xfrm>
            <a:off x="100080" y="5760"/>
            <a:ext cx="19879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Growth — Placebo &amp; BSTS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78" name="" descr=""/>
          <p:cNvPicPr/>
          <p:nvPr/>
        </p:nvPicPr>
        <p:blipFill>
          <a:blip r:embed="rId2"/>
          <a:stretch/>
        </p:blipFill>
        <p:spPr>
          <a:xfrm>
            <a:off x="2930400" y="620280"/>
            <a:ext cx="2469240" cy="1105560"/>
          </a:xfrm>
          <a:prstGeom prst="rect">
            <a:avLst/>
          </a:prstGeom>
          <a:ln w="0">
            <a:noFill/>
          </a:ln>
        </p:spPr>
      </p:pic>
      <p:sp>
        <p:nvSpPr>
          <p:cNvPr id="679" name=""/>
          <p:cNvSpPr txBox="1"/>
          <p:nvPr/>
        </p:nvSpPr>
        <p:spPr>
          <a:xfrm>
            <a:off x="774720" y="1755000"/>
            <a:ext cx="1631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In-space placebo — Bihar rank 6/14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3163320" y="1755000"/>
            <a:ext cx="29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SCM (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3463200" y="17636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Symbols8"/>
                <a:ea typeface="LMMathSymbols8"/>
              </a:rPr>
              <a:t>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3547080" y="17550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3600720" y="17636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3630600" y="1755000"/>
            <a:ext cx="934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99 pp/yr) vs BSTS (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4571640" y="17636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Symbols8"/>
                <a:ea typeface="LMMathSymbols8"/>
              </a:rPr>
              <a:t>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4655520" y="17550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4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4709160" y="17636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359640" y="2054880"/>
            <a:ext cx="5040720" cy="479160"/>
          </a:xfrm>
          <a:custGeom>
            <a:avLst/>
            <a:gdLst/>
            <a:ahLst/>
            <a:rect l="0" t="0" r="r" b="b"/>
            <a:pathLst>
              <a:path w="14002" h="1331">
                <a:moveTo>
                  <a:pt x="0" y="1197"/>
                </a:moveTo>
                <a:lnTo>
                  <a:pt x="0" y="133"/>
                </a:lnTo>
                <a:cubicBezTo>
                  <a:pt x="0" y="60"/>
                  <a:pt x="60" y="0"/>
                  <a:pt x="134" y="0"/>
                </a:cubicBezTo>
                <a:lnTo>
                  <a:pt x="13868" y="0"/>
                </a:lnTo>
                <a:cubicBezTo>
                  <a:pt x="13942" y="0"/>
                  <a:pt x="14002" y="60"/>
                  <a:pt x="14002" y="133"/>
                </a:cubicBezTo>
                <a:lnTo>
                  <a:pt x="14002" y="1197"/>
                </a:lnTo>
                <a:cubicBezTo>
                  <a:pt x="14002" y="1271"/>
                  <a:pt x="13942" y="1331"/>
                  <a:pt x="13868" y="1331"/>
                </a:cubicBezTo>
                <a:lnTo>
                  <a:pt x="134" y="1331"/>
                </a:lnTo>
                <a:cubicBezTo>
                  <a:pt x="60" y="1331"/>
                  <a:pt x="0" y="1271"/>
                  <a:pt x="0" y="1197"/>
                </a:cubicBezTo>
                <a:close/>
              </a:path>
            </a:pathLst>
          </a:custGeom>
          <a:solidFill>
            <a:srgbClr val="f58f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370080" y="2064960"/>
            <a:ext cx="5020200" cy="459000"/>
          </a:xfrm>
          <a:custGeom>
            <a:avLst/>
            <a:gdLst/>
            <a:ahLst/>
            <a:rect l="0" t="0" r="r" b="b"/>
            <a:pathLst>
              <a:path w="13945" h="1275">
                <a:moveTo>
                  <a:pt x="0" y="1168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13839" y="0"/>
                </a:lnTo>
                <a:cubicBezTo>
                  <a:pt x="13897" y="0"/>
                  <a:pt x="13945" y="47"/>
                  <a:pt x="13945" y="105"/>
                </a:cubicBezTo>
                <a:lnTo>
                  <a:pt x="13945" y="1168"/>
                </a:lnTo>
                <a:cubicBezTo>
                  <a:pt x="13945" y="1227"/>
                  <a:pt x="13897" y="1275"/>
                  <a:pt x="13839" y="1275"/>
                </a:cubicBezTo>
                <a:lnTo>
                  <a:pt x="105" y="1275"/>
                </a:lnTo>
                <a:cubicBezTo>
                  <a:pt x="47" y="1275"/>
                  <a:pt x="0" y="1227"/>
                  <a:pt x="0" y="1168"/>
                </a:cubicBezTo>
                <a:close/>
              </a:path>
            </a:pathLst>
          </a:custGeom>
          <a:solidFill>
            <a:srgbClr val="fdec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4739040" y="1755000"/>
            <a:ext cx="433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28 pp/yr)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456840" y="2085480"/>
            <a:ext cx="1006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Honest interpretation.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1518120" y="2085480"/>
            <a:ext cx="1657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Both methods point to Bihar growing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3228840" y="20941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∼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3312360" y="2085480"/>
            <a:ext cx="176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3–4 pp/year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slower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than counterfactual.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5133240" y="2085480"/>
            <a:ext cx="1684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But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456840" y="2205720"/>
            <a:ext cx="861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SCM permutation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366920" y="22143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≈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1480320" y="2205720"/>
            <a:ext cx="99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1532880" y="22143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1562760" y="2205720"/>
            <a:ext cx="3725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43 (rank 6/14) and BSTS uses a single-donor regression to avoid catastrophic overfit.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456840" y="2325960"/>
            <a:ext cx="1951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ef4444"/>
                </a:solidFill>
                <a:latin typeface="LMSans10"/>
                <a:ea typeface="LMSans10"/>
              </a:rPr>
              <a:t>Direction is suggestive; significance is not.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19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359640" y="558000"/>
            <a:ext cx="5040000" cy="0"/>
          </a:xfrm>
          <a:prstGeom prst="line">
            <a:avLst/>
          </a:prstGeom>
          <a:ln w="1080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284040" y="603720"/>
            <a:ext cx="1265040" cy="204840"/>
          </a:xfrm>
          <a:custGeom>
            <a:avLst/>
            <a:gdLst/>
            <a:ahLst/>
            <a:rect l="0" t="0" r="r" b="b"/>
            <a:pathLst>
              <a:path w="3514" h="569">
                <a:moveTo>
                  <a:pt x="0" y="569"/>
                </a:moveTo>
                <a:lnTo>
                  <a:pt x="3514" y="569"/>
                </a:lnTo>
                <a:lnTo>
                  <a:pt x="3514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100080" y="5760"/>
            <a:ext cx="17715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Cross-Outcome Synthesis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1548720" y="603720"/>
            <a:ext cx="1888200" cy="204840"/>
          </a:xfrm>
          <a:custGeom>
            <a:avLst/>
            <a:gdLst/>
            <a:ahLst/>
            <a:rect l="0" t="0" r="r" b="b"/>
            <a:pathLst>
              <a:path w="5245" h="569">
                <a:moveTo>
                  <a:pt x="0" y="569"/>
                </a:moveTo>
                <a:lnTo>
                  <a:pt x="5245" y="569"/>
                </a:lnTo>
                <a:lnTo>
                  <a:pt x="5245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360000" y="571320"/>
            <a:ext cx="4197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Outcome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3436560" y="603720"/>
            <a:ext cx="723600" cy="204840"/>
          </a:xfrm>
          <a:custGeom>
            <a:avLst/>
            <a:gdLst/>
            <a:ahLst/>
            <a:rect l="0" t="0" r="r" b="b"/>
            <a:pathLst>
              <a:path w="2010" h="569">
                <a:moveTo>
                  <a:pt x="0" y="569"/>
                </a:moveTo>
                <a:lnTo>
                  <a:pt x="2010" y="569"/>
                </a:lnTo>
                <a:lnTo>
                  <a:pt x="2010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1624680" y="655200"/>
            <a:ext cx="4212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Direction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4159800" y="603720"/>
            <a:ext cx="480960" cy="204840"/>
          </a:xfrm>
          <a:custGeom>
            <a:avLst/>
            <a:gdLst/>
            <a:ahLst/>
            <a:rect l="0" t="0" r="r" b="b"/>
            <a:pathLst>
              <a:path w="1336" h="569">
                <a:moveTo>
                  <a:pt x="0" y="569"/>
                </a:moveTo>
                <a:lnTo>
                  <a:pt x="1336" y="569"/>
                </a:lnTo>
                <a:lnTo>
                  <a:pt x="1336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3687480" y="571320"/>
            <a:ext cx="3952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Avg / yr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4640400" y="603720"/>
            <a:ext cx="438840" cy="204840"/>
          </a:xfrm>
          <a:custGeom>
            <a:avLst/>
            <a:gdLst/>
            <a:ahLst/>
            <a:rect l="0" t="0" r="r" b="b"/>
            <a:pathLst>
              <a:path w="1219" h="569">
                <a:moveTo>
                  <a:pt x="0" y="569"/>
                </a:moveTo>
                <a:lnTo>
                  <a:pt x="1219" y="569"/>
                </a:lnTo>
                <a:lnTo>
                  <a:pt x="1219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4317840" y="571320"/>
            <a:ext cx="2444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Ratio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5078880" y="603720"/>
            <a:ext cx="397080" cy="204840"/>
          </a:xfrm>
          <a:custGeom>
            <a:avLst/>
            <a:gdLst/>
            <a:ahLst/>
            <a:rect l="0" t="0" r="r" b="b"/>
            <a:pathLst>
              <a:path w="1103" h="569">
                <a:moveTo>
                  <a:pt x="0" y="569"/>
                </a:moveTo>
                <a:lnTo>
                  <a:pt x="1103" y="569"/>
                </a:lnTo>
                <a:lnTo>
                  <a:pt x="1103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4768560" y="571320"/>
            <a:ext cx="2340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Rank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359640" y="836280"/>
            <a:ext cx="5040000" cy="0"/>
          </a:xfrm>
          <a:prstGeom prst="line">
            <a:avLst/>
          </a:prstGeom>
          <a:ln w="684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5155200" y="571320"/>
            <a:ext cx="1008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360000" y="847080"/>
            <a:ext cx="957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Road-accident deaths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1624680" y="8557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↓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1714320" y="847080"/>
            <a:ext cx="195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then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1947960" y="8557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↑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2037600" y="847080"/>
            <a:ext cx="37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(reversal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2452320" y="847080"/>
            <a:ext cx="47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post-2018)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3512880" y="847080"/>
            <a:ext cx="567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+360 deaths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4236120" y="847080"/>
            <a:ext cx="243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22.87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4480920" y="8557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4716360" y="84708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2 / 14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5154840" y="847080"/>
            <a:ext cx="243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0.071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360000" y="967320"/>
            <a:ext cx="756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Own tax revenue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1624680" y="9759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↓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1714320" y="967320"/>
            <a:ext cx="561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(attenuated)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3533040" y="975960"/>
            <a:ext cx="1609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−</a:t>
            </a:r>
            <a:r>
              <a:rPr b="0" lang="en-US" sz="790" spc="-1" strike="noStrike">
                <a:solidFill>
                  <a:srgbClr val="0a3a66"/>
                </a:solidFill>
                <a:latin typeface="Font Awesome 5 Free Solid"/>
                <a:ea typeface="Font Awesome 5 Free Solid"/>
              </a:rPr>
              <a:t>Ñ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3697920" y="967320"/>
            <a:ext cx="383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2,017 Cr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4289760" y="967320"/>
            <a:ext cx="18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3.16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4480920" y="9759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4895640" y="967320"/>
            <a:ext cx="10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5155200" y="967320"/>
            <a:ext cx="10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360000" y="1087560"/>
            <a:ext cx="1105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NSDP per-capita growth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1624680" y="10962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↓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1714320" y="1087560"/>
            <a:ext cx="535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(suggestive)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3662280" y="10962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3746160" y="10875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2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3799800" y="10962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3829680" y="1087560"/>
            <a:ext cx="252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99 pp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4236120" y="1087560"/>
            <a:ext cx="243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83.86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4480920" y="10962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4716360" y="108756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6 / 14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359640" y="1270440"/>
            <a:ext cx="5040000" cy="0"/>
          </a:xfrm>
          <a:prstGeom prst="line">
            <a:avLst/>
          </a:prstGeom>
          <a:ln w="1080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359640" y="1653120"/>
            <a:ext cx="2419920" cy="914760"/>
          </a:xfrm>
          <a:custGeom>
            <a:avLst/>
            <a:gdLst/>
            <a:ahLst/>
            <a:rect l="0" t="0" r="r" b="b"/>
            <a:pathLst>
              <a:path w="6722" h="2541">
                <a:moveTo>
                  <a:pt x="0" y="2408"/>
                </a:moveTo>
                <a:lnTo>
                  <a:pt x="0" y="134"/>
                </a:lnTo>
                <a:cubicBezTo>
                  <a:pt x="0" y="60"/>
                  <a:pt x="60" y="0"/>
                  <a:pt x="134" y="0"/>
                </a:cubicBezTo>
                <a:lnTo>
                  <a:pt x="6588" y="0"/>
                </a:lnTo>
                <a:cubicBezTo>
                  <a:pt x="6662" y="0"/>
                  <a:pt x="6722" y="60"/>
                  <a:pt x="6722" y="134"/>
                </a:cubicBezTo>
                <a:lnTo>
                  <a:pt x="6722" y="2408"/>
                </a:lnTo>
                <a:cubicBezTo>
                  <a:pt x="6722" y="2481"/>
                  <a:pt x="6662" y="2541"/>
                  <a:pt x="6588" y="2541"/>
                </a:cubicBezTo>
                <a:lnTo>
                  <a:pt x="134" y="2541"/>
                </a:lnTo>
                <a:cubicBezTo>
                  <a:pt x="60" y="2541"/>
                  <a:pt x="0" y="2481"/>
                  <a:pt x="0" y="2408"/>
                </a:cubicBezTo>
                <a:close/>
              </a:path>
            </a:pathLst>
          </a:custGeom>
          <a:solidFill>
            <a:srgbClr val="64d6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370080" y="1663560"/>
            <a:ext cx="2399040" cy="894240"/>
          </a:xfrm>
          <a:custGeom>
            <a:avLst/>
            <a:gdLst/>
            <a:ahLst/>
            <a:rect l="0" t="0" r="r" b="b"/>
            <a:pathLst>
              <a:path w="6664" h="2484">
                <a:moveTo>
                  <a:pt x="0" y="2379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7"/>
                  <a:pt x="6664" y="105"/>
                </a:cubicBezTo>
                <a:lnTo>
                  <a:pt x="6664" y="2379"/>
                </a:lnTo>
                <a:cubicBezTo>
                  <a:pt x="6664" y="2437"/>
                  <a:pt x="6617" y="2484"/>
                  <a:pt x="6559" y="2484"/>
                </a:cubicBezTo>
                <a:lnTo>
                  <a:pt x="105" y="2484"/>
                </a:lnTo>
                <a:cubicBezTo>
                  <a:pt x="47" y="2484"/>
                  <a:pt x="0" y="2437"/>
                  <a:pt x="0" y="2379"/>
                </a:cubicBezTo>
                <a:close/>
              </a:path>
            </a:pathLst>
          </a:custGeom>
          <a:solidFill>
            <a:srgbClr val="e4f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5154840" y="1087560"/>
            <a:ext cx="18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0.43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593280" y="16945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733680" y="1684800"/>
            <a:ext cx="1879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Significant short-run reduction in road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733680" y="1823760"/>
            <a:ext cx="858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deaths (2016–17)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593280" y="20235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733680" y="2013840"/>
            <a:ext cx="1698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Composite tax gap consistent with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733680" y="2162520"/>
            <a:ext cx="183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∼</a:t>
            </a:r>
            <a:r>
              <a:rPr b="0" lang="en-US" sz="900" spc="-1" strike="noStrike">
                <a:solidFill>
                  <a:srgbClr val="0a3a66"/>
                </a:solidFill>
                <a:latin typeface="Font Awesome 5 Free Solid"/>
                <a:ea typeface="Font Awesome 5 Free Solid"/>
              </a:rPr>
              <a:t>Ñ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915480" y="2152800"/>
            <a:ext cx="960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4,000 Cr excise loss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593280" y="23526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2980800" y="1653120"/>
            <a:ext cx="2419560" cy="921240"/>
          </a:xfrm>
          <a:custGeom>
            <a:avLst/>
            <a:gdLst/>
            <a:ahLst/>
            <a:rect l="0" t="0" r="r" b="b"/>
            <a:pathLst>
              <a:path w="6721" h="2559">
                <a:moveTo>
                  <a:pt x="0" y="2425"/>
                </a:moveTo>
                <a:lnTo>
                  <a:pt x="0" y="134"/>
                </a:lnTo>
                <a:cubicBezTo>
                  <a:pt x="0" y="60"/>
                  <a:pt x="59" y="0"/>
                  <a:pt x="133" y="0"/>
                </a:cubicBezTo>
                <a:lnTo>
                  <a:pt x="6587" y="0"/>
                </a:lnTo>
                <a:cubicBezTo>
                  <a:pt x="6661" y="0"/>
                  <a:pt x="6721" y="60"/>
                  <a:pt x="6721" y="134"/>
                </a:cubicBezTo>
                <a:lnTo>
                  <a:pt x="6721" y="2425"/>
                </a:lnTo>
                <a:cubicBezTo>
                  <a:pt x="6721" y="2499"/>
                  <a:pt x="6661" y="2559"/>
                  <a:pt x="6587" y="2559"/>
                </a:cubicBezTo>
                <a:lnTo>
                  <a:pt x="133" y="2559"/>
                </a:lnTo>
                <a:cubicBezTo>
                  <a:pt x="59" y="2559"/>
                  <a:pt x="0" y="2499"/>
                  <a:pt x="0" y="2425"/>
                </a:cubicBezTo>
                <a:close/>
              </a:path>
            </a:pathLst>
          </a:custGeom>
          <a:solidFill>
            <a:srgbClr val="f58f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2990880" y="1663200"/>
            <a:ext cx="2399040" cy="900720"/>
          </a:xfrm>
          <a:custGeom>
            <a:avLst/>
            <a:gdLst/>
            <a:ahLst/>
            <a:rect l="0" t="0" r="r" b="b"/>
            <a:pathLst>
              <a:path w="6664" h="2502">
                <a:moveTo>
                  <a:pt x="0" y="2397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8"/>
                  <a:pt x="6664" y="106"/>
                </a:cubicBezTo>
                <a:lnTo>
                  <a:pt x="6664" y="2397"/>
                </a:lnTo>
                <a:cubicBezTo>
                  <a:pt x="6664" y="2455"/>
                  <a:pt x="6617" y="2502"/>
                  <a:pt x="6559" y="2502"/>
                </a:cubicBezTo>
                <a:lnTo>
                  <a:pt x="105" y="2502"/>
                </a:lnTo>
                <a:cubicBezTo>
                  <a:pt x="47" y="2502"/>
                  <a:pt x="0" y="2455"/>
                  <a:pt x="0" y="2397"/>
                </a:cubicBezTo>
                <a:close/>
              </a:path>
            </a:pathLst>
          </a:custGeom>
          <a:solidFill>
            <a:srgbClr val="fdec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729720" y="2342520"/>
            <a:ext cx="1951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Three outcomes paint a coherent picture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3214080" y="16945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3354480" y="1684800"/>
            <a:ext cx="1834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Long-run reduction in road deaths —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3354480" y="1823760"/>
            <a:ext cx="687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effect reverses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3214080" y="20235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3354480" y="2013480"/>
            <a:ext cx="1872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Pure-excise impact (proxy attenuates)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3214080" y="22132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3354480" y="2203560"/>
            <a:ext cx="1789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Statistically significant growth effect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3350160" y="234252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(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3493800" y="23522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≈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3617280" y="234252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3675960" y="23522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3708360" y="2342520"/>
            <a:ext cx="163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43)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20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780" name="" descr=""/>
          <p:cNvPicPr/>
          <p:nvPr/>
        </p:nvPicPr>
        <p:blipFill>
          <a:blip r:embed="rId1"/>
          <a:stretch/>
        </p:blipFill>
        <p:spPr>
          <a:xfrm>
            <a:off x="421920" y="432720"/>
            <a:ext cx="2345760" cy="1050120"/>
          </a:xfrm>
          <a:prstGeom prst="rect">
            <a:avLst/>
          </a:prstGeom>
          <a:ln w="0">
            <a:noFill/>
          </a:ln>
        </p:spPr>
      </p:pic>
      <p:sp>
        <p:nvSpPr>
          <p:cNvPr id="781" name=""/>
          <p:cNvSpPr txBox="1"/>
          <p:nvPr/>
        </p:nvSpPr>
        <p:spPr>
          <a:xfrm>
            <a:off x="100080" y="5760"/>
            <a:ext cx="32439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Robustness — In-Time Placebo &amp; Spec Curve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711360" y="1512000"/>
            <a:ext cx="167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False treatment in 2015 — ratio 0.42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83" name="" descr=""/>
          <p:cNvPicPr/>
          <p:nvPr/>
        </p:nvPicPr>
        <p:blipFill>
          <a:blip r:embed="rId2"/>
          <a:stretch/>
        </p:blipFill>
        <p:spPr>
          <a:xfrm>
            <a:off x="2991960" y="432720"/>
            <a:ext cx="2345760" cy="1615680"/>
          </a:xfrm>
          <a:prstGeom prst="rect">
            <a:avLst/>
          </a:prstGeom>
          <a:ln w="0">
            <a:noFill/>
          </a:ln>
        </p:spPr>
      </p:pic>
      <p:sp>
        <p:nvSpPr>
          <p:cNvPr id="784" name=""/>
          <p:cNvSpPr txBox="1"/>
          <p:nvPr/>
        </p:nvSpPr>
        <p:spPr>
          <a:xfrm>
            <a:off x="2394360" y="15206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3356640" y="2077560"/>
            <a:ext cx="1262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7 specifications, 6 with ratio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4666320" y="20858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Italic8"/>
                <a:ea typeface="LMMathItalic8"/>
              </a:rPr>
              <a:t>&gt;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4780080" y="2077560"/>
            <a:ext cx="10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17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359640" y="2335680"/>
            <a:ext cx="5040720" cy="479160"/>
          </a:xfrm>
          <a:custGeom>
            <a:avLst/>
            <a:gdLst/>
            <a:ahLst/>
            <a:rect l="0" t="0" r="r" b="b"/>
            <a:pathLst>
              <a:path w="14002" h="1331">
                <a:moveTo>
                  <a:pt x="0" y="1198"/>
                </a:moveTo>
                <a:lnTo>
                  <a:pt x="0" y="134"/>
                </a:lnTo>
                <a:cubicBezTo>
                  <a:pt x="0" y="60"/>
                  <a:pt x="60" y="0"/>
                  <a:pt x="134" y="0"/>
                </a:cubicBezTo>
                <a:lnTo>
                  <a:pt x="13868" y="0"/>
                </a:lnTo>
                <a:cubicBezTo>
                  <a:pt x="13942" y="0"/>
                  <a:pt x="14002" y="60"/>
                  <a:pt x="14002" y="134"/>
                </a:cubicBezTo>
                <a:lnTo>
                  <a:pt x="14002" y="1198"/>
                </a:lnTo>
                <a:cubicBezTo>
                  <a:pt x="14002" y="1272"/>
                  <a:pt x="13942" y="1331"/>
                  <a:pt x="13868" y="1331"/>
                </a:cubicBezTo>
                <a:lnTo>
                  <a:pt x="134" y="1331"/>
                </a:lnTo>
                <a:cubicBezTo>
                  <a:pt x="60" y="1331"/>
                  <a:pt x="0" y="1272"/>
                  <a:pt x="0" y="1198"/>
                </a:cubicBezTo>
                <a:close/>
              </a:path>
            </a:pathLst>
          </a:custGeom>
          <a:solidFill>
            <a:srgbClr val="64d6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370080" y="2345760"/>
            <a:ext cx="5020200" cy="459000"/>
          </a:xfrm>
          <a:custGeom>
            <a:avLst/>
            <a:gdLst/>
            <a:ahLst/>
            <a:rect l="0" t="0" r="r" b="b"/>
            <a:pathLst>
              <a:path w="13945" h="1275">
                <a:moveTo>
                  <a:pt x="0" y="1170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13839" y="0"/>
                </a:lnTo>
                <a:cubicBezTo>
                  <a:pt x="13897" y="0"/>
                  <a:pt x="13945" y="48"/>
                  <a:pt x="13945" y="106"/>
                </a:cubicBezTo>
                <a:lnTo>
                  <a:pt x="13945" y="1170"/>
                </a:lnTo>
                <a:cubicBezTo>
                  <a:pt x="13945" y="1228"/>
                  <a:pt x="13897" y="1275"/>
                  <a:pt x="13839" y="1275"/>
                </a:cubicBezTo>
                <a:lnTo>
                  <a:pt x="105" y="1275"/>
                </a:lnTo>
                <a:cubicBezTo>
                  <a:pt x="47" y="1275"/>
                  <a:pt x="0" y="1228"/>
                  <a:pt x="0" y="1170"/>
                </a:cubicBezTo>
                <a:close/>
              </a:path>
            </a:pathLst>
          </a:custGeom>
          <a:solidFill>
            <a:srgbClr val="e4f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4887360" y="20858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456840" y="2360880"/>
            <a:ext cx="7581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In-time placebo.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1292040" y="2360880"/>
            <a:ext cx="1206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Pretend treatment in 2015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2565000" y="23695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2712960" y="2360880"/>
            <a:ext cx="995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ratio collapses to 0.42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3733200" y="23695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3857400" y="2360880"/>
            <a:ext cx="120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vs.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4020840" y="2360880"/>
            <a:ext cx="24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22.87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4270680" y="23695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4395240" y="2360880"/>
            <a:ext cx="503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for the real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4949640" y="2360880"/>
            <a:ext cx="361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2016 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456840" y="2481120"/>
            <a:ext cx="779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1b9e4b"/>
                </a:solidFill>
                <a:latin typeface="LMSans10"/>
                <a:ea typeface="LMSans10"/>
              </a:rPr>
              <a:t>no false positive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1311480" y="2481120"/>
            <a:ext cx="538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Spec curve.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1918800" y="2481120"/>
            <a:ext cx="1252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6 of 7 alt. specs yield ratios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3240720" y="2489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Italic8"/>
                <a:ea typeface="LMMathItalic8"/>
              </a:rPr>
              <a:t>&gt;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3363480" y="2481120"/>
            <a:ext cx="109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17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3473280" y="24897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3556800" y="2481120"/>
            <a:ext cx="10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3627000" y="2481120"/>
            <a:ext cx="164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avg effects +354 to +469 deaths/yr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452520" y="2601360"/>
            <a:ext cx="1389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(literacy-only outlier excluded).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21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359640" y="707760"/>
            <a:ext cx="2419920" cy="1054080"/>
          </a:xfrm>
          <a:custGeom>
            <a:avLst/>
            <a:gdLst/>
            <a:ahLst/>
            <a:rect l="0" t="0" r="r" b="b"/>
            <a:pathLst>
              <a:path w="6722" h="2928">
                <a:moveTo>
                  <a:pt x="0" y="2794"/>
                </a:moveTo>
                <a:lnTo>
                  <a:pt x="0" y="134"/>
                </a:lnTo>
                <a:cubicBezTo>
                  <a:pt x="0" y="60"/>
                  <a:pt x="60" y="0"/>
                  <a:pt x="134" y="0"/>
                </a:cubicBezTo>
                <a:lnTo>
                  <a:pt x="6588" y="0"/>
                </a:lnTo>
                <a:cubicBezTo>
                  <a:pt x="6662" y="0"/>
                  <a:pt x="6722" y="60"/>
                  <a:pt x="6722" y="134"/>
                </a:cubicBezTo>
                <a:lnTo>
                  <a:pt x="6722" y="2794"/>
                </a:lnTo>
                <a:cubicBezTo>
                  <a:pt x="6722" y="2868"/>
                  <a:pt x="6662" y="2928"/>
                  <a:pt x="6588" y="2928"/>
                </a:cubicBezTo>
                <a:lnTo>
                  <a:pt x="134" y="2928"/>
                </a:lnTo>
                <a:cubicBezTo>
                  <a:pt x="60" y="2928"/>
                  <a:pt x="0" y="2868"/>
                  <a:pt x="0" y="2794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370080" y="717840"/>
            <a:ext cx="2399040" cy="1033560"/>
          </a:xfrm>
          <a:custGeom>
            <a:avLst/>
            <a:gdLst/>
            <a:ahLst/>
            <a:rect l="0" t="0" r="r" b="b"/>
            <a:pathLst>
              <a:path w="6664" h="2871">
                <a:moveTo>
                  <a:pt x="0" y="2766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8"/>
                  <a:pt x="6664" y="106"/>
                </a:cubicBezTo>
                <a:lnTo>
                  <a:pt x="6664" y="2766"/>
                </a:lnTo>
                <a:cubicBezTo>
                  <a:pt x="6664" y="2824"/>
                  <a:pt x="6617" y="2871"/>
                  <a:pt x="6559" y="2871"/>
                </a:cubicBezTo>
                <a:lnTo>
                  <a:pt x="105" y="2871"/>
                </a:lnTo>
                <a:cubicBezTo>
                  <a:pt x="47" y="2871"/>
                  <a:pt x="0" y="2824"/>
                  <a:pt x="0" y="2766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100080" y="5760"/>
            <a:ext cx="7750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Limitations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593280" y="7491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733680" y="739440"/>
            <a:ext cx="1471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NSDP T19 starts FY 2011–12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2234880" y="7491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2391120" y="739440"/>
            <a:ext cx="294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only 4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733680" y="878400"/>
            <a:ext cx="779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pre-period years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593280" y="10782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733680" y="1068120"/>
            <a:ext cx="1568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Census 2021 delayed; predictors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733680" y="1207440"/>
            <a:ext cx="1492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interpolated from 2011 anchor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593280" y="14068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733680" y="1397160"/>
            <a:ext cx="1482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Excise sub-head WAF-blocked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2239560" y="14068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359640" y="2148120"/>
            <a:ext cx="2419920" cy="775440"/>
          </a:xfrm>
          <a:custGeom>
            <a:avLst/>
            <a:gdLst/>
            <a:ahLst/>
            <a:rect l="0" t="0" r="r" b="b"/>
            <a:pathLst>
              <a:path w="6722" h="2154">
                <a:moveTo>
                  <a:pt x="0" y="2020"/>
                </a:moveTo>
                <a:lnTo>
                  <a:pt x="0" y="133"/>
                </a:lnTo>
                <a:cubicBezTo>
                  <a:pt x="0" y="60"/>
                  <a:pt x="60" y="0"/>
                  <a:pt x="134" y="0"/>
                </a:cubicBezTo>
                <a:lnTo>
                  <a:pt x="6588" y="0"/>
                </a:lnTo>
                <a:cubicBezTo>
                  <a:pt x="6662" y="0"/>
                  <a:pt x="6722" y="60"/>
                  <a:pt x="6722" y="133"/>
                </a:cubicBezTo>
                <a:lnTo>
                  <a:pt x="6722" y="2020"/>
                </a:lnTo>
                <a:cubicBezTo>
                  <a:pt x="6722" y="2094"/>
                  <a:pt x="6662" y="2154"/>
                  <a:pt x="6588" y="2154"/>
                </a:cubicBezTo>
                <a:lnTo>
                  <a:pt x="134" y="2154"/>
                </a:lnTo>
                <a:cubicBezTo>
                  <a:pt x="60" y="2154"/>
                  <a:pt x="0" y="2094"/>
                  <a:pt x="0" y="202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370080" y="2158200"/>
            <a:ext cx="2399040" cy="755280"/>
          </a:xfrm>
          <a:custGeom>
            <a:avLst/>
            <a:gdLst/>
            <a:ahLst/>
            <a:rect l="0" t="0" r="r" b="b"/>
            <a:pathLst>
              <a:path w="6664" h="2098">
                <a:moveTo>
                  <a:pt x="0" y="1992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7"/>
                  <a:pt x="6664" y="105"/>
                </a:cubicBezTo>
                <a:lnTo>
                  <a:pt x="6664" y="1992"/>
                </a:lnTo>
                <a:cubicBezTo>
                  <a:pt x="6664" y="2050"/>
                  <a:pt x="6617" y="2098"/>
                  <a:pt x="6559" y="2098"/>
                </a:cubicBezTo>
                <a:lnTo>
                  <a:pt x="105" y="2098"/>
                </a:lnTo>
                <a:cubicBezTo>
                  <a:pt x="47" y="2098"/>
                  <a:pt x="0" y="2050"/>
                  <a:pt x="0" y="1992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733680" y="1536480"/>
            <a:ext cx="797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composite proxy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593280" y="21891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733680" y="2179440"/>
            <a:ext cx="1815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Bihar near edge of donor convex hull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593280" y="23788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733680" y="2369160"/>
            <a:ext cx="1588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COVID-19 (2020–21) confounds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733680" y="2508480"/>
            <a:ext cx="977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post-2020 estimates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593280" y="27079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2980800" y="707760"/>
            <a:ext cx="2419560" cy="1060200"/>
          </a:xfrm>
          <a:custGeom>
            <a:avLst/>
            <a:gdLst/>
            <a:ahLst/>
            <a:rect l="0" t="0" r="r" b="b"/>
            <a:pathLst>
              <a:path w="6721" h="2945">
                <a:moveTo>
                  <a:pt x="0" y="2812"/>
                </a:moveTo>
                <a:lnTo>
                  <a:pt x="0" y="134"/>
                </a:lnTo>
                <a:cubicBezTo>
                  <a:pt x="0" y="60"/>
                  <a:pt x="59" y="0"/>
                  <a:pt x="133" y="0"/>
                </a:cubicBezTo>
                <a:lnTo>
                  <a:pt x="6587" y="0"/>
                </a:lnTo>
                <a:cubicBezTo>
                  <a:pt x="6661" y="0"/>
                  <a:pt x="6721" y="60"/>
                  <a:pt x="6721" y="134"/>
                </a:cubicBezTo>
                <a:lnTo>
                  <a:pt x="6721" y="2812"/>
                </a:lnTo>
                <a:cubicBezTo>
                  <a:pt x="6721" y="2885"/>
                  <a:pt x="6661" y="2945"/>
                  <a:pt x="6587" y="2945"/>
                </a:cubicBezTo>
                <a:lnTo>
                  <a:pt x="133" y="2945"/>
                </a:lnTo>
                <a:cubicBezTo>
                  <a:pt x="59" y="2945"/>
                  <a:pt x="0" y="2885"/>
                  <a:pt x="0" y="2812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2990880" y="717840"/>
            <a:ext cx="2399040" cy="1040040"/>
          </a:xfrm>
          <a:custGeom>
            <a:avLst/>
            <a:gdLst/>
            <a:ahLst/>
            <a:rect l="0" t="0" r="r" b="b"/>
            <a:pathLst>
              <a:path w="6664" h="2889">
                <a:moveTo>
                  <a:pt x="0" y="2784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8"/>
                  <a:pt x="6664" y="106"/>
                </a:cubicBezTo>
                <a:lnTo>
                  <a:pt x="6664" y="2784"/>
                </a:lnTo>
                <a:cubicBezTo>
                  <a:pt x="6664" y="2842"/>
                  <a:pt x="6617" y="2889"/>
                  <a:pt x="6559" y="2889"/>
                </a:cubicBezTo>
                <a:lnTo>
                  <a:pt x="105" y="2889"/>
                </a:lnTo>
                <a:cubicBezTo>
                  <a:pt x="47" y="2889"/>
                  <a:pt x="0" y="2842"/>
                  <a:pt x="0" y="2784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733680" y="2698200"/>
            <a:ext cx="1677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Inter-state migration not captured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3214080" y="7491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3354480" y="739440"/>
            <a:ext cx="828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BSTS overfits (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4181040" y="795960"/>
            <a:ext cx="10584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pre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4322880" y="739440"/>
            <a:ext cx="18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= 6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4537440" y="7491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&lt;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4660920" y="739440"/>
            <a:ext cx="387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J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= 13)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5083920" y="7491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3354480" y="894240"/>
            <a:ext cx="720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Mono9"/>
                <a:ea typeface="LMMono9"/>
              </a:rPr>
              <a:t>max_donors=3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4111200" y="878400"/>
            <a:ext cx="570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(subjective)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3214080" y="10782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3354480" y="1068120"/>
            <a:ext cx="1965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Growth BSTS uses single donor + 2017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3354480" y="1207440"/>
            <a:ext cx="282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cutoff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3214080" y="14068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3354480" y="1397160"/>
            <a:ext cx="1812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Permutation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p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from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J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= 14 is coarse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3350160" y="153648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(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3395520" y="15462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≥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3519000" y="153648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3577680" y="15462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/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2980800" y="2011680"/>
            <a:ext cx="2419560" cy="594000"/>
          </a:xfrm>
          <a:custGeom>
            <a:avLst/>
            <a:gdLst/>
            <a:ahLst/>
            <a:rect l="0" t="0" r="r" b="b"/>
            <a:pathLst>
              <a:path w="6721" h="1650">
                <a:moveTo>
                  <a:pt x="0" y="1516"/>
                </a:moveTo>
                <a:lnTo>
                  <a:pt x="0" y="134"/>
                </a:lnTo>
                <a:cubicBezTo>
                  <a:pt x="0" y="60"/>
                  <a:pt x="59" y="0"/>
                  <a:pt x="133" y="0"/>
                </a:cubicBezTo>
                <a:lnTo>
                  <a:pt x="6587" y="0"/>
                </a:lnTo>
                <a:cubicBezTo>
                  <a:pt x="6661" y="0"/>
                  <a:pt x="6721" y="60"/>
                  <a:pt x="6721" y="134"/>
                </a:cubicBezTo>
                <a:lnTo>
                  <a:pt x="6721" y="1516"/>
                </a:lnTo>
                <a:cubicBezTo>
                  <a:pt x="6721" y="1590"/>
                  <a:pt x="6661" y="1650"/>
                  <a:pt x="6587" y="1650"/>
                </a:cubicBezTo>
                <a:lnTo>
                  <a:pt x="133" y="1650"/>
                </a:lnTo>
                <a:cubicBezTo>
                  <a:pt x="59" y="1650"/>
                  <a:pt x="0" y="1590"/>
                  <a:pt x="0" y="1516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2990880" y="2021760"/>
            <a:ext cx="2399040" cy="573480"/>
          </a:xfrm>
          <a:custGeom>
            <a:avLst/>
            <a:gdLst/>
            <a:ahLst/>
            <a:rect l="0" t="0" r="r" b="b"/>
            <a:pathLst>
              <a:path w="6664" h="1593">
                <a:moveTo>
                  <a:pt x="0" y="1487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6559" y="0"/>
                </a:lnTo>
                <a:cubicBezTo>
                  <a:pt x="6617" y="0"/>
                  <a:pt x="6664" y="47"/>
                  <a:pt x="6664" y="106"/>
                </a:cubicBezTo>
                <a:lnTo>
                  <a:pt x="6664" y="1487"/>
                </a:lnTo>
                <a:cubicBezTo>
                  <a:pt x="6664" y="1545"/>
                  <a:pt x="6617" y="1593"/>
                  <a:pt x="6559" y="1593"/>
                </a:cubicBezTo>
                <a:lnTo>
                  <a:pt x="105" y="1593"/>
                </a:lnTo>
                <a:cubicBezTo>
                  <a:pt x="47" y="1593"/>
                  <a:pt x="0" y="1545"/>
                  <a:pt x="0" y="1487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3636000" y="1536480"/>
            <a:ext cx="163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14)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3077640" y="2036880"/>
            <a:ext cx="7534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Honest framing: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3928320" y="2036880"/>
            <a:ext cx="243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Bihar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4221360" y="2036880"/>
            <a:ext cx="1024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is a hard SCM case 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3077640" y="2157120"/>
            <a:ext cx="2225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short pre-period, outlier on covariates, COVID con-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3077640" y="2277360"/>
            <a:ext cx="371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founder.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3553200" y="2277360"/>
            <a:ext cx="1655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Triangulating SCM and BSTS is the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3077640" y="2397600"/>
            <a:ext cx="803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strongest defence.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22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100080" y="5760"/>
            <a:ext cx="11574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Companion Tool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359640" y="986400"/>
            <a:ext cx="2520720" cy="1533960"/>
          </a:xfrm>
          <a:custGeom>
            <a:avLst/>
            <a:gdLst/>
            <a:ahLst/>
            <a:rect l="0" t="0" r="r" b="b"/>
            <a:pathLst>
              <a:path w="7002" h="4261">
                <a:moveTo>
                  <a:pt x="0" y="4128"/>
                </a:moveTo>
                <a:lnTo>
                  <a:pt x="0" y="133"/>
                </a:lnTo>
                <a:cubicBezTo>
                  <a:pt x="0" y="60"/>
                  <a:pt x="60" y="0"/>
                  <a:pt x="134" y="0"/>
                </a:cubicBezTo>
                <a:lnTo>
                  <a:pt x="6868" y="0"/>
                </a:lnTo>
                <a:cubicBezTo>
                  <a:pt x="6942" y="0"/>
                  <a:pt x="7002" y="60"/>
                  <a:pt x="7002" y="133"/>
                </a:cubicBezTo>
                <a:lnTo>
                  <a:pt x="7002" y="4128"/>
                </a:lnTo>
                <a:cubicBezTo>
                  <a:pt x="7002" y="4201"/>
                  <a:pt x="6942" y="4261"/>
                  <a:pt x="6868" y="4261"/>
                </a:cubicBezTo>
                <a:lnTo>
                  <a:pt x="134" y="4261"/>
                </a:lnTo>
                <a:cubicBezTo>
                  <a:pt x="60" y="4261"/>
                  <a:pt x="0" y="4201"/>
                  <a:pt x="0" y="412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370080" y="996480"/>
            <a:ext cx="2499840" cy="1513800"/>
          </a:xfrm>
          <a:custGeom>
            <a:avLst/>
            <a:gdLst/>
            <a:ahLst/>
            <a:rect l="0" t="0" r="r" b="b"/>
            <a:pathLst>
              <a:path w="6944" h="4205">
                <a:moveTo>
                  <a:pt x="0" y="4100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839" y="0"/>
                </a:lnTo>
                <a:cubicBezTo>
                  <a:pt x="6897" y="0"/>
                  <a:pt x="6944" y="47"/>
                  <a:pt x="6944" y="105"/>
                </a:cubicBezTo>
                <a:lnTo>
                  <a:pt x="6944" y="4100"/>
                </a:lnTo>
                <a:cubicBezTo>
                  <a:pt x="6944" y="4158"/>
                  <a:pt x="6897" y="4205"/>
                  <a:pt x="6839" y="4205"/>
                </a:cubicBezTo>
                <a:lnTo>
                  <a:pt x="105" y="4205"/>
                </a:lnTo>
                <a:cubicBezTo>
                  <a:pt x="47" y="4205"/>
                  <a:pt x="0" y="4158"/>
                  <a:pt x="0" y="4100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1298880" y="5760"/>
            <a:ext cx="15840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— </a:t>
            </a:r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Interactive Website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456840" y="1011600"/>
            <a:ext cx="2934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Stack.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916200" y="1011600"/>
            <a:ext cx="366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FastAPI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1358280" y="1011600"/>
            <a:ext cx="369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backend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1803600" y="1011600"/>
            <a:ext cx="313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serving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2194560" y="1011600"/>
            <a:ext cx="586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precomputed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456840" y="1131480"/>
            <a:ext cx="1523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SCM/BSTS JSONs + a live SCM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2025000" y="1145880"/>
            <a:ext cx="320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Mono8"/>
                <a:ea typeface="LMMono8"/>
              </a:rPr>
              <a:t>/refit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2383560" y="1131480"/>
            <a:ext cx="415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endpoint.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456840" y="1251720"/>
            <a:ext cx="2204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Next.js 16 / React 19 / Tailwind 4 / Recharts /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456840" y="1371960"/>
            <a:ext cx="801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Zustand frontend.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452880" y="1546200"/>
            <a:ext cx="9777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Three outcome tabs.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1596240" y="1546200"/>
            <a:ext cx="713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Road accidents,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2401920" y="1546200"/>
            <a:ext cx="361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own tax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456840" y="1666440"/>
            <a:ext cx="37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revenue,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889560" y="1666440"/>
            <a:ext cx="1806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NSDP growth — each with main chart,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456840" y="1786680"/>
            <a:ext cx="2301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gap chart, placebo, donor weights, predictor balance,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456840" y="1906920"/>
            <a:ext cx="866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downloadable CSV.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452880" y="2081160"/>
            <a:ext cx="1090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AI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607680" y="2081160"/>
            <a:ext cx="808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assistant (Gemini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1477080" y="2081160"/>
            <a:ext cx="4701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2.5-flash).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2022480" y="2081160"/>
            <a:ext cx="74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Per-tab dynamic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456840" y="2201400"/>
            <a:ext cx="2324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context — the model answers questions on the active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3081240" y="834120"/>
            <a:ext cx="2319120" cy="1140480"/>
          </a:xfrm>
          <a:custGeom>
            <a:avLst/>
            <a:gdLst/>
            <a:ahLst/>
            <a:rect l="0" t="0" r="r" b="b"/>
            <a:pathLst>
              <a:path w="6442" h="3168">
                <a:moveTo>
                  <a:pt x="0" y="3035"/>
                </a:moveTo>
                <a:lnTo>
                  <a:pt x="0" y="133"/>
                </a:lnTo>
                <a:cubicBezTo>
                  <a:pt x="0" y="59"/>
                  <a:pt x="60" y="0"/>
                  <a:pt x="134" y="0"/>
                </a:cubicBezTo>
                <a:lnTo>
                  <a:pt x="6308" y="0"/>
                </a:lnTo>
                <a:cubicBezTo>
                  <a:pt x="6382" y="0"/>
                  <a:pt x="6442" y="59"/>
                  <a:pt x="6442" y="133"/>
                </a:cubicBezTo>
                <a:lnTo>
                  <a:pt x="6442" y="3035"/>
                </a:lnTo>
                <a:cubicBezTo>
                  <a:pt x="6442" y="3109"/>
                  <a:pt x="6382" y="3168"/>
                  <a:pt x="6308" y="3168"/>
                </a:cubicBezTo>
                <a:lnTo>
                  <a:pt x="134" y="3168"/>
                </a:lnTo>
                <a:cubicBezTo>
                  <a:pt x="60" y="3168"/>
                  <a:pt x="0" y="3109"/>
                  <a:pt x="0" y="3035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3091680" y="1064160"/>
            <a:ext cx="2298240" cy="900360"/>
          </a:xfrm>
          <a:custGeom>
            <a:avLst/>
            <a:gdLst/>
            <a:ahLst/>
            <a:rect l="0" t="0" r="r" b="b"/>
            <a:pathLst>
              <a:path w="6384" h="2501">
                <a:moveTo>
                  <a:pt x="0" y="2396"/>
                </a:moveTo>
                <a:lnTo>
                  <a:pt x="0" y="0"/>
                </a:lnTo>
                <a:lnTo>
                  <a:pt x="6384" y="0"/>
                </a:lnTo>
                <a:lnTo>
                  <a:pt x="6384" y="2396"/>
                </a:lnTo>
                <a:cubicBezTo>
                  <a:pt x="6384" y="2454"/>
                  <a:pt x="6337" y="2501"/>
                  <a:pt x="6279" y="2501"/>
                </a:cubicBezTo>
                <a:lnTo>
                  <a:pt x="105" y="2501"/>
                </a:lnTo>
                <a:cubicBezTo>
                  <a:pt x="47" y="2501"/>
                  <a:pt x="0" y="2454"/>
                  <a:pt x="0" y="2396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456840" y="2321280"/>
            <a:ext cx="2050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outcome with the correct numbers + caveats.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3178440" y="843480"/>
            <a:ext cx="138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9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_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3420720" y="831600"/>
            <a:ext cx="57528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90" spc="-1" strike="noStrike">
                <a:solidFill>
                  <a:srgbClr val="ffffff"/>
                </a:solidFill>
                <a:latin typeface="LMSans10"/>
                <a:ea typeface="LMSans10"/>
              </a:rPr>
              <a:t>Endpoints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3178440" y="110088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3353040" y="1100880"/>
            <a:ext cx="607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3178440" y="118944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3353040" y="1189440"/>
            <a:ext cx="768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/api/case/bihar/scm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3178440" y="127800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3353040" y="1278000"/>
            <a:ext cx="930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/api/case/bihar/scm/tax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3178440" y="136656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3353040" y="1366560"/>
            <a:ext cx="1052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/api/case/bihar/scm/growth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3178440" y="145512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3353040" y="1455120"/>
            <a:ext cx="810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/api/case/bihar/bsts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3178440" y="154368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3353040" y="1543680"/>
            <a:ext cx="971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/api/case/bihar/bsts/tax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3178440" y="163224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3353040" y="1632240"/>
            <a:ext cx="1091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/api/case/bihar/bsts/growth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3178440" y="1720800"/>
            <a:ext cx="1052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POST /api/case/bihar/refit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3081240" y="2211120"/>
            <a:ext cx="2319120" cy="217440"/>
          </a:xfrm>
          <a:custGeom>
            <a:avLst/>
            <a:gdLst/>
            <a:ahLst/>
            <a:rect l="0" t="0" r="r" b="b"/>
            <a:pathLst>
              <a:path w="6442" h="604">
                <a:moveTo>
                  <a:pt x="0" y="481"/>
                </a:moveTo>
                <a:lnTo>
                  <a:pt x="0" y="123"/>
                </a:lnTo>
                <a:cubicBezTo>
                  <a:pt x="0" y="56"/>
                  <a:pt x="55" y="0"/>
                  <a:pt x="123" y="0"/>
                </a:cubicBezTo>
                <a:lnTo>
                  <a:pt x="6319" y="0"/>
                </a:lnTo>
                <a:cubicBezTo>
                  <a:pt x="6387" y="0"/>
                  <a:pt x="6442" y="56"/>
                  <a:pt x="6442" y="123"/>
                </a:cubicBezTo>
                <a:lnTo>
                  <a:pt x="6442" y="481"/>
                </a:lnTo>
                <a:cubicBezTo>
                  <a:pt x="6442" y="549"/>
                  <a:pt x="6387" y="604"/>
                  <a:pt x="6319" y="604"/>
                </a:cubicBezTo>
                <a:lnTo>
                  <a:pt x="123" y="604"/>
                </a:lnTo>
                <a:cubicBezTo>
                  <a:pt x="55" y="604"/>
                  <a:pt x="0" y="549"/>
                  <a:pt x="0" y="481"/>
                </a:cubicBez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3087720" y="2217600"/>
            <a:ext cx="2306160" cy="204480"/>
          </a:xfrm>
          <a:custGeom>
            <a:avLst/>
            <a:gdLst/>
            <a:ahLst/>
            <a:rect l="0" t="0" r="r" b="b"/>
            <a:pathLst>
              <a:path w="6406" h="568">
                <a:moveTo>
                  <a:pt x="0" y="463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301" y="0"/>
                </a:lnTo>
                <a:cubicBezTo>
                  <a:pt x="6359" y="0"/>
                  <a:pt x="6406" y="47"/>
                  <a:pt x="6406" y="105"/>
                </a:cubicBezTo>
                <a:lnTo>
                  <a:pt x="6406" y="463"/>
                </a:lnTo>
                <a:cubicBezTo>
                  <a:pt x="6406" y="521"/>
                  <a:pt x="6359" y="568"/>
                  <a:pt x="6301" y="568"/>
                </a:cubicBezTo>
                <a:lnTo>
                  <a:pt x="105" y="568"/>
                </a:lnTo>
                <a:cubicBezTo>
                  <a:pt x="47" y="568"/>
                  <a:pt x="0" y="521"/>
                  <a:pt x="0" y="463"/>
                </a:cubicBezTo>
                <a:close/>
              </a:path>
            </a:pathLst>
          </a:custGeom>
          <a:solidFill>
            <a:srgbClr val="f5f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3178440" y="1809360"/>
            <a:ext cx="5266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POST /api/ask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3161880" y="2262600"/>
            <a:ext cx="75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Font Awesome 5 Brands Regular"/>
                <a:ea typeface="Font Awesome 5 Brands Regular"/>
              </a:rPr>
              <a:t>§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3275640" y="2266920"/>
            <a:ext cx="16178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github.com/amsorrytola/scm-policy-india-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23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359640" y="866880"/>
            <a:ext cx="5040720" cy="668160"/>
          </a:xfrm>
          <a:custGeom>
            <a:avLst/>
            <a:gdLst/>
            <a:ahLst/>
            <a:rect l="0" t="0" r="r" b="b"/>
            <a:pathLst>
              <a:path w="14002" h="1856">
                <a:moveTo>
                  <a:pt x="0" y="1723"/>
                </a:moveTo>
                <a:lnTo>
                  <a:pt x="0" y="133"/>
                </a:lnTo>
                <a:cubicBezTo>
                  <a:pt x="0" y="60"/>
                  <a:pt x="60" y="0"/>
                  <a:pt x="134" y="0"/>
                </a:cubicBezTo>
                <a:lnTo>
                  <a:pt x="13868" y="0"/>
                </a:lnTo>
                <a:cubicBezTo>
                  <a:pt x="13942" y="0"/>
                  <a:pt x="14002" y="60"/>
                  <a:pt x="14002" y="133"/>
                </a:cubicBezTo>
                <a:lnTo>
                  <a:pt x="14002" y="1723"/>
                </a:lnTo>
                <a:cubicBezTo>
                  <a:pt x="14002" y="1796"/>
                  <a:pt x="13942" y="1856"/>
                  <a:pt x="13868" y="1856"/>
                </a:cubicBezTo>
                <a:lnTo>
                  <a:pt x="134" y="1856"/>
                </a:lnTo>
                <a:cubicBezTo>
                  <a:pt x="60" y="1856"/>
                  <a:pt x="0" y="1796"/>
                  <a:pt x="0" y="1723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370080" y="876960"/>
            <a:ext cx="5020200" cy="648000"/>
          </a:xfrm>
          <a:custGeom>
            <a:avLst/>
            <a:gdLst/>
            <a:ahLst/>
            <a:rect l="0" t="0" r="r" b="b"/>
            <a:pathLst>
              <a:path w="13945" h="1800">
                <a:moveTo>
                  <a:pt x="0" y="1695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13839" y="0"/>
                </a:lnTo>
                <a:cubicBezTo>
                  <a:pt x="13897" y="0"/>
                  <a:pt x="13945" y="47"/>
                  <a:pt x="13945" y="105"/>
                </a:cubicBezTo>
                <a:lnTo>
                  <a:pt x="13945" y="1695"/>
                </a:lnTo>
                <a:cubicBezTo>
                  <a:pt x="13945" y="1753"/>
                  <a:pt x="13897" y="1800"/>
                  <a:pt x="13839" y="1800"/>
                </a:cubicBezTo>
                <a:lnTo>
                  <a:pt x="105" y="1800"/>
                </a:lnTo>
                <a:cubicBezTo>
                  <a:pt x="47" y="1800"/>
                  <a:pt x="0" y="1753"/>
                  <a:pt x="0" y="1695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100080" y="5760"/>
            <a:ext cx="8128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Conclusions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456840" y="885960"/>
            <a:ext cx="1739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Bihar’s 2016 prohibition produced 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2226240" y="885960"/>
            <a:ext cx="11804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1b9e4b"/>
                </a:solidFill>
                <a:latin typeface="LMSans10"/>
                <a:ea typeface="LMSans10"/>
              </a:rPr>
              <a:t>statistically meaningful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3446280" y="885960"/>
            <a:ext cx="18630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1b9e4b"/>
                </a:solidFill>
                <a:latin typeface="LMSans10"/>
                <a:ea typeface="LMSans10"/>
              </a:rPr>
              <a:t>short-run reduction in road-accident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456840" y="1025280"/>
            <a:ext cx="3405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1b9e4b"/>
                </a:solidFill>
                <a:latin typeface="LMSans10"/>
                <a:ea typeface="LMSans10"/>
              </a:rPr>
              <a:t>deaths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835920" y="1025280"/>
            <a:ext cx="744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(rank 2 / 14,</a:t>
            </a:r>
            <a:r>
              <a:rPr b="0" i="1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 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1616400" y="1035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Symbols9"/>
                <a:ea typeface="LMMathSymbols9"/>
              </a:rPr>
              <a:t>≈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1739880" y="1025280"/>
            <a:ext cx="113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1798560" y="1035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Italic9"/>
                <a:ea typeface="LMMathItalic9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1830960" y="1025280"/>
            <a:ext cx="462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071) that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2331360" y="1025280"/>
            <a:ext cx="8863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reversed by 2018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3211560" y="1025280"/>
            <a:ext cx="61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, alongside 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3864240" y="1025280"/>
            <a:ext cx="8085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persistent fiscal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4714920" y="1025280"/>
            <a:ext cx="590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contraction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452160" y="1164240"/>
            <a:ext cx="115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(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498600" y="1174320"/>
            <a:ext cx="183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Symbols9"/>
                <a:ea typeface="LMMathSymbols9"/>
              </a:rPr>
              <a:t>−</a:t>
            </a:r>
            <a:r>
              <a:rPr b="0" lang="en-US" sz="900" spc="-1" strike="noStrike">
                <a:solidFill>
                  <a:srgbClr val="000000"/>
                </a:solidFill>
                <a:latin typeface="Font Awesome 5 Free Solid"/>
                <a:ea typeface="Font Awesome 5 Free Solid"/>
              </a:rPr>
              <a:t>Ñ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680400" y="1164240"/>
            <a:ext cx="623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2,017 Cr/yr,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1364760" y="1164240"/>
            <a:ext cx="3868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attenuated composite) and a</a:t>
            </a:r>
            <a:r>
              <a:rPr b="0" i="1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 suggestive but not significant</a:t>
            </a:r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 growth headwind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452160" y="130356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(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497520" y="13132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Symbols9"/>
                <a:ea typeface="LMMathSymbols9"/>
              </a:rPr>
              <a:t>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588600" y="1303560"/>
            <a:ext cx="503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3 pp/yr,</a:t>
            </a:r>
            <a:r>
              <a:rPr b="0" i="1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 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1109880" y="13132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Symbols9"/>
                <a:ea typeface="LMMathSymbols9"/>
              </a:rPr>
              <a:t>≈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1233360" y="130356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1291680" y="13132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Italic9"/>
                <a:ea typeface="LMMathItalic9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1324440" y="1303560"/>
            <a:ext cx="195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43).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360000" y="1683360"/>
            <a:ext cx="8845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Methodological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1295280" y="1683360"/>
            <a:ext cx="6318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takeaways: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496800" y="18975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637200" y="1887840"/>
            <a:ext cx="1886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Lagged-outcome anchoring is essential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2549160" y="1887840"/>
            <a:ext cx="2606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when the treated unit lies near the donor convex-hull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5176440" y="1887840"/>
            <a:ext cx="223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edge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496800" y="20872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637200" y="2077560"/>
            <a:ext cx="2196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BSTS and SCM agree on direction across all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2864520" y="2077560"/>
            <a:ext cx="2238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three outcomes; triangulation strengthens the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637200" y="2216880"/>
            <a:ext cx="806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qualitative claim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496800" y="24163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637200" y="2406600"/>
            <a:ext cx="4206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For short pre-periods, sparse BSTS specifications (1–3 donors) dominate the full-pool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4862880" y="2406600"/>
            <a:ext cx="335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default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24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-360" y="-360"/>
            <a:ext cx="5760720" cy="720720"/>
          </a:xfrm>
          <a:custGeom>
            <a:avLst/>
            <a:gdLst/>
            <a:ahLst/>
            <a:rect l="0" t="0" r="r" b="b"/>
            <a:pathLst>
              <a:path w="16002" h="2002">
                <a:moveTo>
                  <a:pt x="0" y="2002"/>
                </a:moveTo>
                <a:lnTo>
                  <a:pt x="0" y="0"/>
                </a:lnTo>
                <a:lnTo>
                  <a:pt x="16002" y="0"/>
                </a:lnTo>
                <a:lnTo>
                  <a:pt x="16002" y="2002"/>
                </a:lnTo>
                <a:lnTo>
                  <a:pt x="0" y="2002"/>
                </a:lnTo>
                <a:close/>
              </a:path>
            </a:pathLst>
          </a:custGeom>
          <a:solidFill>
            <a:srgbClr val="0a3a66">
              <a:alpha val="5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2880000" y="360000"/>
            <a:ext cx="3600360" cy="3600360"/>
          </a:xfrm>
          <a:custGeom>
            <a:avLst/>
            <a:gdLst/>
            <a:ahLst/>
            <a:rect l="0" t="0" r="r" b="b"/>
            <a:pathLst>
              <a:path w="10001" h="10001">
                <a:moveTo>
                  <a:pt x="10001" y="5001"/>
                </a:moveTo>
                <a:cubicBezTo>
                  <a:pt x="10001" y="2238"/>
                  <a:pt x="7762" y="0"/>
                  <a:pt x="5000" y="0"/>
                </a:cubicBezTo>
                <a:cubicBezTo>
                  <a:pt x="2238" y="0"/>
                  <a:pt x="0" y="2238"/>
                  <a:pt x="0" y="5001"/>
                </a:cubicBezTo>
                <a:cubicBezTo>
                  <a:pt x="0" y="7762"/>
                  <a:pt x="2238" y="10001"/>
                  <a:pt x="5000" y="10001"/>
                </a:cubicBezTo>
                <a:cubicBezTo>
                  <a:pt x="7762" y="10001"/>
                  <a:pt x="10001" y="7762"/>
                  <a:pt x="10001" y="5001"/>
                </a:cubicBezTo>
                <a:close/>
              </a:path>
            </a:pathLst>
          </a:custGeom>
          <a:solidFill>
            <a:srgbClr val="1a6ab5">
              <a:alpha val="1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305640" y="432000"/>
            <a:ext cx="0" cy="2376000"/>
          </a:xfrm>
          <a:prstGeom prst="line">
            <a:avLst/>
          </a:prstGeom>
          <a:ln w="25200">
            <a:solidFill>
              <a:srgbClr val="f4a2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1681200" y="600840"/>
            <a:ext cx="2494080" cy="687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780" spc="-1" strike="noStrike">
                <a:solidFill>
                  <a:srgbClr val="ffffff"/>
                </a:solidFill>
                <a:latin typeface="LMSans10"/>
                <a:ea typeface="LMSans10"/>
              </a:rPr>
              <a:t>Thank you.</a:t>
            </a:r>
            <a:endParaRPr b="0" lang="en-US" sz="3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359640" y="2199600"/>
            <a:ext cx="1613520" cy="371520"/>
          </a:xfrm>
          <a:custGeom>
            <a:avLst/>
            <a:gdLst/>
            <a:ahLst/>
            <a:rect l="0" t="0" r="r" b="b"/>
            <a:pathLst>
              <a:path w="4482" h="1032">
                <a:moveTo>
                  <a:pt x="0" y="892"/>
                </a:moveTo>
                <a:lnTo>
                  <a:pt x="0" y="140"/>
                </a:lnTo>
                <a:cubicBezTo>
                  <a:pt x="0" y="62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2"/>
                  <a:pt x="4482" y="140"/>
                </a:cubicBezTo>
                <a:lnTo>
                  <a:pt x="4482" y="892"/>
                </a:lnTo>
                <a:cubicBezTo>
                  <a:pt x="4482" y="969"/>
                  <a:pt x="4419" y="1032"/>
                  <a:pt x="4341" y="1032"/>
                </a:cubicBezTo>
                <a:lnTo>
                  <a:pt x="141" y="1032"/>
                </a:lnTo>
                <a:cubicBezTo>
                  <a:pt x="63" y="1032"/>
                  <a:pt x="0" y="969"/>
                  <a:pt x="0" y="892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359640" y="2199600"/>
            <a:ext cx="1613520" cy="371520"/>
          </a:xfrm>
          <a:custGeom>
            <a:avLst/>
            <a:gdLst/>
            <a:ahLst/>
            <a:rect l="0" t="0" r="r" b="b"/>
            <a:pathLst>
              <a:path w="4482" h="1032">
                <a:moveTo>
                  <a:pt x="0" y="892"/>
                </a:moveTo>
                <a:lnTo>
                  <a:pt x="0" y="140"/>
                </a:lnTo>
                <a:cubicBezTo>
                  <a:pt x="0" y="62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2"/>
                  <a:pt x="4482" y="140"/>
                </a:cubicBezTo>
                <a:lnTo>
                  <a:pt x="4482" y="892"/>
                </a:lnTo>
                <a:cubicBezTo>
                  <a:pt x="4482" y="969"/>
                  <a:pt x="4419" y="1032"/>
                  <a:pt x="4341" y="1032"/>
                </a:cubicBezTo>
                <a:lnTo>
                  <a:pt x="141" y="1032"/>
                </a:lnTo>
                <a:cubicBezTo>
                  <a:pt x="63" y="1032"/>
                  <a:pt x="0" y="969"/>
                  <a:pt x="0" y="892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2005560" y="1335240"/>
            <a:ext cx="17550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30" spc="-1" strike="noStrike">
                <a:solidFill>
                  <a:srgbClr val="f4a261"/>
                </a:solidFill>
                <a:latin typeface="LMSans12"/>
                <a:ea typeface="LMSans12"/>
              </a:rPr>
              <a:t>Questions &amp; Discussion</a:t>
            </a:r>
            <a:endParaRPr b="0" lang="en-US" sz="14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1099440" y="2243520"/>
            <a:ext cx="138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90" spc="-1" strike="noStrike">
                <a:solidFill>
                  <a:srgbClr val="f4a261"/>
                </a:solidFill>
                <a:latin typeface="Font Awesome 5 Brands Regular"/>
                <a:ea typeface="Font Awesome 5 Brands Regular"/>
              </a:rPr>
              <a:t>§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2073240" y="2199240"/>
            <a:ext cx="1613520" cy="353880"/>
          </a:xfrm>
          <a:custGeom>
            <a:avLst/>
            <a:gdLst/>
            <a:ahLst/>
            <a:rect l="0" t="0" r="r" b="b"/>
            <a:pathLst>
              <a:path w="4482" h="983">
                <a:moveTo>
                  <a:pt x="0" y="842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842"/>
                </a:lnTo>
                <a:cubicBezTo>
                  <a:pt x="4482" y="920"/>
                  <a:pt x="4419" y="983"/>
                  <a:pt x="4341" y="983"/>
                </a:cubicBezTo>
                <a:lnTo>
                  <a:pt x="141" y="983"/>
                </a:lnTo>
                <a:cubicBezTo>
                  <a:pt x="63" y="983"/>
                  <a:pt x="0" y="920"/>
                  <a:pt x="0" y="842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2073240" y="2199240"/>
            <a:ext cx="1613520" cy="353880"/>
          </a:xfrm>
          <a:custGeom>
            <a:avLst/>
            <a:gdLst/>
            <a:ahLst/>
            <a:rect l="0" t="0" r="r" b="b"/>
            <a:pathLst>
              <a:path w="4482" h="983">
                <a:moveTo>
                  <a:pt x="0" y="842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842"/>
                </a:lnTo>
                <a:cubicBezTo>
                  <a:pt x="4482" y="920"/>
                  <a:pt x="4419" y="983"/>
                  <a:pt x="4341" y="983"/>
                </a:cubicBezTo>
                <a:lnTo>
                  <a:pt x="141" y="983"/>
                </a:lnTo>
                <a:cubicBezTo>
                  <a:pt x="63" y="983"/>
                  <a:pt x="0" y="920"/>
                  <a:pt x="0" y="842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591840" y="2403360"/>
            <a:ext cx="1172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LMMono8"/>
                <a:ea typeface="LMMono8"/>
              </a:rPr>
              <a:t>amsorrytola/scm-policy-india-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2810880" y="2229480"/>
            <a:ext cx="138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9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#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3786840" y="2199240"/>
            <a:ext cx="1613520" cy="407520"/>
          </a:xfrm>
          <a:custGeom>
            <a:avLst/>
            <a:gdLst/>
            <a:ahLst/>
            <a:rect l="0" t="0" r="r" b="b"/>
            <a:pathLst>
              <a:path w="4482" h="1132">
                <a:moveTo>
                  <a:pt x="0" y="991"/>
                </a:moveTo>
                <a:lnTo>
                  <a:pt x="0" y="142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2"/>
                </a:cubicBezTo>
                <a:lnTo>
                  <a:pt x="4482" y="991"/>
                </a:lnTo>
                <a:cubicBezTo>
                  <a:pt x="4482" y="1069"/>
                  <a:pt x="4419" y="1132"/>
                  <a:pt x="4341" y="1132"/>
                </a:cubicBezTo>
                <a:lnTo>
                  <a:pt x="141" y="1132"/>
                </a:lnTo>
                <a:cubicBezTo>
                  <a:pt x="63" y="1132"/>
                  <a:pt x="0" y="1069"/>
                  <a:pt x="0" y="991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3786840" y="2199240"/>
            <a:ext cx="1613520" cy="407520"/>
          </a:xfrm>
          <a:custGeom>
            <a:avLst/>
            <a:gdLst/>
            <a:ahLst/>
            <a:rect l="0" t="0" r="r" b="b"/>
            <a:pathLst>
              <a:path w="4482" h="1132">
                <a:moveTo>
                  <a:pt x="0" y="991"/>
                </a:moveTo>
                <a:lnTo>
                  <a:pt x="0" y="142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2"/>
                </a:cubicBezTo>
                <a:lnTo>
                  <a:pt x="4482" y="991"/>
                </a:lnTo>
                <a:cubicBezTo>
                  <a:pt x="4482" y="1069"/>
                  <a:pt x="4419" y="1132"/>
                  <a:pt x="4341" y="1132"/>
                </a:cubicBezTo>
                <a:lnTo>
                  <a:pt x="141" y="1132"/>
                </a:lnTo>
                <a:cubicBezTo>
                  <a:pt x="63" y="1132"/>
                  <a:pt x="0" y="1069"/>
                  <a:pt x="0" y="991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2402640" y="2378520"/>
            <a:ext cx="95796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LMSans8"/>
                <a:ea typeface="LMSans8"/>
              </a:rPr>
              <a:t>mohammed_ta@hs.iitr.ac.in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4526640" y="2244600"/>
            <a:ext cx="138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9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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4076640" y="2395800"/>
            <a:ext cx="980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ffffff"/>
                </a:solidFill>
                <a:latin typeface="LMSans8"/>
                <a:ea typeface="LMSans8"/>
              </a:rPr>
              <a:t>live demo — see repo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1838880" y="2908080"/>
            <a:ext cx="858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e5e7eb"/>
                </a:solidFill>
                <a:latin typeface="LMSans8"/>
                <a:ea typeface="LMSans8"/>
              </a:rPr>
              <a:t>Mohammed Talha Ansari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2753280" y="2914560"/>
            <a:ext cx="75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e5e7eb"/>
                </a:solidFill>
                <a:latin typeface="LMMathSymbols6"/>
                <a:ea typeface="LMMathSymbols6"/>
              </a:rPr>
              <a:t>·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2849040" y="2908080"/>
            <a:ext cx="107532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e5e7eb"/>
                </a:solidFill>
                <a:latin typeface="LMSans8"/>
                <a:ea typeface="LMSans8"/>
              </a:rPr>
              <a:t>BS-MS Economics, IIT Roorkee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359640" y="573120"/>
            <a:ext cx="5040720" cy="1550520"/>
          </a:xfrm>
          <a:custGeom>
            <a:avLst/>
            <a:gdLst/>
            <a:ahLst/>
            <a:rect l="0" t="0" r="r" b="b"/>
            <a:pathLst>
              <a:path w="14002" h="4307">
                <a:moveTo>
                  <a:pt x="0" y="4173"/>
                </a:moveTo>
                <a:lnTo>
                  <a:pt x="0" y="134"/>
                </a:lnTo>
                <a:cubicBezTo>
                  <a:pt x="0" y="60"/>
                  <a:pt x="60" y="0"/>
                  <a:pt x="134" y="0"/>
                </a:cubicBezTo>
                <a:lnTo>
                  <a:pt x="13868" y="0"/>
                </a:lnTo>
                <a:cubicBezTo>
                  <a:pt x="13942" y="0"/>
                  <a:pt x="14002" y="60"/>
                  <a:pt x="14002" y="134"/>
                </a:cubicBezTo>
                <a:lnTo>
                  <a:pt x="14002" y="4173"/>
                </a:lnTo>
                <a:cubicBezTo>
                  <a:pt x="14002" y="4247"/>
                  <a:pt x="13942" y="4307"/>
                  <a:pt x="13868" y="4307"/>
                </a:cubicBezTo>
                <a:lnTo>
                  <a:pt x="134" y="4307"/>
                </a:lnTo>
                <a:cubicBezTo>
                  <a:pt x="60" y="4307"/>
                  <a:pt x="0" y="4247"/>
                  <a:pt x="0" y="4173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370080" y="583200"/>
            <a:ext cx="5020200" cy="1530360"/>
          </a:xfrm>
          <a:custGeom>
            <a:avLst/>
            <a:gdLst/>
            <a:ahLst/>
            <a:rect l="0" t="0" r="r" b="b"/>
            <a:pathLst>
              <a:path w="13945" h="4251">
                <a:moveTo>
                  <a:pt x="0" y="4145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13839" y="0"/>
                </a:lnTo>
                <a:cubicBezTo>
                  <a:pt x="13897" y="0"/>
                  <a:pt x="13945" y="48"/>
                  <a:pt x="13945" y="106"/>
                </a:cubicBezTo>
                <a:lnTo>
                  <a:pt x="13945" y="4145"/>
                </a:lnTo>
                <a:cubicBezTo>
                  <a:pt x="13945" y="4204"/>
                  <a:pt x="13897" y="4251"/>
                  <a:pt x="13839" y="4251"/>
                </a:cubicBezTo>
                <a:lnTo>
                  <a:pt x="105" y="4251"/>
                </a:lnTo>
                <a:cubicBezTo>
                  <a:pt x="47" y="4251"/>
                  <a:pt x="0" y="4204"/>
                  <a:pt x="0" y="4145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100080" y="5760"/>
            <a:ext cx="7506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References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593280" y="6145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730080" y="604800"/>
            <a:ext cx="2559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Abadie, A., Diamond, A., &amp; Hainmueller, J. (2010).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3330360" y="604800"/>
            <a:ext cx="861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Synthetic Control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4227120" y="604800"/>
            <a:ext cx="596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Methods for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733680" y="743760"/>
            <a:ext cx="1311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Comparative Case Studies.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2089440" y="743760"/>
            <a:ext cx="1308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JASA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, 105(490), 493–505.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593280" y="9435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730080" y="933480"/>
            <a:ext cx="2559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Abadie, A., Diamond, A., &amp; Hainmueller, J. (2015).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3330360" y="933480"/>
            <a:ext cx="1923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Comparative Politics and the Synthetic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733680" y="1072800"/>
            <a:ext cx="363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Control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1135440" y="1072800"/>
            <a:ext cx="410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Method.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1599120" y="1072800"/>
            <a:ext cx="1130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AJPS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, 59(2), 495–510.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593280" y="12722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730080" y="1262520"/>
            <a:ext cx="91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Abadie, A. (2021).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1695960" y="1262520"/>
            <a:ext cx="1252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Using Synthetic Controls.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2994480" y="1262520"/>
            <a:ext cx="1044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JEL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, 59(2), 391–425.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593280" y="14623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733680" y="1452240"/>
            <a:ext cx="1363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Brodersen, K. et al. (2015).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2146680" y="1452240"/>
            <a:ext cx="77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Inferring Causal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2952720" y="1452240"/>
            <a:ext cx="1648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Impact Using Bayesian Structural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4627440" y="1452240"/>
            <a:ext cx="57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Time-Series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733680" y="1591560"/>
            <a:ext cx="380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Models.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1167840" y="1591560"/>
            <a:ext cx="110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AOAS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, 9(1), 247–274.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593280" y="1791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733680" y="1781280"/>
            <a:ext cx="1920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Doudchenko, N., &amp; Imbens, G. (2016).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2698560" y="1781280"/>
            <a:ext cx="2487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Balancing, Regression, DiD and Synthetic Control.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359640" y="2478600"/>
            <a:ext cx="5040720" cy="467640"/>
          </a:xfrm>
          <a:custGeom>
            <a:avLst/>
            <a:gdLst/>
            <a:ahLst/>
            <a:rect l="0" t="0" r="r" b="b"/>
            <a:pathLst>
              <a:path w="14002" h="1299">
                <a:moveTo>
                  <a:pt x="0" y="1166"/>
                </a:moveTo>
                <a:lnTo>
                  <a:pt x="0" y="133"/>
                </a:lnTo>
                <a:cubicBezTo>
                  <a:pt x="0" y="59"/>
                  <a:pt x="60" y="0"/>
                  <a:pt x="134" y="0"/>
                </a:cubicBezTo>
                <a:lnTo>
                  <a:pt x="13868" y="0"/>
                </a:lnTo>
                <a:cubicBezTo>
                  <a:pt x="13942" y="0"/>
                  <a:pt x="14002" y="59"/>
                  <a:pt x="14002" y="133"/>
                </a:cubicBezTo>
                <a:lnTo>
                  <a:pt x="14002" y="1166"/>
                </a:lnTo>
                <a:cubicBezTo>
                  <a:pt x="14002" y="1240"/>
                  <a:pt x="13942" y="1299"/>
                  <a:pt x="13868" y="1299"/>
                </a:cubicBezTo>
                <a:lnTo>
                  <a:pt x="134" y="1299"/>
                </a:lnTo>
                <a:cubicBezTo>
                  <a:pt x="60" y="1299"/>
                  <a:pt x="0" y="1240"/>
                  <a:pt x="0" y="1166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370080" y="2488680"/>
            <a:ext cx="5020200" cy="447480"/>
          </a:xfrm>
          <a:custGeom>
            <a:avLst/>
            <a:gdLst/>
            <a:ahLst/>
            <a:rect l="0" t="0" r="r" b="b"/>
            <a:pathLst>
              <a:path w="13945" h="1243">
                <a:moveTo>
                  <a:pt x="0" y="1137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13839" y="0"/>
                </a:lnTo>
                <a:cubicBezTo>
                  <a:pt x="13897" y="0"/>
                  <a:pt x="13945" y="47"/>
                  <a:pt x="13945" y="105"/>
                </a:cubicBezTo>
                <a:lnTo>
                  <a:pt x="13945" y="1137"/>
                </a:lnTo>
                <a:cubicBezTo>
                  <a:pt x="13945" y="1196"/>
                  <a:pt x="13897" y="1243"/>
                  <a:pt x="13839" y="1243"/>
                </a:cubicBezTo>
                <a:lnTo>
                  <a:pt x="105" y="1243"/>
                </a:lnTo>
                <a:cubicBezTo>
                  <a:pt x="47" y="1243"/>
                  <a:pt x="0" y="1196"/>
                  <a:pt x="0" y="1137"/>
                </a:cubicBezTo>
                <a:close/>
              </a:path>
            </a:pathLst>
          </a:custGeom>
          <a:solidFill>
            <a:srgbClr val="e7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733680" y="1920600"/>
            <a:ext cx="898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NBER WP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22791.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456840" y="2509200"/>
            <a:ext cx="494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Chaudhuri,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1000800" y="2509200"/>
            <a:ext cx="135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K.,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1181880" y="2509200"/>
            <a:ext cx="308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&amp; Jha,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1542960" y="2509200"/>
            <a:ext cx="10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N.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1693080" y="2509200"/>
            <a:ext cx="331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(2024).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2095560" y="2509200"/>
            <a:ext cx="335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Alcohol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2478600" y="2509200"/>
            <a:ext cx="713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Ban and Crime: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3272400" y="2509200"/>
            <a:ext cx="1619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The ABCs of the Bihar Prohibition.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5002560" y="2509200"/>
            <a:ext cx="311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EDCC,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453960" y="2629440"/>
            <a:ext cx="276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72(4).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854280" y="2629440"/>
            <a:ext cx="2613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Data: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1194120" y="2629440"/>
            <a:ext cx="816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MoRTH 2010–23;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2089080" y="2629440"/>
            <a:ext cx="17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RBI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2313720" y="2629440"/>
            <a:ext cx="74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Handbook (T19,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3144240" y="2629440"/>
            <a:ext cx="308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T168);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3513960" y="2629440"/>
            <a:ext cx="843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Census 2011 PCA.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4443120" y="2629440"/>
            <a:ext cx="169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Full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4661640" y="2629440"/>
            <a:ext cx="623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provenance in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456840" y="2763720"/>
            <a:ext cx="13356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Mono8"/>
                <a:ea typeface="LMMono8"/>
              </a:rPr>
              <a:t>data/raw/bihar/SOURCES.md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1801080" y="274968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26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