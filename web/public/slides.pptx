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1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9.png" ContentType="image/png"/>
  <Override PartName="/ppt/media/image1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5759450" cy="3240088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87640" y="42480"/>
            <a:ext cx="518328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287640" y="673560"/>
            <a:ext cx="5183280" cy="1669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287640" y="114840"/>
            <a:ext cx="5183280" cy="48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287640" y="673560"/>
            <a:ext cx="5183280" cy="1669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49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3060000" y="539640"/>
            <a:ext cx="3960360" cy="3960720"/>
          </a:xfrm>
          <a:custGeom>
            <a:avLst/>
            <a:gdLst/>
            <a:ahLst/>
            <a:rect l="0" t="0" r="r" b="b"/>
            <a:pathLst>
              <a:path w="11001" h="11002">
                <a:moveTo>
                  <a:pt x="11001" y="5502"/>
                </a:moveTo>
                <a:cubicBezTo>
                  <a:pt x="11001" y="2463"/>
                  <a:pt x="8538" y="0"/>
                  <a:pt x="5500" y="0"/>
                </a:cubicBezTo>
                <a:cubicBezTo>
                  <a:pt x="2462" y="0"/>
                  <a:pt x="0" y="2463"/>
                  <a:pt x="0" y="5502"/>
                </a:cubicBezTo>
                <a:cubicBezTo>
                  <a:pt x="0" y="8539"/>
                  <a:pt x="2462" y="11002"/>
                  <a:pt x="5500" y="11002"/>
                </a:cubicBezTo>
                <a:cubicBezTo>
                  <a:pt x="8538" y="11002"/>
                  <a:pt x="11001" y="8539"/>
                  <a:pt x="11001" y="5502"/>
                </a:cubicBezTo>
                <a:close/>
              </a:path>
            </a:pathLst>
          </a:custGeom>
          <a:solidFill>
            <a:srgbClr val="1a6ab5">
              <a:alpha val="1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-360" y="-360"/>
            <a:ext cx="1620720" cy="3240720"/>
          </a:xfrm>
          <a:custGeom>
            <a:avLst/>
            <a:gdLst/>
            <a:ahLst/>
            <a:rect l="0" t="0" r="r" b="b"/>
            <a:pathLst>
              <a:path w="4502" h="9002">
                <a:moveTo>
                  <a:pt x="0" y="0"/>
                </a:moveTo>
                <a:lnTo>
                  <a:pt x="4502" y="0"/>
                </a:lnTo>
                <a:cubicBezTo>
                  <a:pt x="2502" y="3001"/>
                  <a:pt x="2502" y="6002"/>
                  <a:pt x="3502" y="9002"/>
                </a:cubicBezTo>
                <a:lnTo>
                  <a:pt x="0" y="9002"/>
                </a:lnTo>
                <a:lnTo>
                  <a:pt x="0" y="0"/>
                </a:lnTo>
                <a:close/>
              </a:path>
            </a:pathLst>
          </a:custGeom>
          <a:solidFill>
            <a:srgbClr val="0a3a66">
              <a:alpha val="5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305640" y="503640"/>
            <a:ext cx="0" cy="2232360"/>
          </a:xfrm>
          <a:prstGeom prst="line">
            <a:avLst/>
          </a:prstGeom>
          <a:ln w="25200">
            <a:solidFill>
              <a:srgbClr val="f4a26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305640" y="431640"/>
            <a:ext cx="5094360" cy="0"/>
          </a:xfrm>
          <a:prstGeom prst="line">
            <a:avLst/>
          </a:prstGeom>
          <a:ln w="5040">
            <a:solidFill>
              <a:srgbClr val="f4a26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360000" y="443520"/>
            <a:ext cx="834480" cy="39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90" spc="-1" strike="noStrike">
                <a:solidFill>
                  <a:srgbClr val="ffffff"/>
                </a:solidFill>
                <a:latin typeface="LMSans10"/>
                <a:ea typeface="LMSans10"/>
              </a:rPr>
              <a:t>Causal</a:t>
            </a:r>
            <a:endParaRPr b="0" lang="en-US" sz="21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1288800" y="443520"/>
            <a:ext cx="2222640" cy="39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90" spc="-1" strike="noStrike">
                <a:solidFill>
                  <a:srgbClr val="ffffff"/>
                </a:solidFill>
                <a:latin typeface="LMSans10"/>
                <a:ea typeface="LMSans10"/>
              </a:rPr>
              <a:t>Impact of Bihar’s</a:t>
            </a:r>
            <a:endParaRPr b="0" lang="en-US" sz="21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360000" y="808560"/>
            <a:ext cx="1645200" cy="39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90" spc="-1" strike="noStrike">
                <a:solidFill>
                  <a:srgbClr val="f4a261"/>
                </a:solidFill>
                <a:latin typeface="LMSans10"/>
                <a:ea typeface="LMSans10"/>
              </a:rPr>
              <a:t>2016 Alcohol</a:t>
            </a:r>
            <a:endParaRPr b="0" lang="en-US" sz="21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2101680" y="808560"/>
            <a:ext cx="1387440" cy="39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90" spc="-1" strike="noStrike">
                <a:solidFill>
                  <a:srgbClr val="f4a261"/>
                </a:solidFill>
                <a:latin typeface="LMSans10"/>
                <a:ea typeface="LMSans10"/>
              </a:rPr>
              <a:t>Prohibition</a:t>
            </a:r>
            <a:endParaRPr b="0" lang="en-US" sz="21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360000" y="1297440"/>
            <a:ext cx="105372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89" spc="-1" strike="noStrike">
                <a:solidFill>
                  <a:srgbClr val="e5e7eb"/>
                </a:solidFill>
                <a:latin typeface="LMSans10"/>
                <a:ea typeface="LMSans10"/>
              </a:rPr>
              <a:t>A Synthetic Control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1456200" y="1297440"/>
            <a:ext cx="11710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89" spc="-1" strike="noStrike">
                <a:solidFill>
                  <a:srgbClr val="e5e7eb"/>
                </a:solidFill>
                <a:latin typeface="LMSans10"/>
                <a:ea typeface="LMSans10"/>
              </a:rPr>
              <a:t>&amp; Bayesian Structural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360000" y="1449360"/>
            <a:ext cx="108720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89" spc="-1" strike="noStrike">
                <a:solidFill>
                  <a:srgbClr val="e5e7eb"/>
                </a:solidFill>
                <a:latin typeface="LMSans10"/>
                <a:ea typeface="LMSans10"/>
              </a:rPr>
              <a:t>Time Series Analysis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360000" y="1927440"/>
            <a:ext cx="146988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ffffff"/>
                </a:solidFill>
                <a:latin typeface="LMSans10"/>
                <a:ea typeface="LMSans10"/>
              </a:rPr>
              <a:t>Mohammed Talha Ansari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1884240" y="1927440"/>
            <a:ext cx="12600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9" spc="-1" strike="noStrike">
                <a:solidFill>
                  <a:srgbClr val="f4a261"/>
                </a:solidFill>
                <a:latin typeface="LMSans10"/>
                <a:ea typeface="LMSans10"/>
              </a:rPr>
              <a:t>|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1988640" y="1944720"/>
            <a:ext cx="531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9" spc="-1" strike="noStrike">
                <a:solidFill>
                  <a:srgbClr val="e5e7eb"/>
                </a:solidFill>
                <a:latin typeface="LMMono10"/>
                <a:ea typeface="LMMono10"/>
              </a:rPr>
              <a:t>23322016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360000" y="2157120"/>
            <a:ext cx="1561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e5e7eb"/>
                </a:solidFill>
                <a:latin typeface="LMSans9"/>
                <a:ea typeface="LMSans9"/>
              </a:rPr>
              <a:t>BS-MS Economics, IIT Roorkee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360000" y="2343600"/>
            <a:ext cx="14943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e5e7eb"/>
                </a:solidFill>
                <a:latin typeface="LMSans9"/>
                <a:ea typeface="LMSans9"/>
              </a:rPr>
              <a:t>HST-102 Time Series Analysis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360000" y="279324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e5e7eb"/>
                </a:solidFill>
                <a:latin typeface="Font Awesome 5 Free Solid"/>
                <a:ea typeface="Font Awesome 5 Free Solid"/>
              </a:rPr>
              <a:t>z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502200" y="2784600"/>
            <a:ext cx="442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e5e7eb"/>
                </a:solidFill>
                <a:latin typeface="LMSans8"/>
                <a:ea typeface="LMSans8"/>
              </a:rPr>
              <a:t>May 2026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1088640" y="2784600"/>
            <a:ext cx="100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f4a261"/>
                </a:solidFill>
                <a:latin typeface="LMSans8"/>
                <a:ea typeface="LMSans8"/>
              </a:rPr>
              <a:t>|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1262160" y="279324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e5e7eb"/>
                </a:solidFill>
                <a:latin typeface="Font Awesome 5 Brands Regular"/>
                <a:ea typeface="Font Awesome 5 Brands Regular"/>
              </a:rPr>
              <a:t>§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3674880" y="610920"/>
            <a:ext cx="1594440" cy="1476360"/>
          </a:xfrm>
          <a:custGeom>
            <a:avLst/>
            <a:gdLst/>
            <a:ahLst/>
            <a:rect l="0" t="0" r="r" b="b"/>
            <a:pathLst>
              <a:path w="4429" h="4101">
                <a:moveTo>
                  <a:pt x="0" y="3890"/>
                </a:moveTo>
                <a:lnTo>
                  <a:pt x="0" y="211"/>
                </a:lnTo>
                <a:cubicBezTo>
                  <a:pt x="0" y="95"/>
                  <a:pt x="94" y="0"/>
                  <a:pt x="211" y="0"/>
                </a:cubicBezTo>
                <a:lnTo>
                  <a:pt x="4218" y="0"/>
                </a:lnTo>
                <a:cubicBezTo>
                  <a:pt x="4334" y="0"/>
                  <a:pt x="4429" y="95"/>
                  <a:pt x="4429" y="211"/>
                </a:cubicBezTo>
                <a:lnTo>
                  <a:pt x="4429" y="3890"/>
                </a:lnTo>
                <a:cubicBezTo>
                  <a:pt x="4429" y="4007"/>
                  <a:pt x="4334" y="4101"/>
                  <a:pt x="4218" y="4101"/>
                </a:cubicBezTo>
                <a:lnTo>
                  <a:pt x="211" y="4101"/>
                </a:lnTo>
                <a:cubicBezTo>
                  <a:pt x="94" y="4101"/>
                  <a:pt x="0" y="4007"/>
                  <a:pt x="0" y="3890"/>
                </a:cubicBezTo>
                <a:close/>
              </a:path>
            </a:pathLst>
          </a:custGeom>
          <a:noFill/>
          <a:ln w="7560">
            <a:solidFill>
              <a:srgbClr val="ffffff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1413720" y="2798640"/>
            <a:ext cx="154908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e5e7eb"/>
                </a:solidFill>
                <a:latin typeface="LMMono8"/>
                <a:ea typeface="LMMono8"/>
              </a:rPr>
              <a:t>amsorrytola/scm-policy-india-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3748680" y="773280"/>
            <a:ext cx="1446480" cy="0"/>
          </a:xfrm>
          <a:prstGeom prst="line">
            <a:avLst/>
          </a:prstGeom>
          <a:ln w="5040">
            <a:solidFill>
              <a:srgbClr val="f4a26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3792960" y="1909800"/>
            <a:ext cx="1357920" cy="0"/>
          </a:xfrm>
          <a:prstGeom prst="line">
            <a:avLst/>
          </a:prstGeom>
          <a:ln w="50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 flipV="1">
            <a:off x="3792960" y="876600"/>
            <a:ext cx="0" cy="1033200"/>
          </a:xfrm>
          <a:prstGeom prst="line">
            <a:avLst/>
          </a:prstGeom>
          <a:ln w="50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 flipV="1">
            <a:off x="4353840" y="876600"/>
            <a:ext cx="0" cy="1033200"/>
          </a:xfrm>
          <a:prstGeom prst="line">
            <a:avLst/>
          </a:prstGeom>
          <a:ln w="8640">
            <a:solidFill>
              <a:srgbClr val="f4a261"/>
            </a:solidFill>
            <a:custDash>
              <a:ds d="437500" sp="437500"/>
            </a:custDash>
            <a:miter/>
          </a:ln>
        </p:spPr>
        <p:style>
          <a:lnRef idx="0"/>
          <a:fillRef idx="0"/>
          <a:effectRef idx="0"/>
          <a:fontRef idx="minor"/>
        </p:style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3797640" y="632880"/>
            <a:ext cx="142092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Road accident deaths — Bihar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3792960" y="1157040"/>
            <a:ext cx="1328760" cy="208800"/>
          </a:xfrm>
          <a:custGeom>
            <a:avLst/>
            <a:gdLst/>
            <a:ahLst/>
            <a:rect l="0" t="0" r="r" b="b"/>
            <a:pathLst>
              <a:path fill="none" w="3691" h="580">
                <a:moveTo>
                  <a:pt x="0" y="0"/>
                </a:moveTo>
                <a:cubicBezTo>
                  <a:pt x="0" y="0"/>
                  <a:pt x="276" y="46"/>
                  <a:pt x="451" y="82"/>
                </a:cubicBezTo>
                <a:cubicBezTo>
                  <a:pt x="626" y="119"/>
                  <a:pt x="727" y="149"/>
                  <a:pt x="902" y="189"/>
                </a:cubicBezTo>
                <a:cubicBezTo>
                  <a:pt x="1077" y="229"/>
                  <a:pt x="1225" y="265"/>
                  <a:pt x="1353" y="287"/>
                </a:cubicBezTo>
                <a:cubicBezTo>
                  <a:pt x="1480" y="310"/>
                  <a:pt x="1438" y="280"/>
                  <a:pt x="1558" y="304"/>
                </a:cubicBezTo>
                <a:cubicBezTo>
                  <a:pt x="1677" y="328"/>
                  <a:pt x="1801" y="369"/>
                  <a:pt x="1968" y="410"/>
                </a:cubicBezTo>
                <a:cubicBezTo>
                  <a:pt x="2135" y="452"/>
                  <a:pt x="2244" y="485"/>
                  <a:pt x="2420" y="517"/>
                </a:cubicBezTo>
                <a:cubicBezTo>
                  <a:pt x="2595" y="550"/>
                  <a:pt x="2696" y="566"/>
                  <a:pt x="2871" y="575"/>
                </a:cubicBezTo>
                <a:cubicBezTo>
                  <a:pt x="3046" y="585"/>
                  <a:pt x="3163" y="578"/>
                  <a:pt x="3322" y="567"/>
                </a:cubicBezTo>
                <a:cubicBezTo>
                  <a:pt x="3481" y="556"/>
                  <a:pt x="3691" y="517"/>
                  <a:pt x="3691" y="517"/>
                </a:cubicBezTo>
              </a:path>
            </a:pathLst>
          </a:custGeom>
          <a:ln w="12600">
            <a:solidFill>
              <a:srgbClr val="ffffff"/>
            </a:solidFill>
            <a:custDash>
              <a:ds d="300000" sp="300000"/>
            </a:custDash>
            <a:miter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3792960" y="994680"/>
            <a:ext cx="1328760" cy="497160"/>
          </a:xfrm>
          <a:custGeom>
            <a:avLst/>
            <a:gdLst/>
            <a:ahLst/>
            <a:rect l="0" t="0" r="r" b="b"/>
            <a:pathLst>
              <a:path fill="none" w="3691" h="1381">
                <a:moveTo>
                  <a:pt x="0" y="369"/>
                </a:moveTo>
                <a:cubicBezTo>
                  <a:pt x="0" y="369"/>
                  <a:pt x="301" y="424"/>
                  <a:pt x="451" y="451"/>
                </a:cubicBezTo>
                <a:cubicBezTo>
                  <a:pt x="601" y="479"/>
                  <a:pt x="752" y="499"/>
                  <a:pt x="902" y="533"/>
                </a:cubicBezTo>
                <a:cubicBezTo>
                  <a:pt x="1052" y="567"/>
                  <a:pt x="1244" y="619"/>
                  <a:pt x="1353" y="656"/>
                </a:cubicBezTo>
                <a:cubicBezTo>
                  <a:pt x="1462" y="694"/>
                  <a:pt x="1455" y="639"/>
                  <a:pt x="1558" y="756"/>
                </a:cubicBezTo>
                <a:cubicBezTo>
                  <a:pt x="1660" y="872"/>
                  <a:pt x="1824" y="1278"/>
                  <a:pt x="1968" y="1354"/>
                </a:cubicBezTo>
                <a:cubicBezTo>
                  <a:pt x="2111" y="1431"/>
                  <a:pt x="2269" y="1331"/>
                  <a:pt x="2420" y="1215"/>
                </a:cubicBezTo>
                <a:cubicBezTo>
                  <a:pt x="2570" y="1099"/>
                  <a:pt x="2721" y="825"/>
                  <a:pt x="2871" y="656"/>
                </a:cubicBezTo>
                <a:cubicBezTo>
                  <a:pt x="3021" y="488"/>
                  <a:pt x="3185" y="314"/>
                  <a:pt x="3322" y="205"/>
                </a:cubicBezTo>
                <a:cubicBezTo>
                  <a:pt x="3458" y="96"/>
                  <a:pt x="3691" y="0"/>
                  <a:pt x="3691" y="0"/>
                </a:cubicBezTo>
              </a:path>
            </a:pathLst>
          </a:custGeom>
          <a:ln w="20160">
            <a:solidFill>
              <a:srgbClr val="f4a261"/>
            </a:solidFill>
            <a:miter/>
          </a:ln>
        </p:spPr>
        <p:txBody>
          <a:bodyPr lIns="10080" rIns="10080" tIns="10080" bIns="10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3778200" y="1113120"/>
            <a:ext cx="29520" cy="29520"/>
          </a:xfrm>
          <a:custGeom>
            <a:avLst/>
            <a:gdLst/>
            <a:ahLst/>
            <a:rect l="0" t="0" r="r" b="b"/>
            <a:pathLst>
              <a:path w="82" h="82">
                <a:moveTo>
                  <a:pt x="82" y="40"/>
                </a:moveTo>
                <a:cubicBezTo>
                  <a:pt x="82" y="18"/>
                  <a:pt x="64" y="0"/>
                  <a:pt x="42" y="0"/>
                </a:cubicBezTo>
                <a:cubicBezTo>
                  <a:pt x="18" y="0"/>
                  <a:pt x="0" y="18"/>
                  <a:pt x="0" y="40"/>
                </a:cubicBezTo>
                <a:cubicBezTo>
                  <a:pt x="0" y="63"/>
                  <a:pt x="18" y="82"/>
                  <a:pt x="42" y="82"/>
                </a:cubicBezTo>
                <a:cubicBezTo>
                  <a:pt x="64" y="82"/>
                  <a:pt x="82" y="63"/>
                  <a:pt x="82" y="40"/>
                </a:cubicBezTo>
                <a:close/>
              </a:path>
            </a:pathLst>
          </a:custGeom>
          <a:solidFill>
            <a:srgbClr val="f4a26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4339080" y="1251720"/>
            <a:ext cx="29520" cy="29520"/>
          </a:xfrm>
          <a:custGeom>
            <a:avLst/>
            <a:gdLst/>
            <a:ahLst/>
            <a:rect l="0" t="0" r="r" b="b"/>
            <a:pathLst>
              <a:path w="82" h="82">
                <a:moveTo>
                  <a:pt x="82" y="42"/>
                </a:moveTo>
                <a:cubicBezTo>
                  <a:pt x="82" y="19"/>
                  <a:pt x="63" y="0"/>
                  <a:pt x="41" y="0"/>
                </a:cubicBezTo>
                <a:cubicBezTo>
                  <a:pt x="18" y="0"/>
                  <a:pt x="0" y="19"/>
                  <a:pt x="0" y="42"/>
                </a:cubicBezTo>
                <a:cubicBezTo>
                  <a:pt x="0" y="64"/>
                  <a:pt x="18" y="82"/>
                  <a:pt x="41" y="82"/>
                </a:cubicBezTo>
                <a:cubicBezTo>
                  <a:pt x="63" y="82"/>
                  <a:pt x="82" y="64"/>
                  <a:pt x="82" y="42"/>
                </a:cubicBezTo>
                <a:close/>
              </a:path>
            </a:pathLst>
          </a:custGeom>
          <a:solidFill>
            <a:srgbClr val="f4a26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5104800" y="978120"/>
            <a:ext cx="33480" cy="33480"/>
          </a:xfrm>
          <a:custGeom>
            <a:avLst/>
            <a:gdLst/>
            <a:ahLst/>
            <a:rect l="0" t="0" r="r" b="b"/>
            <a:pathLst>
              <a:path w="93" h="93">
                <a:moveTo>
                  <a:pt x="93" y="46"/>
                </a:moveTo>
                <a:cubicBezTo>
                  <a:pt x="93" y="21"/>
                  <a:pt x="72" y="0"/>
                  <a:pt x="47" y="0"/>
                </a:cubicBezTo>
                <a:cubicBezTo>
                  <a:pt x="20" y="0"/>
                  <a:pt x="0" y="21"/>
                  <a:pt x="0" y="46"/>
                </a:cubicBezTo>
                <a:cubicBezTo>
                  <a:pt x="0" y="72"/>
                  <a:pt x="20" y="93"/>
                  <a:pt x="47" y="93"/>
                </a:cubicBezTo>
                <a:cubicBezTo>
                  <a:pt x="72" y="93"/>
                  <a:pt x="93" y="72"/>
                  <a:pt x="93" y="46"/>
                </a:cubicBezTo>
                <a:close/>
              </a:path>
            </a:pathLst>
          </a:custGeom>
          <a:solidFill>
            <a:srgbClr val="f4a26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4594320" y="838440"/>
            <a:ext cx="51120" cy="18000"/>
          </a:xfrm>
          <a:custGeom>
            <a:avLst/>
            <a:gdLst/>
            <a:ahLst/>
            <a:rect l="0" t="0" r="r" b="b"/>
            <a:pathLst>
              <a:path w="142" h="50">
                <a:moveTo>
                  <a:pt x="0" y="50"/>
                </a:moveTo>
                <a:lnTo>
                  <a:pt x="142" y="50"/>
                </a:lnTo>
                <a:lnTo>
                  <a:pt x="142" y="0"/>
                </a:lnTo>
                <a:lnTo>
                  <a:pt x="0" y="0"/>
                </a:lnTo>
                <a:lnTo>
                  <a:pt x="0" y="50"/>
                </a:lnTo>
                <a:close/>
              </a:path>
            </a:pathLst>
          </a:custGeom>
          <a:solidFill>
            <a:srgbClr val="f4a26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4273200" y="1941840"/>
            <a:ext cx="162360" cy="11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f4a261"/>
                </a:solidFill>
                <a:latin typeface="LMSans8"/>
                <a:ea typeface="LMSans8"/>
              </a:rPr>
              <a:t>2016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4889520" y="844200"/>
            <a:ext cx="50760" cy="0"/>
          </a:xfrm>
          <a:prstGeom prst="line">
            <a:avLst/>
          </a:prstGeom>
          <a:ln w="10080">
            <a:solidFill>
              <a:srgbClr val="ffffff">
                <a:alpha val="70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4659120" y="786240"/>
            <a:ext cx="186480" cy="11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00" spc="-1" strike="noStrike">
                <a:solidFill>
                  <a:srgbClr val="f4a261"/>
                </a:solidFill>
                <a:latin typeface="LMSans10"/>
                <a:ea typeface="LMSans10"/>
              </a:rPr>
              <a:t>Bihar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4953600" y="778680"/>
            <a:ext cx="316080" cy="11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ffffff"/>
                </a:solidFill>
                <a:latin typeface="LMSans8"/>
                <a:ea typeface="LMSans8"/>
              </a:rPr>
              <a:t>Synthetic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359640" y="770040"/>
            <a:ext cx="2419920" cy="970200"/>
          </a:xfrm>
          <a:custGeom>
            <a:avLst/>
            <a:gdLst/>
            <a:ahLst/>
            <a:rect l="0" t="0" r="r" b="b"/>
            <a:pathLst>
              <a:path w="6722" h="2695">
                <a:moveTo>
                  <a:pt x="0" y="2568"/>
                </a:moveTo>
                <a:lnTo>
                  <a:pt x="0" y="126"/>
                </a:lnTo>
                <a:cubicBezTo>
                  <a:pt x="0" y="57"/>
                  <a:pt x="57" y="0"/>
                  <a:pt x="127" y="0"/>
                </a:cubicBezTo>
                <a:lnTo>
                  <a:pt x="6595" y="0"/>
                </a:lnTo>
                <a:cubicBezTo>
                  <a:pt x="6665" y="0"/>
                  <a:pt x="6722" y="57"/>
                  <a:pt x="6722" y="126"/>
                </a:cubicBezTo>
                <a:lnTo>
                  <a:pt x="6722" y="2568"/>
                </a:lnTo>
                <a:cubicBezTo>
                  <a:pt x="6722" y="2638"/>
                  <a:pt x="6665" y="2695"/>
                  <a:pt x="6595" y="2695"/>
                </a:cubicBezTo>
                <a:lnTo>
                  <a:pt x="127" y="2695"/>
                </a:lnTo>
                <a:cubicBezTo>
                  <a:pt x="57" y="2695"/>
                  <a:pt x="0" y="2638"/>
                  <a:pt x="0" y="2568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367560" y="989640"/>
            <a:ext cx="2404080" cy="743040"/>
          </a:xfrm>
          <a:custGeom>
            <a:avLst/>
            <a:gdLst/>
            <a:ahLst/>
            <a:rect l="0" t="0" r="r" b="b"/>
            <a:pathLst>
              <a:path w="6678" h="2064">
                <a:moveTo>
                  <a:pt x="0" y="1958"/>
                </a:moveTo>
                <a:lnTo>
                  <a:pt x="0" y="0"/>
                </a:lnTo>
                <a:lnTo>
                  <a:pt x="6678" y="0"/>
                </a:lnTo>
                <a:lnTo>
                  <a:pt x="6678" y="1958"/>
                </a:lnTo>
                <a:cubicBezTo>
                  <a:pt x="6678" y="2017"/>
                  <a:pt x="6631" y="2064"/>
                  <a:pt x="6573" y="2064"/>
                </a:cubicBezTo>
                <a:lnTo>
                  <a:pt x="105" y="2064"/>
                </a:lnTo>
                <a:cubicBezTo>
                  <a:pt x="47" y="2064"/>
                  <a:pt x="0" y="2017"/>
                  <a:pt x="0" y="1958"/>
                </a:cubicBezTo>
                <a:close/>
              </a:path>
            </a:pathLst>
          </a:custGeom>
          <a:solidFill>
            <a:srgbClr val="ecf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367560" y="777600"/>
            <a:ext cx="2404080" cy="212400"/>
          </a:xfrm>
          <a:custGeom>
            <a:avLst/>
            <a:gdLst/>
            <a:ahLst/>
            <a:rect l="0" t="0" r="r" b="b"/>
            <a:pathLst>
              <a:path w="6678" h="590">
                <a:moveTo>
                  <a:pt x="0" y="590"/>
                </a:moveTo>
                <a:lnTo>
                  <a:pt x="0" y="105"/>
                </a:lnTo>
                <a:cubicBezTo>
                  <a:pt x="0" y="47"/>
                  <a:pt x="47" y="0"/>
                  <a:pt x="105" y="0"/>
                </a:cubicBezTo>
                <a:lnTo>
                  <a:pt x="6573" y="0"/>
                </a:lnTo>
                <a:cubicBezTo>
                  <a:pt x="6631" y="0"/>
                  <a:pt x="6678" y="47"/>
                  <a:pt x="6678" y="105"/>
                </a:cubicBezTo>
                <a:lnTo>
                  <a:pt x="6678" y="590"/>
                </a:lnTo>
                <a:lnTo>
                  <a:pt x="0" y="590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100080" y="5760"/>
            <a:ext cx="50976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Outline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466920" y="79740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fffff"/>
                </a:solidFill>
                <a:latin typeface="Font Awesome 5 Free Solid"/>
                <a:ea typeface="Font Awesome 5 Free Solid"/>
              </a:rPr>
              <a:t>'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657720" y="787680"/>
            <a:ext cx="8208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ffffff"/>
                </a:solidFill>
                <a:latin typeface="LMSans10"/>
                <a:ea typeface="LMSans10"/>
              </a:rPr>
              <a:t>Part I — Setup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463680" y="1011600"/>
            <a:ext cx="1134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00000"/>
                </a:solidFill>
                <a:latin typeface="LMSans10"/>
                <a:ea typeface="LMSans10"/>
              </a:rPr>
              <a:t>1.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613080" y="1011240"/>
            <a:ext cx="13831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Motivation &amp; policy context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466920" y="1176120"/>
            <a:ext cx="1134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00000"/>
                </a:solidFill>
                <a:latin typeface="LMSans10"/>
                <a:ea typeface="LMSans10"/>
              </a:rPr>
              <a:t>2.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616320" y="1175760"/>
            <a:ext cx="9273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Research questions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466920" y="1340280"/>
            <a:ext cx="1134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00000"/>
                </a:solidFill>
                <a:latin typeface="LMSans10"/>
                <a:ea typeface="LMSans10"/>
              </a:rPr>
              <a:t>3.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616320" y="1340280"/>
            <a:ext cx="11268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Identification challenge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463680" y="1504800"/>
            <a:ext cx="1134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00000"/>
                </a:solidFill>
                <a:latin typeface="LMSans10"/>
                <a:ea typeface="LMSans10"/>
              </a:rPr>
              <a:t>4.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613080" y="1504800"/>
            <a:ext cx="665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Data &amp; panel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359640" y="2019960"/>
            <a:ext cx="2419920" cy="812520"/>
          </a:xfrm>
          <a:custGeom>
            <a:avLst/>
            <a:gdLst/>
            <a:ahLst/>
            <a:rect l="0" t="0" r="r" b="b"/>
            <a:pathLst>
              <a:path w="6722" h="2257">
                <a:moveTo>
                  <a:pt x="0" y="2130"/>
                </a:moveTo>
                <a:lnTo>
                  <a:pt x="0" y="127"/>
                </a:lnTo>
                <a:cubicBezTo>
                  <a:pt x="0" y="57"/>
                  <a:pt x="57" y="0"/>
                  <a:pt x="127" y="0"/>
                </a:cubicBezTo>
                <a:lnTo>
                  <a:pt x="6595" y="0"/>
                </a:lnTo>
                <a:cubicBezTo>
                  <a:pt x="6665" y="0"/>
                  <a:pt x="6722" y="57"/>
                  <a:pt x="6722" y="127"/>
                </a:cubicBezTo>
                <a:lnTo>
                  <a:pt x="6722" y="2130"/>
                </a:lnTo>
                <a:cubicBezTo>
                  <a:pt x="6722" y="2200"/>
                  <a:pt x="6665" y="2257"/>
                  <a:pt x="6595" y="2257"/>
                </a:cubicBezTo>
                <a:lnTo>
                  <a:pt x="127" y="2257"/>
                </a:lnTo>
                <a:cubicBezTo>
                  <a:pt x="57" y="2257"/>
                  <a:pt x="0" y="2200"/>
                  <a:pt x="0" y="2130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367560" y="2246400"/>
            <a:ext cx="2404080" cy="578160"/>
          </a:xfrm>
          <a:custGeom>
            <a:avLst/>
            <a:gdLst/>
            <a:ahLst/>
            <a:rect l="0" t="0" r="r" b="b"/>
            <a:pathLst>
              <a:path w="6678" h="1606">
                <a:moveTo>
                  <a:pt x="0" y="1501"/>
                </a:moveTo>
                <a:lnTo>
                  <a:pt x="0" y="0"/>
                </a:lnTo>
                <a:lnTo>
                  <a:pt x="6678" y="0"/>
                </a:lnTo>
                <a:lnTo>
                  <a:pt x="6678" y="1501"/>
                </a:lnTo>
                <a:cubicBezTo>
                  <a:pt x="6678" y="1559"/>
                  <a:pt x="6631" y="1606"/>
                  <a:pt x="6573" y="1606"/>
                </a:cubicBezTo>
                <a:lnTo>
                  <a:pt x="105" y="1606"/>
                </a:lnTo>
                <a:cubicBezTo>
                  <a:pt x="47" y="1606"/>
                  <a:pt x="0" y="1559"/>
                  <a:pt x="0" y="1501"/>
                </a:cubicBezTo>
                <a:close/>
              </a:path>
            </a:pathLst>
          </a:custGeom>
          <a:solidFill>
            <a:srgbClr val="ecf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367560" y="2027520"/>
            <a:ext cx="2404080" cy="219240"/>
          </a:xfrm>
          <a:custGeom>
            <a:avLst/>
            <a:gdLst/>
            <a:ahLst/>
            <a:rect l="0" t="0" r="r" b="b"/>
            <a:pathLst>
              <a:path w="6678" h="609">
                <a:moveTo>
                  <a:pt x="0" y="609"/>
                </a:moveTo>
                <a:lnTo>
                  <a:pt x="0" y="105"/>
                </a:lnTo>
                <a:cubicBezTo>
                  <a:pt x="0" y="47"/>
                  <a:pt x="47" y="0"/>
                  <a:pt x="105" y="0"/>
                </a:cubicBezTo>
                <a:lnTo>
                  <a:pt x="6573" y="0"/>
                </a:lnTo>
                <a:cubicBezTo>
                  <a:pt x="6631" y="0"/>
                  <a:pt x="6678" y="47"/>
                  <a:pt x="6678" y="105"/>
                </a:cubicBezTo>
                <a:lnTo>
                  <a:pt x="6678" y="609"/>
                </a:lnTo>
                <a:lnTo>
                  <a:pt x="0" y="609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1315440" y="1504800"/>
            <a:ext cx="6026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construction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466920" y="205380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fffff"/>
                </a:solidFill>
                <a:latin typeface="Font Awesome 5 Free Solid"/>
                <a:ea typeface="Font Awesome 5 Free Solid"/>
              </a:rPr>
              <a:t>y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629280" y="2044080"/>
            <a:ext cx="12380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ffffff"/>
                </a:solidFill>
                <a:latin typeface="LMSans10"/>
                <a:ea typeface="LMSans10"/>
              </a:rPr>
              <a:t>Part II — Methodology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466920" y="2268000"/>
            <a:ext cx="1134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00000"/>
                </a:solidFill>
                <a:latin typeface="LMSans10"/>
                <a:ea typeface="LMSans10"/>
              </a:rPr>
              <a:t>5.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616320" y="2268000"/>
            <a:ext cx="8618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Synthetic Control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1513080" y="2268000"/>
            <a:ext cx="377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Method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466920" y="2432520"/>
            <a:ext cx="1134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00000"/>
                </a:solidFill>
                <a:latin typeface="LMSans10"/>
                <a:ea typeface="LMSans10"/>
              </a:rPr>
              <a:t>6.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616320" y="2432520"/>
            <a:ext cx="572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Convex hull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1224720" y="2432520"/>
            <a:ext cx="6789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problem &amp; fix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463680" y="2597040"/>
            <a:ext cx="1134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00000"/>
                </a:solidFill>
                <a:latin typeface="LMSans10"/>
                <a:ea typeface="LMSans10"/>
              </a:rPr>
              <a:t>7.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613080" y="2597040"/>
            <a:ext cx="959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Bayesian Structural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2980800" y="770040"/>
            <a:ext cx="2419560" cy="945720"/>
          </a:xfrm>
          <a:custGeom>
            <a:avLst/>
            <a:gdLst/>
            <a:ahLst/>
            <a:rect l="0" t="0" r="r" b="b"/>
            <a:pathLst>
              <a:path w="6721" h="2627">
                <a:moveTo>
                  <a:pt x="0" y="2501"/>
                </a:moveTo>
                <a:lnTo>
                  <a:pt x="0" y="126"/>
                </a:lnTo>
                <a:cubicBezTo>
                  <a:pt x="0" y="57"/>
                  <a:pt x="56" y="0"/>
                  <a:pt x="126" y="0"/>
                </a:cubicBezTo>
                <a:lnTo>
                  <a:pt x="6594" y="0"/>
                </a:lnTo>
                <a:cubicBezTo>
                  <a:pt x="6664" y="0"/>
                  <a:pt x="6721" y="57"/>
                  <a:pt x="6721" y="126"/>
                </a:cubicBezTo>
                <a:lnTo>
                  <a:pt x="6721" y="2501"/>
                </a:lnTo>
                <a:cubicBezTo>
                  <a:pt x="6721" y="2571"/>
                  <a:pt x="6664" y="2627"/>
                  <a:pt x="6594" y="2627"/>
                </a:cubicBezTo>
                <a:lnTo>
                  <a:pt x="126" y="2627"/>
                </a:lnTo>
                <a:cubicBezTo>
                  <a:pt x="56" y="2627"/>
                  <a:pt x="0" y="2571"/>
                  <a:pt x="0" y="2501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2988360" y="960120"/>
            <a:ext cx="2404080" cy="748080"/>
          </a:xfrm>
          <a:custGeom>
            <a:avLst/>
            <a:gdLst/>
            <a:ahLst/>
            <a:rect l="0" t="0" r="r" b="b"/>
            <a:pathLst>
              <a:path w="6678" h="2078">
                <a:moveTo>
                  <a:pt x="0" y="1973"/>
                </a:moveTo>
                <a:lnTo>
                  <a:pt x="0" y="0"/>
                </a:lnTo>
                <a:lnTo>
                  <a:pt x="6678" y="0"/>
                </a:lnTo>
                <a:lnTo>
                  <a:pt x="6678" y="1973"/>
                </a:lnTo>
                <a:cubicBezTo>
                  <a:pt x="6678" y="2031"/>
                  <a:pt x="6631" y="2078"/>
                  <a:pt x="6573" y="2078"/>
                </a:cubicBezTo>
                <a:lnTo>
                  <a:pt x="105" y="2078"/>
                </a:lnTo>
                <a:cubicBezTo>
                  <a:pt x="47" y="2078"/>
                  <a:pt x="0" y="2031"/>
                  <a:pt x="0" y="1973"/>
                </a:cubicBezTo>
                <a:close/>
              </a:path>
            </a:pathLst>
          </a:custGeom>
          <a:solidFill>
            <a:srgbClr val="ecf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2988360" y="777600"/>
            <a:ext cx="2404080" cy="182880"/>
          </a:xfrm>
          <a:custGeom>
            <a:avLst/>
            <a:gdLst/>
            <a:ahLst/>
            <a:rect l="0" t="0" r="r" b="b"/>
            <a:pathLst>
              <a:path w="6678" h="508">
                <a:moveTo>
                  <a:pt x="0" y="508"/>
                </a:moveTo>
                <a:lnTo>
                  <a:pt x="0" y="105"/>
                </a:lnTo>
                <a:cubicBezTo>
                  <a:pt x="0" y="47"/>
                  <a:pt x="47" y="0"/>
                  <a:pt x="105" y="0"/>
                </a:cubicBezTo>
                <a:lnTo>
                  <a:pt x="6573" y="0"/>
                </a:lnTo>
                <a:cubicBezTo>
                  <a:pt x="6631" y="0"/>
                  <a:pt x="6678" y="47"/>
                  <a:pt x="6678" y="105"/>
                </a:cubicBezTo>
                <a:lnTo>
                  <a:pt x="6678" y="508"/>
                </a:lnTo>
                <a:lnTo>
                  <a:pt x="0" y="508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1600920" y="2597040"/>
            <a:ext cx="575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Time Series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3087720" y="79020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fffff"/>
                </a:solidFill>
                <a:latin typeface="Font Awesome 5 Free Solid"/>
                <a:ea typeface="Font Awesome 5 Free Solid"/>
              </a:rPr>
              <a:t>¢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3264120" y="780480"/>
            <a:ext cx="9684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ffffff"/>
                </a:solidFill>
                <a:latin typeface="LMSans10"/>
                <a:ea typeface="LMSans10"/>
              </a:rPr>
              <a:t>Part III — Results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3087720" y="987120"/>
            <a:ext cx="1134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00000"/>
                </a:solidFill>
                <a:latin typeface="LMSans10"/>
                <a:ea typeface="LMSans10"/>
              </a:rPr>
              <a:t>8.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3237120" y="987120"/>
            <a:ext cx="15566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Road-accident deaths (primary)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3087720" y="1151640"/>
            <a:ext cx="1134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00000"/>
                </a:solidFill>
                <a:latin typeface="LMSans10"/>
                <a:ea typeface="LMSans10"/>
              </a:rPr>
              <a:t>9.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3237120" y="1151640"/>
            <a:ext cx="11606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Own tax revenue (fiscal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4432680" y="1151640"/>
            <a:ext cx="3132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proxy)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3084480" y="1316160"/>
            <a:ext cx="16092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00000"/>
                </a:solidFill>
                <a:latin typeface="LMSans10"/>
                <a:ea typeface="LMSans10"/>
              </a:rPr>
              <a:t>10.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3296520" y="1315800"/>
            <a:ext cx="12168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NSDP per-capita growth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3084480" y="1480680"/>
            <a:ext cx="16092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00000"/>
                </a:solidFill>
                <a:latin typeface="LMSans10"/>
                <a:ea typeface="LMSans10"/>
              </a:rPr>
              <a:t>11.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2980800" y="1995480"/>
            <a:ext cx="2419560" cy="805320"/>
          </a:xfrm>
          <a:custGeom>
            <a:avLst/>
            <a:gdLst/>
            <a:ahLst/>
            <a:rect l="0" t="0" r="r" b="b"/>
            <a:pathLst>
              <a:path w="6721" h="2237">
                <a:moveTo>
                  <a:pt x="0" y="2110"/>
                </a:moveTo>
                <a:lnTo>
                  <a:pt x="0" y="128"/>
                </a:lnTo>
                <a:cubicBezTo>
                  <a:pt x="0" y="58"/>
                  <a:pt x="56" y="0"/>
                  <a:pt x="126" y="0"/>
                </a:cubicBezTo>
                <a:lnTo>
                  <a:pt x="6594" y="0"/>
                </a:lnTo>
                <a:cubicBezTo>
                  <a:pt x="6664" y="0"/>
                  <a:pt x="6721" y="58"/>
                  <a:pt x="6721" y="128"/>
                </a:cubicBezTo>
                <a:lnTo>
                  <a:pt x="6721" y="2110"/>
                </a:lnTo>
                <a:cubicBezTo>
                  <a:pt x="6721" y="2180"/>
                  <a:pt x="6664" y="2237"/>
                  <a:pt x="6594" y="2237"/>
                </a:cubicBezTo>
                <a:lnTo>
                  <a:pt x="126" y="2237"/>
                </a:lnTo>
                <a:cubicBezTo>
                  <a:pt x="56" y="2237"/>
                  <a:pt x="0" y="2180"/>
                  <a:pt x="0" y="2110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2988360" y="2222280"/>
            <a:ext cx="2404080" cy="570960"/>
          </a:xfrm>
          <a:custGeom>
            <a:avLst/>
            <a:gdLst/>
            <a:ahLst/>
            <a:rect l="0" t="0" r="r" b="b"/>
            <a:pathLst>
              <a:path w="6678" h="1586">
                <a:moveTo>
                  <a:pt x="0" y="1480"/>
                </a:moveTo>
                <a:lnTo>
                  <a:pt x="0" y="0"/>
                </a:lnTo>
                <a:lnTo>
                  <a:pt x="6678" y="0"/>
                </a:lnTo>
                <a:lnTo>
                  <a:pt x="6678" y="1480"/>
                </a:lnTo>
                <a:cubicBezTo>
                  <a:pt x="6678" y="1538"/>
                  <a:pt x="6631" y="1586"/>
                  <a:pt x="6573" y="1586"/>
                </a:cubicBezTo>
                <a:lnTo>
                  <a:pt x="105" y="1586"/>
                </a:lnTo>
                <a:cubicBezTo>
                  <a:pt x="47" y="1586"/>
                  <a:pt x="0" y="1538"/>
                  <a:pt x="0" y="1480"/>
                </a:cubicBezTo>
                <a:close/>
              </a:path>
            </a:pathLst>
          </a:custGeom>
          <a:solidFill>
            <a:srgbClr val="ecf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2988360" y="2003040"/>
            <a:ext cx="2404080" cy="219600"/>
          </a:xfrm>
          <a:custGeom>
            <a:avLst/>
            <a:gdLst/>
            <a:ahLst/>
            <a:rect l="0" t="0" r="r" b="b"/>
            <a:pathLst>
              <a:path w="6678" h="610">
                <a:moveTo>
                  <a:pt x="0" y="610"/>
                </a:moveTo>
                <a:lnTo>
                  <a:pt x="0" y="106"/>
                </a:lnTo>
                <a:cubicBezTo>
                  <a:pt x="0" y="47"/>
                  <a:pt x="47" y="0"/>
                  <a:pt x="105" y="0"/>
                </a:cubicBezTo>
                <a:lnTo>
                  <a:pt x="6573" y="0"/>
                </a:lnTo>
                <a:cubicBezTo>
                  <a:pt x="6631" y="0"/>
                  <a:pt x="6678" y="47"/>
                  <a:pt x="6678" y="106"/>
                </a:cubicBezTo>
                <a:lnTo>
                  <a:pt x="6678" y="610"/>
                </a:lnTo>
                <a:lnTo>
                  <a:pt x="0" y="610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3296520" y="1480320"/>
            <a:ext cx="11941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Cross-outcome synthesis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3087720" y="203004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fffff"/>
                </a:solidFill>
                <a:latin typeface="Font Awesome 5 Free Solid"/>
                <a:ea typeface="Font Awesome 5 Free Solid"/>
              </a:rPr>
              <a:t>è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3264120" y="2020320"/>
            <a:ext cx="9792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ffffff"/>
                </a:solidFill>
                <a:latin typeface="LMSans10"/>
                <a:ea typeface="LMSans10"/>
              </a:rPr>
              <a:t>Part IV — Closing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3084480" y="2244240"/>
            <a:ext cx="16092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00000"/>
                </a:solidFill>
                <a:latin typeface="LMSans10"/>
                <a:ea typeface="LMSans10"/>
              </a:rPr>
              <a:t>12.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3296520" y="2243880"/>
            <a:ext cx="12243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Robustness &amp; limitations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3084480" y="2408400"/>
            <a:ext cx="16092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00000"/>
                </a:solidFill>
                <a:latin typeface="LMSans10"/>
                <a:ea typeface="LMSans10"/>
              </a:rPr>
              <a:t>13.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3296520" y="2408400"/>
            <a:ext cx="12182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Interactive website demo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3084480" y="2572920"/>
            <a:ext cx="16092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00000"/>
                </a:solidFill>
                <a:latin typeface="LMSans10"/>
                <a:ea typeface="LMSans10"/>
              </a:rPr>
              <a:t>14.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3296520" y="2572920"/>
            <a:ext cx="10735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Conclusions &amp; Q &amp; A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5433120" y="3047400"/>
            <a:ext cx="284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2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359640" y="693360"/>
            <a:ext cx="2772720" cy="688680"/>
          </a:xfrm>
          <a:custGeom>
            <a:avLst/>
            <a:gdLst/>
            <a:ahLst/>
            <a:rect l="0" t="0" r="r" b="b"/>
            <a:pathLst>
              <a:path w="7702" h="1913">
                <a:moveTo>
                  <a:pt x="0" y="1787"/>
                </a:moveTo>
                <a:lnTo>
                  <a:pt x="0" y="127"/>
                </a:lnTo>
                <a:cubicBezTo>
                  <a:pt x="0" y="57"/>
                  <a:pt x="57" y="0"/>
                  <a:pt x="127" y="0"/>
                </a:cubicBezTo>
                <a:lnTo>
                  <a:pt x="7575" y="0"/>
                </a:lnTo>
                <a:cubicBezTo>
                  <a:pt x="7645" y="0"/>
                  <a:pt x="7702" y="57"/>
                  <a:pt x="7702" y="127"/>
                </a:cubicBezTo>
                <a:lnTo>
                  <a:pt x="7702" y="1787"/>
                </a:lnTo>
                <a:cubicBezTo>
                  <a:pt x="7702" y="1856"/>
                  <a:pt x="7645" y="1913"/>
                  <a:pt x="7575" y="1913"/>
                </a:cubicBezTo>
                <a:lnTo>
                  <a:pt x="127" y="1913"/>
                </a:lnTo>
                <a:cubicBezTo>
                  <a:pt x="57" y="1913"/>
                  <a:pt x="0" y="1856"/>
                  <a:pt x="0" y="1787"/>
                </a:cubicBezTo>
                <a:close/>
              </a:path>
            </a:pathLst>
          </a:custGeom>
          <a:solidFill>
            <a:srgbClr val="dc823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367560" y="701280"/>
            <a:ext cx="2757240" cy="673200"/>
          </a:xfrm>
          <a:custGeom>
            <a:avLst/>
            <a:gdLst/>
            <a:ahLst/>
            <a:rect l="0" t="0" r="r" b="b"/>
            <a:pathLst>
              <a:path w="7659" h="1870">
                <a:moveTo>
                  <a:pt x="0" y="1765"/>
                </a:moveTo>
                <a:lnTo>
                  <a:pt x="0" y="105"/>
                </a:lnTo>
                <a:cubicBezTo>
                  <a:pt x="0" y="47"/>
                  <a:pt x="47" y="0"/>
                  <a:pt x="105" y="0"/>
                </a:cubicBezTo>
                <a:lnTo>
                  <a:pt x="7553" y="0"/>
                </a:lnTo>
                <a:cubicBezTo>
                  <a:pt x="7611" y="0"/>
                  <a:pt x="7659" y="47"/>
                  <a:pt x="7659" y="105"/>
                </a:cubicBezTo>
                <a:lnTo>
                  <a:pt x="7659" y="1765"/>
                </a:lnTo>
                <a:cubicBezTo>
                  <a:pt x="7659" y="1823"/>
                  <a:pt x="7611" y="1870"/>
                  <a:pt x="7553" y="1870"/>
                </a:cubicBezTo>
                <a:lnTo>
                  <a:pt x="105" y="1870"/>
                </a:lnTo>
                <a:cubicBezTo>
                  <a:pt x="47" y="1870"/>
                  <a:pt x="0" y="1823"/>
                  <a:pt x="0" y="1765"/>
                </a:cubicBezTo>
                <a:close/>
              </a:path>
            </a:pathLst>
          </a:custGeom>
          <a:solidFill>
            <a:srgbClr val="fdf1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100080" y="5760"/>
            <a:ext cx="325764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Motivation — Why Study Bihar’s Prohibition?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462600" y="722880"/>
            <a:ext cx="5662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00000"/>
                </a:solidFill>
                <a:latin typeface="LMSans10"/>
                <a:ea typeface="LMSans10"/>
              </a:rPr>
              <a:t>The policy.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1065960" y="722880"/>
            <a:ext cx="409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Effective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1508040" y="722880"/>
            <a:ext cx="6638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dc823c"/>
                </a:solidFill>
                <a:latin typeface="LMSans10"/>
                <a:ea typeface="LMSans10"/>
              </a:rPr>
              <a:t>April 5, 2016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2157480" y="722880"/>
            <a:ext cx="9061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, Bihar enacted to-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466920" y="861840"/>
            <a:ext cx="25898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tal prohibition on the sale and consumption of alcohol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449280" y="1001160"/>
            <a:ext cx="13100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— </a:t>
            </a:r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the largest sub-national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1794240" y="1001160"/>
            <a:ext cx="12351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prohibition by population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466920" y="1140480"/>
            <a:ext cx="17197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in modern history (~120M people).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353520" y="1512360"/>
            <a:ext cx="265104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0f4c81"/>
                </a:solidFill>
                <a:latin typeface="LMSans10"/>
                <a:ea typeface="LMSans10"/>
              </a:rPr>
              <a:t>Why this case is methodologically interesting: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496800" y="172656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637200" y="1716840"/>
            <a:ext cx="19378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Sharp, well-dated discontinuity — ideal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2596320" y="1716840"/>
            <a:ext cx="4730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for causal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637200" y="1855800"/>
            <a:ext cx="3495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designs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496800" y="205560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637200" y="2045520"/>
            <a:ext cx="909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Single treated unit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1582200" y="205560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Symbols9"/>
                <a:ea typeface="LMMathSymbols9"/>
              </a:rPr>
              <a:t>⇒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1738440" y="2045520"/>
            <a:ext cx="13251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DiD parallel-trends hard to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637200" y="2184840"/>
            <a:ext cx="13280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defend; SCM is the natural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1999080" y="2184840"/>
            <a:ext cx="3038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choice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496800" y="238428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637200" y="2374560"/>
            <a:ext cx="21250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Multiple competing channels (safety, fiscal,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3384000" y="693360"/>
            <a:ext cx="2016360" cy="506880"/>
          </a:xfrm>
          <a:custGeom>
            <a:avLst/>
            <a:gdLst/>
            <a:ahLst/>
            <a:rect l="0" t="0" r="r" b="b"/>
            <a:pathLst>
              <a:path w="5601" h="1408">
                <a:moveTo>
                  <a:pt x="0" y="1268"/>
                </a:moveTo>
                <a:lnTo>
                  <a:pt x="0" y="141"/>
                </a:lnTo>
                <a:cubicBezTo>
                  <a:pt x="0" y="63"/>
                  <a:pt x="63" y="0"/>
                  <a:pt x="140" y="0"/>
                </a:cubicBezTo>
                <a:lnTo>
                  <a:pt x="5460" y="0"/>
                </a:lnTo>
                <a:cubicBezTo>
                  <a:pt x="5538" y="0"/>
                  <a:pt x="5601" y="63"/>
                  <a:pt x="5601" y="141"/>
                </a:cubicBezTo>
                <a:lnTo>
                  <a:pt x="5601" y="1268"/>
                </a:lnTo>
                <a:cubicBezTo>
                  <a:pt x="5601" y="1345"/>
                  <a:pt x="5538" y="1408"/>
                  <a:pt x="5460" y="1408"/>
                </a:cubicBezTo>
                <a:lnTo>
                  <a:pt x="140" y="1408"/>
                </a:lnTo>
                <a:cubicBezTo>
                  <a:pt x="63" y="1408"/>
                  <a:pt x="0" y="1345"/>
                  <a:pt x="0" y="1268"/>
                </a:cubicBezTo>
                <a:close/>
              </a:path>
            </a:pathLst>
          </a:custGeom>
          <a:solidFill>
            <a:srgbClr val="0a3a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3384000" y="693360"/>
            <a:ext cx="2016360" cy="506880"/>
          </a:xfrm>
          <a:custGeom>
            <a:avLst/>
            <a:gdLst/>
            <a:ahLst/>
            <a:rect l="0" t="0" r="r" b="b"/>
            <a:pathLst>
              <a:path w="5601" h="1408">
                <a:moveTo>
                  <a:pt x="0" y="1268"/>
                </a:moveTo>
                <a:lnTo>
                  <a:pt x="0" y="141"/>
                </a:lnTo>
                <a:cubicBezTo>
                  <a:pt x="0" y="63"/>
                  <a:pt x="63" y="0"/>
                  <a:pt x="140" y="0"/>
                </a:cubicBezTo>
                <a:lnTo>
                  <a:pt x="5460" y="0"/>
                </a:lnTo>
                <a:cubicBezTo>
                  <a:pt x="5538" y="0"/>
                  <a:pt x="5601" y="63"/>
                  <a:pt x="5601" y="141"/>
                </a:cubicBezTo>
                <a:lnTo>
                  <a:pt x="5601" y="1268"/>
                </a:lnTo>
                <a:cubicBezTo>
                  <a:pt x="5601" y="1345"/>
                  <a:pt x="5538" y="1408"/>
                  <a:pt x="5460" y="1408"/>
                </a:cubicBezTo>
                <a:lnTo>
                  <a:pt x="140" y="1408"/>
                </a:lnTo>
                <a:cubicBezTo>
                  <a:pt x="63" y="1408"/>
                  <a:pt x="0" y="1345"/>
                  <a:pt x="0" y="1268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637200" y="2513880"/>
            <a:ext cx="23461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economic) — direction of net effect is empirical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4015080" y="652320"/>
            <a:ext cx="749160" cy="39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90" spc="-1" strike="noStrike">
                <a:solidFill>
                  <a:srgbClr val="f4a261"/>
                </a:solidFill>
                <a:latin typeface="LMSans10"/>
                <a:ea typeface="LMSans10"/>
              </a:rPr>
              <a:t>120M</a:t>
            </a:r>
            <a:endParaRPr b="0" lang="en-US" sz="21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3384000" y="1436760"/>
            <a:ext cx="2016360" cy="545400"/>
          </a:xfrm>
          <a:custGeom>
            <a:avLst/>
            <a:gdLst/>
            <a:ahLst/>
            <a:rect l="0" t="0" r="r" b="b"/>
            <a:pathLst>
              <a:path w="5601" h="1515">
                <a:moveTo>
                  <a:pt x="0" y="1375"/>
                </a:moveTo>
                <a:lnTo>
                  <a:pt x="0" y="141"/>
                </a:lnTo>
                <a:cubicBezTo>
                  <a:pt x="0" y="63"/>
                  <a:pt x="63" y="0"/>
                  <a:pt x="140" y="0"/>
                </a:cubicBezTo>
                <a:lnTo>
                  <a:pt x="5460" y="0"/>
                </a:lnTo>
                <a:cubicBezTo>
                  <a:pt x="5538" y="0"/>
                  <a:pt x="5601" y="63"/>
                  <a:pt x="5601" y="141"/>
                </a:cubicBezTo>
                <a:lnTo>
                  <a:pt x="5601" y="1375"/>
                </a:lnTo>
                <a:cubicBezTo>
                  <a:pt x="5601" y="1452"/>
                  <a:pt x="5538" y="1515"/>
                  <a:pt x="5460" y="1515"/>
                </a:cubicBezTo>
                <a:lnTo>
                  <a:pt x="140" y="1515"/>
                </a:lnTo>
                <a:cubicBezTo>
                  <a:pt x="63" y="1515"/>
                  <a:pt x="0" y="1452"/>
                  <a:pt x="0" y="1375"/>
                </a:cubicBezTo>
                <a:close/>
              </a:path>
            </a:pathLst>
          </a:custGeom>
          <a:solidFill>
            <a:srgbClr val="0a3a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3384000" y="1436760"/>
            <a:ext cx="2016360" cy="545400"/>
          </a:xfrm>
          <a:custGeom>
            <a:avLst/>
            <a:gdLst/>
            <a:ahLst/>
            <a:rect l="0" t="0" r="r" b="b"/>
            <a:pathLst>
              <a:path w="5601" h="1515">
                <a:moveTo>
                  <a:pt x="0" y="1375"/>
                </a:moveTo>
                <a:lnTo>
                  <a:pt x="0" y="141"/>
                </a:lnTo>
                <a:cubicBezTo>
                  <a:pt x="0" y="63"/>
                  <a:pt x="63" y="0"/>
                  <a:pt x="140" y="0"/>
                </a:cubicBezTo>
                <a:lnTo>
                  <a:pt x="5460" y="0"/>
                </a:lnTo>
                <a:cubicBezTo>
                  <a:pt x="5538" y="0"/>
                  <a:pt x="5601" y="63"/>
                  <a:pt x="5601" y="141"/>
                </a:cubicBezTo>
                <a:lnTo>
                  <a:pt x="5601" y="1375"/>
                </a:lnTo>
                <a:cubicBezTo>
                  <a:pt x="5601" y="1452"/>
                  <a:pt x="5538" y="1515"/>
                  <a:pt x="5460" y="1515"/>
                </a:cubicBezTo>
                <a:lnTo>
                  <a:pt x="140" y="1515"/>
                </a:lnTo>
                <a:cubicBezTo>
                  <a:pt x="63" y="1515"/>
                  <a:pt x="0" y="1452"/>
                  <a:pt x="0" y="1375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3932280" y="977040"/>
            <a:ext cx="89820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affected population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3748320" y="1452240"/>
            <a:ext cx="277920" cy="38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9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Ñ</a:t>
            </a:r>
            <a:endParaRPr b="0" lang="en-US" sz="21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3973320" y="1428840"/>
            <a:ext cx="1125360" cy="39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90" spc="-1" strike="noStrike">
                <a:solidFill>
                  <a:srgbClr val="f4a261"/>
                </a:solidFill>
                <a:latin typeface="LMSans10"/>
                <a:ea typeface="LMSans10"/>
              </a:rPr>
              <a:t>4,000 Cr</a:t>
            </a:r>
            <a:endParaRPr b="0" lang="en-US" sz="21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3384000" y="2218680"/>
            <a:ext cx="2016360" cy="512280"/>
          </a:xfrm>
          <a:custGeom>
            <a:avLst/>
            <a:gdLst/>
            <a:ahLst/>
            <a:rect l="0" t="0" r="r" b="b"/>
            <a:pathLst>
              <a:path w="5601" h="1423">
                <a:moveTo>
                  <a:pt x="0" y="1283"/>
                </a:moveTo>
                <a:lnTo>
                  <a:pt x="0" y="141"/>
                </a:lnTo>
                <a:cubicBezTo>
                  <a:pt x="0" y="63"/>
                  <a:pt x="63" y="0"/>
                  <a:pt x="140" y="0"/>
                </a:cubicBezTo>
                <a:lnTo>
                  <a:pt x="5460" y="0"/>
                </a:lnTo>
                <a:cubicBezTo>
                  <a:pt x="5538" y="0"/>
                  <a:pt x="5601" y="63"/>
                  <a:pt x="5601" y="141"/>
                </a:cubicBezTo>
                <a:lnTo>
                  <a:pt x="5601" y="1283"/>
                </a:lnTo>
                <a:cubicBezTo>
                  <a:pt x="5601" y="1360"/>
                  <a:pt x="5538" y="1423"/>
                  <a:pt x="5460" y="1423"/>
                </a:cubicBezTo>
                <a:lnTo>
                  <a:pt x="140" y="1423"/>
                </a:lnTo>
                <a:cubicBezTo>
                  <a:pt x="63" y="1423"/>
                  <a:pt x="0" y="1360"/>
                  <a:pt x="0" y="1283"/>
                </a:cubicBezTo>
                <a:close/>
              </a:path>
            </a:pathLst>
          </a:custGeom>
          <a:solidFill>
            <a:srgbClr val="0a3a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3384000" y="2218680"/>
            <a:ext cx="2016360" cy="512280"/>
          </a:xfrm>
          <a:custGeom>
            <a:avLst/>
            <a:gdLst/>
            <a:ahLst/>
            <a:rect l="0" t="0" r="r" b="b"/>
            <a:pathLst>
              <a:path w="5601" h="1423">
                <a:moveTo>
                  <a:pt x="0" y="1283"/>
                </a:moveTo>
                <a:lnTo>
                  <a:pt x="0" y="141"/>
                </a:lnTo>
                <a:cubicBezTo>
                  <a:pt x="0" y="63"/>
                  <a:pt x="63" y="0"/>
                  <a:pt x="140" y="0"/>
                </a:cubicBezTo>
                <a:lnTo>
                  <a:pt x="5460" y="0"/>
                </a:lnTo>
                <a:cubicBezTo>
                  <a:pt x="5538" y="0"/>
                  <a:pt x="5601" y="63"/>
                  <a:pt x="5601" y="141"/>
                </a:cubicBezTo>
                <a:lnTo>
                  <a:pt x="5601" y="1283"/>
                </a:lnTo>
                <a:cubicBezTo>
                  <a:pt x="5601" y="1360"/>
                  <a:pt x="5538" y="1423"/>
                  <a:pt x="5460" y="1423"/>
                </a:cubicBezTo>
                <a:lnTo>
                  <a:pt x="140" y="1423"/>
                </a:lnTo>
                <a:cubicBezTo>
                  <a:pt x="63" y="1423"/>
                  <a:pt x="0" y="1360"/>
                  <a:pt x="0" y="1283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3473280" y="1753200"/>
            <a:ext cx="180828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pre-prohibition state excise (FY15–16)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3672720" y="2177640"/>
            <a:ext cx="1501920" cy="39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90" spc="-1" strike="noStrike">
                <a:solidFill>
                  <a:srgbClr val="f4a261"/>
                </a:solidFill>
                <a:latin typeface="LMSans10"/>
                <a:ea typeface="LMSans10"/>
              </a:rPr>
              <a:t>3 outcomes</a:t>
            </a:r>
            <a:endParaRPr b="0" lang="en-US" sz="21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3767040" y="2502360"/>
            <a:ext cx="63936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safety / fiscal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4473000" y="2502360"/>
            <a:ext cx="52956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/ economic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5433120" y="3047400"/>
            <a:ext cx="284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3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359640" y="505440"/>
            <a:ext cx="5040720" cy="1053360"/>
          </a:xfrm>
          <a:custGeom>
            <a:avLst/>
            <a:gdLst/>
            <a:ahLst/>
            <a:rect l="0" t="0" r="r" b="b"/>
            <a:pathLst>
              <a:path w="14002" h="2926">
                <a:moveTo>
                  <a:pt x="0" y="2799"/>
                </a:moveTo>
                <a:lnTo>
                  <a:pt x="0" y="128"/>
                </a:lnTo>
                <a:cubicBezTo>
                  <a:pt x="0" y="57"/>
                  <a:pt x="57" y="0"/>
                  <a:pt x="127" y="0"/>
                </a:cubicBezTo>
                <a:lnTo>
                  <a:pt x="13875" y="0"/>
                </a:lnTo>
                <a:cubicBezTo>
                  <a:pt x="13945" y="0"/>
                  <a:pt x="14002" y="57"/>
                  <a:pt x="14002" y="128"/>
                </a:cubicBezTo>
                <a:lnTo>
                  <a:pt x="14002" y="2799"/>
                </a:lnTo>
                <a:cubicBezTo>
                  <a:pt x="14002" y="2869"/>
                  <a:pt x="13945" y="2926"/>
                  <a:pt x="13875" y="2926"/>
                </a:cubicBezTo>
                <a:lnTo>
                  <a:pt x="127" y="2926"/>
                </a:lnTo>
                <a:cubicBezTo>
                  <a:pt x="57" y="2926"/>
                  <a:pt x="0" y="2869"/>
                  <a:pt x="0" y="2799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367560" y="732240"/>
            <a:ext cx="5025240" cy="819000"/>
          </a:xfrm>
          <a:custGeom>
            <a:avLst/>
            <a:gdLst/>
            <a:ahLst/>
            <a:rect l="0" t="0" r="r" b="b"/>
            <a:pathLst>
              <a:path w="13959" h="2275">
                <a:moveTo>
                  <a:pt x="0" y="2169"/>
                </a:moveTo>
                <a:lnTo>
                  <a:pt x="0" y="0"/>
                </a:lnTo>
                <a:lnTo>
                  <a:pt x="13959" y="0"/>
                </a:lnTo>
                <a:lnTo>
                  <a:pt x="13959" y="2169"/>
                </a:lnTo>
                <a:cubicBezTo>
                  <a:pt x="13959" y="2228"/>
                  <a:pt x="13911" y="2275"/>
                  <a:pt x="13853" y="2275"/>
                </a:cubicBezTo>
                <a:lnTo>
                  <a:pt x="105" y="2275"/>
                </a:lnTo>
                <a:cubicBezTo>
                  <a:pt x="47" y="2275"/>
                  <a:pt x="0" y="2228"/>
                  <a:pt x="0" y="2169"/>
                </a:cubicBezTo>
                <a:close/>
              </a:path>
            </a:pathLst>
          </a:custGeom>
          <a:solidFill>
            <a:srgbClr val="ecf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367560" y="513000"/>
            <a:ext cx="5025240" cy="219600"/>
          </a:xfrm>
          <a:custGeom>
            <a:avLst/>
            <a:gdLst/>
            <a:ahLst/>
            <a:rect l="0" t="0" r="r" b="b"/>
            <a:pathLst>
              <a:path w="13959" h="610">
                <a:moveTo>
                  <a:pt x="0" y="610"/>
                </a:moveTo>
                <a:lnTo>
                  <a:pt x="0" y="107"/>
                </a:lnTo>
                <a:cubicBezTo>
                  <a:pt x="0" y="48"/>
                  <a:pt x="47" y="0"/>
                  <a:pt x="105" y="0"/>
                </a:cubicBezTo>
                <a:lnTo>
                  <a:pt x="13853" y="0"/>
                </a:lnTo>
                <a:cubicBezTo>
                  <a:pt x="13911" y="0"/>
                  <a:pt x="13959" y="48"/>
                  <a:pt x="13959" y="107"/>
                </a:cubicBezTo>
                <a:lnTo>
                  <a:pt x="13959" y="610"/>
                </a:lnTo>
                <a:lnTo>
                  <a:pt x="0" y="610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100080" y="5760"/>
            <a:ext cx="136332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Research Questions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466920" y="54000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fffff"/>
                </a:solidFill>
                <a:latin typeface="Font Awesome 5 Free Solid"/>
                <a:ea typeface="Font Awesome 5 Free Solid"/>
              </a:rPr>
              <a:t>?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614880" y="530280"/>
            <a:ext cx="227916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ffffff"/>
                </a:solidFill>
                <a:latin typeface="LMSans10"/>
                <a:ea typeface="LMSans10"/>
              </a:rPr>
              <a:t>Three questions, one identification strategy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583560" y="753840"/>
            <a:ext cx="113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LMSans9"/>
                <a:ea typeface="LMSans9"/>
              </a:rPr>
              <a:t>1.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743760" y="753840"/>
            <a:ext cx="7398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Did prohibition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1516680" y="754200"/>
            <a:ext cx="147456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dc823c"/>
                </a:solidFill>
                <a:latin typeface="LMSans10"/>
                <a:ea typeface="LMSans10"/>
              </a:rPr>
              <a:t>reduce road-accident deaths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3024000" y="753840"/>
            <a:ext cx="13280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relative to a counterfactual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4385880" y="753840"/>
            <a:ext cx="8938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Bihar that did not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744120" y="893160"/>
            <a:ext cx="886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enact prohibition?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583560" y="1108080"/>
            <a:ext cx="113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LMSans9"/>
                <a:ea typeface="LMSans9"/>
              </a:rPr>
              <a:t>2.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743760" y="1108080"/>
            <a:ext cx="7398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Did prohibition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1516680" y="1108440"/>
            <a:ext cx="15490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dc823c"/>
                </a:solidFill>
                <a:latin typeface="LMSans10"/>
                <a:ea typeface="LMSans10"/>
              </a:rPr>
              <a:t>reduce state own-tax revenue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3095280" y="1108080"/>
            <a:ext cx="18356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via the loss of the excise component?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583560" y="1323360"/>
            <a:ext cx="113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LMSans9"/>
                <a:ea typeface="LMSans9"/>
              </a:rPr>
              <a:t>3.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743760" y="1323360"/>
            <a:ext cx="7398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Did prohibition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1516680" y="1323360"/>
            <a:ext cx="206892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dc823c"/>
                </a:solidFill>
                <a:latin typeface="LMSans10"/>
                <a:ea typeface="LMSans10"/>
              </a:rPr>
              <a:t>accelerate or depress per-capita growth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3609000" y="1323360"/>
            <a:ext cx="14698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relative to comparable states?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360000" y="1744920"/>
            <a:ext cx="79632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0f4c81"/>
                </a:solidFill>
                <a:latin typeface="LMSans10"/>
                <a:ea typeface="LMSans10"/>
              </a:rPr>
              <a:t>Identification.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1248480" y="1744920"/>
            <a:ext cx="385812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9" spc="-1" strike="noStrike">
                <a:solidFill>
                  <a:srgbClr val="0a3a66"/>
                </a:solidFill>
                <a:latin typeface="LMSans10"/>
                <a:ea typeface="LMSans10"/>
              </a:rPr>
              <a:t>Construct a</a:t>
            </a:r>
            <a:r>
              <a:rPr b="0" i="1" lang="en-US" sz="989" spc="-1" strike="noStrike">
                <a:solidFill>
                  <a:srgbClr val="0a3a66"/>
                </a:solidFill>
                <a:latin typeface="LMSans10"/>
                <a:ea typeface="LMSans10"/>
              </a:rPr>
              <a:t> synthetic Bihar</a:t>
            </a:r>
            <a:r>
              <a:rPr b="0" lang="en-US" sz="989" spc="-1" strike="noStrike">
                <a:solidFill>
                  <a:srgbClr val="0a3a66"/>
                </a:solidFill>
                <a:latin typeface="LMSans10"/>
                <a:ea typeface="LMSans10"/>
              </a:rPr>
              <a:t> as a weighted average of donor states whose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360000" y="1917000"/>
            <a:ext cx="464292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9" spc="-1" strike="noStrike">
                <a:solidFill>
                  <a:srgbClr val="0a3a66"/>
                </a:solidFill>
                <a:latin typeface="LMSans10"/>
                <a:ea typeface="LMSans10"/>
              </a:rPr>
              <a:t>pre-2016 trajectory tracks Bihar’s, then read the post-2016 gap as the treatment effect.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355680" y="2089080"/>
            <a:ext cx="203364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9" spc="-1" strike="noStrike">
                <a:solidFill>
                  <a:srgbClr val="0a3a66"/>
                </a:solidFill>
                <a:latin typeface="LMSans10"/>
                <a:ea typeface="LMSans10"/>
              </a:rPr>
              <a:t>Triangulate with a Bayesian structural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2413800" y="2089080"/>
            <a:ext cx="7534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9" spc="-1" strike="noStrike">
                <a:solidFill>
                  <a:srgbClr val="0a3a66"/>
                </a:solidFill>
                <a:latin typeface="LMSans10"/>
                <a:ea typeface="LMSans10"/>
              </a:rPr>
              <a:t>counterfactual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359640" y="2480760"/>
            <a:ext cx="5040720" cy="373680"/>
          </a:xfrm>
          <a:custGeom>
            <a:avLst/>
            <a:gdLst/>
            <a:ahLst/>
            <a:rect l="0" t="0" r="r" b="b"/>
            <a:pathLst>
              <a:path w="14002" h="1038">
                <a:moveTo>
                  <a:pt x="0" y="911"/>
                </a:moveTo>
                <a:lnTo>
                  <a:pt x="0" y="126"/>
                </a:lnTo>
                <a:cubicBezTo>
                  <a:pt x="0" y="56"/>
                  <a:pt x="57" y="0"/>
                  <a:pt x="127" y="0"/>
                </a:cubicBezTo>
                <a:lnTo>
                  <a:pt x="13875" y="0"/>
                </a:lnTo>
                <a:cubicBezTo>
                  <a:pt x="13945" y="0"/>
                  <a:pt x="14002" y="56"/>
                  <a:pt x="14002" y="126"/>
                </a:cubicBezTo>
                <a:lnTo>
                  <a:pt x="14002" y="911"/>
                </a:lnTo>
                <a:cubicBezTo>
                  <a:pt x="14002" y="981"/>
                  <a:pt x="13945" y="1038"/>
                  <a:pt x="13875" y="1038"/>
                </a:cubicBezTo>
                <a:lnTo>
                  <a:pt x="127" y="1038"/>
                </a:lnTo>
                <a:cubicBezTo>
                  <a:pt x="57" y="1038"/>
                  <a:pt x="0" y="981"/>
                  <a:pt x="0" y="911"/>
                </a:cubicBezTo>
                <a:close/>
              </a:path>
            </a:pathLst>
          </a:custGeom>
          <a:solidFill>
            <a:srgbClr val="6fd99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367560" y="2488320"/>
            <a:ext cx="5025240" cy="358560"/>
          </a:xfrm>
          <a:custGeom>
            <a:avLst/>
            <a:gdLst/>
            <a:ahLst/>
            <a:rect l="0" t="0" r="r" b="b"/>
            <a:pathLst>
              <a:path w="13959" h="996">
                <a:moveTo>
                  <a:pt x="0" y="890"/>
                </a:moveTo>
                <a:lnTo>
                  <a:pt x="0" y="105"/>
                </a:lnTo>
                <a:cubicBezTo>
                  <a:pt x="0" y="47"/>
                  <a:pt x="47" y="0"/>
                  <a:pt x="105" y="0"/>
                </a:cubicBezTo>
                <a:lnTo>
                  <a:pt x="13853" y="0"/>
                </a:lnTo>
                <a:cubicBezTo>
                  <a:pt x="13911" y="0"/>
                  <a:pt x="13959" y="47"/>
                  <a:pt x="13959" y="105"/>
                </a:cubicBezTo>
                <a:lnTo>
                  <a:pt x="13959" y="890"/>
                </a:lnTo>
                <a:cubicBezTo>
                  <a:pt x="13959" y="948"/>
                  <a:pt x="13911" y="996"/>
                  <a:pt x="13853" y="996"/>
                </a:cubicBezTo>
                <a:lnTo>
                  <a:pt x="105" y="996"/>
                </a:lnTo>
                <a:cubicBezTo>
                  <a:pt x="47" y="996"/>
                  <a:pt x="0" y="948"/>
                  <a:pt x="0" y="890"/>
                </a:cubicBezTo>
                <a:close/>
              </a:path>
            </a:pathLst>
          </a:custGeom>
          <a:solidFill>
            <a:srgbClr val="e9f9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3209040" y="2089080"/>
            <a:ext cx="44424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9" spc="-1" strike="noStrike">
                <a:solidFill>
                  <a:srgbClr val="0a3a66"/>
                </a:solidFill>
                <a:latin typeface="LMSans10"/>
                <a:ea typeface="LMSans10"/>
              </a:rPr>
              <a:t>(BSTS).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461520" y="2516040"/>
            <a:ext cx="47188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Why three outcomes?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Each isolates a distinct welfare dimension — Q1 the</a:t>
            </a:r>
            <a:r>
              <a:rPr b="1" lang="en-US" sz="790" spc="-1" strike="noStrike">
                <a:solidFill>
                  <a:srgbClr val="1b9e4b"/>
                </a:solidFill>
                <a:latin typeface="LMSans10"/>
                <a:ea typeface="LMSans10"/>
              </a:rPr>
              <a:t> intended public-health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gain, Q2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466920" y="2635920"/>
            <a:ext cx="703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the</a:t>
            </a:r>
            <a:r>
              <a:rPr b="1" lang="en-US" sz="790" spc="-1" strike="noStrike">
                <a:solidFill>
                  <a:srgbClr val="ef4444"/>
                </a:solidFill>
                <a:latin typeface="LMSans10"/>
                <a:ea typeface="LMSans10"/>
              </a:rPr>
              <a:t> direct fiscal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1212120" y="2635920"/>
            <a:ext cx="25290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ef4444"/>
                </a:solidFill>
                <a:latin typeface="LMSans10"/>
                <a:ea typeface="LMSans10"/>
              </a:rPr>
              <a:t>cost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, Q3 the</a:t>
            </a:r>
            <a:r>
              <a:rPr b="0" i="1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net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economic effect of competing channels.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5433120" y="3047400"/>
            <a:ext cx="284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4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94680" y="5760"/>
            <a:ext cx="197568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The Identification Challenge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360000" y="576000"/>
            <a:ext cx="106308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0f4c81"/>
                </a:solidFill>
                <a:latin typeface="LMSans10"/>
                <a:ea typeface="LMSans10"/>
              </a:rPr>
              <a:t>Standard tools fall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1470240" y="576000"/>
            <a:ext cx="33156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0f4c81"/>
                </a:solidFill>
                <a:latin typeface="LMSans10"/>
                <a:ea typeface="LMSans10"/>
              </a:rPr>
              <a:t>short.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496800" y="78984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637200" y="780120"/>
            <a:ext cx="21096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ef4444"/>
                </a:solidFill>
                <a:latin typeface="LMSans10"/>
                <a:ea typeface="LMSans10"/>
              </a:rPr>
              <a:t>DiD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886320" y="780120"/>
            <a:ext cx="7689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requires parallel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1687320" y="780120"/>
            <a:ext cx="10659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pre-trends — Bihar is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637200" y="919440"/>
            <a:ext cx="2105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an outlier on income, urbanisation, literacy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496800" y="111888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637200" y="1109160"/>
            <a:ext cx="12096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ef4444"/>
                </a:solidFill>
                <a:latin typeface="LMSans10"/>
                <a:ea typeface="LMSans10"/>
              </a:rPr>
              <a:t>IV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796680" y="1109160"/>
            <a:ext cx="2003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has no obvious instrument for state-wide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637200" y="1248120"/>
            <a:ext cx="2811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policy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496800" y="144792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637200" y="1438200"/>
            <a:ext cx="909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Single treated unit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1582200" y="144792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Symbols9"/>
                <a:ea typeface="LMMathSymbols9"/>
              </a:rPr>
              <a:t>⇒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1738440" y="1438200"/>
            <a:ext cx="9806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no within-treatment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359640" y="2004840"/>
            <a:ext cx="2419920" cy="594360"/>
          </a:xfrm>
          <a:custGeom>
            <a:avLst/>
            <a:gdLst/>
            <a:ahLst/>
            <a:rect l="0" t="0" r="r" b="b"/>
            <a:pathLst>
              <a:path w="6722" h="1651">
                <a:moveTo>
                  <a:pt x="0" y="1524"/>
                </a:moveTo>
                <a:lnTo>
                  <a:pt x="0" y="127"/>
                </a:lnTo>
                <a:cubicBezTo>
                  <a:pt x="0" y="57"/>
                  <a:pt x="57" y="0"/>
                  <a:pt x="127" y="0"/>
                </a:cubicBezTo>
                <a:lnTo>
                  <a:pt x="6595" y="0"/>
                </a:lnTo>
                <a:cubicBezTo>
                  <a:pt x="6665" y="0"/>
                  <a:pt x="6722" y="57"/>
                  <a:pt x="6722" y="127"/>
                </a:cubicBezTo>
                <a:lnTo>
                  <a:pt x="6722" y="1524"/>
                </a:lnTo>
                <a:cubicBezTo>
                  <a:pt x="6722" y="1594"/>
                  <a:pt x="6665" y="1651"/>
                  <a:pt x="6595" y="1651"/>
                </a:cubicBezTo>
                <a:lnTo>
                  <a:pt x="127" y="1651"/>
                </a:lnTo>
                <a:cubicBezTo>
                  <a:pt x="57" y="1651"/>
                  <a:pt x="0" y="1594"/>
                  <a:pt x="0" y="1524"/>
                </a:cubicBezTo>
                <a:close/>
              </a:path>
            </a:pathLst>
          </a:custGeom>
          <a:solidFill>
            <a:srgbClr val="dc823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367560" y="2012400"/>
            <a:ext cx="2404080" cy="579240"/>
          </a:xfrm>
          <a:custGeom>
            <a:avLst/>
            <a:gdLst/>
            <a:ahLst/>
            <a:rect l="0" t="0" r="r" b="b"/>
            <a:pathLst>
              <a:path w="6678" h="1609">
                <a:moveTo>
                  <a:pt x="0" y="1503"/>
                </a:moveTo>
                <a:lnTo>
                  <a:pt x="0" y="107"/>
                </a:lnTo>
                <a:cubicBezTo>
                  <a:pt x="0" y="48"/>
                  <a:pt x="47" y="0"/>
                  <a:pt x="105" y="0"/>
                </a:cubicBezTo>
                <a:lnTo>
                  <a:pt x="6573" y="0"/>
                </a:lnTo>
                <a:cubicBezTo>
                  <a:pt x="6631" y="0"/>
                  <a:pt x="6678" y="48"/>
                  <a:pt x="6678" y="107"/>
                </a:cubicBezTo>
                <a:lnTo>
                  <a:pt x="6678" y="1503"/>
                </a:lnTo>
                <a:cubicBezTo>
                  <a:pt x="6678" y="1562"/>
                  <a:pt x="6631" y="1609"/>
                  <a:pt x="6573" y="1609"/>
                </a:cubicBezTo>
                <a:lnTo>
                  <a:pt x="105" y="1609"/>
                </a:lnTo>
                <a:cubicBezTo>
                  <a:pt x="47" y="1609"/>
                  <a:pt x="0" y="1562"/>
                  <a:pt x="0" y="1503"/>
                </a:cubicBezTo>
                <a:close/>
              </a:path>
            </a:pathLst>
          </a:custGeom>
          <a:solidFill>
            <a:srgbClr val="fdf1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634320" y="1577160"/>
            <a:ext cx="4244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variation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466920" y="2040120"/>
            <a:ext cx="133272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SCM matches the structure.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1864440" y="2040120"/>
            <a:ext cx="81468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dc823c"/>
                </a:solidFill>
                <a:latin typeface="LMSans10"/>
                <a:ea typeface="LMSans10"/>
              </a:rPr>
              <a:t>One treated unit,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466920" y="2160360"/>
            <a:ext cx="22107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dc823c"/>
                </a:solidFill>
                <a:latin typeface="LMSans10"/>
                <a:ea typeface="LMSans10"/>
              </a:rPr>
              <a:t>many donors, long pre-period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— exactly the set-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466920" y="2280600"/>
            <a:ext cx="2198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ting Abadie–Diamond–Hainmueller (2010) intro-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2980800" y="781560"/>
            <a:ext cx="2419560" cy="1359720"/>
          </a:xfrm>
          <a:custGeom>
            <a:avLst/>
            <a:gdLst/>
            <a:ahLst/>
            <a:rect l="0" t="0" r="r" b="b"/>
            <a:pathLst>
              <a:path w="6721" h="3777">
                <a:moveTo>
                  <a:pt x="0" y="3651"/>
                </a:moveTo>
                <a:lnTo>
                  <a:pt x="0" y="126"/>
                </a:lnTo>
                <a:cubicBezTo>
                  <a:pt x="0" y="56"/>
                  <a:pt x="56" y="0"/>
                  <a:pt x="126" y="0"/>
                </a:cubicBezTo>
                <a:lnTo>
                  <a:pt x="6594" y="0"/>
                </a:lnTo>
                <a:cubicBezTo>
                  <a:pt x="6664" y="0"/>
                  <a:pt x="6721" y="56"/>
                  <a:pt x="6721" y="126"/>
                </a:cubicBezTo>
                <a:lnTo>
                  <a:pt x="6721" y="3651"/>
                </a:lnTo>
                <a:cubicBezTo>
                  <a:pt x="6721" y="3721"/>
                  <a:pt x="6664" y="3777"/>
                  <a:pt x="6594" y="3777"/>
                </a:cubicBezTo>
                <a:lnTo>
                  <a:pt x="126" y="3777"/>
                </a:lnTo>
                <a:cubicBezTo>
                  <a:pt x="56" y="3777"/>
                  <a:pt x="0" y="3721"/>
                  <a:pt x="0" y="3651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2988360" y="1000080"/>
            <a:ext cx="2404080" cy="1133640"/>
          </a:xfrm>
          <a:custGeom>
            <a:avLst/>
            <a:gdLst/>
            <a:ahLst/>
            <a:rect l="0" t="0" r="r" b="b"/>
            <a:pathLst>
              <a:path w="6678" h="3149">
                <a:moveTo>
                  <a:pt x="0" y="3044"/>
                </a:moveTo>
                <a:lnTo>
                  <a:pt x="0" y="0"/>
                </a:lnTo>
                <a:lnTo>
                  <a:pt x="6678" y="0"/>
                </a:lnTo>
                <a:lnTo>
                  <a:pt x="6678" y="3044"/>
                </a:lnTo>
                <a:cubicBezTo>
                  <a:pt x="6678" y="3102"/>
                  <a:pt x="6631" y="3149"/>
                  <a:pt x="6573" y="3149"/>
                </a:cubicBezTo>
                <a:lnTo>
                  <a:pt x="105" y="3149"/>
                </a:lnTo>
                <a:cubicBezTo>
                  <a:pt x="47" y="3149"/>
                  <a:pt x="0" y="3102"/>
                  <a:pt x="0" y="3044"/>
                </a:cubicBezTo>
                <a:close/>
              </a:path>
            </a:pathLst>
          </a:custGeom>
          <a:solidFill>
            <a:srgbClr val="ecf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2988360" y="789120"/>
            <a:ext cx="2404080" cy="211320"/>
          </a:xfrm>
          <a:custGeom>
            <a:avLst/>
            <a:gdLst/>
            <a:ahLst/>
            <a:rect l="0" t="0" r="r" b="b"/>
            <a:pathLst>
              <a:path w="6678" h="587">
                <a:moveTo>
                  <a:pt x="0" y="587"/>
                </a:moveTo>
                <a:lnTo>
                  <a:pt x="0" y="105"/>
                </a:lnTo>
                <a:cubicBezTo>
                  <a:pt x="0" y="47"/>
                  <a:pt x="47" y="0"/>
                  <a:pt x="105" y="0"/>
                </a:cubicBezTo>
                <a:lnTo>
                  <a:pt x="6573" y="0"/>
                </a:lnTo>
                <a:cubicBezTo>
                  <a:pt x="6631" y="0"/>
                  <a:pt x="6678" y="47"/>
                  <a:pt x="6678" y="105"/>
                </a:cubicBezTo>
                <a:lnTo>
                  <a:pt x="6678" y="587"/>
                </a:lnTo>
                <a:lnTo>
                  <a:pt x="0" y="587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466920" y="2400840"/>
            <a:ext cx="9957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duced the method for.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3087720" y="81576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fffff"/>
                </a:solidFill>
                <a:latin typeface="Font Awesome 5 Free Solid"/>
                <a:ea typeface="Font Awesome 5 Free Solid"/>
              </a:rPr>
              <a:t>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3278520" y="806040"/>
            <a:ext cx="60876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ffffff"/>
                </a:solidFill>
                <a:latin typeface="LMSans10"/>
                <a:ea typeface="LMSans10"/>
              </a:rPr>
              <a:t>Convex hull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3926520" y="806040"/>
            <a:ext cx="337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ffffff"/>
                </a:solidFill>
                <a:latin typeface="LMSans10"/>
                <a:ea typeface="LMSans10"/>
              </a:rPr>
              <a:t>caveat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3087720" y="1027800"/>
            <a:ext cx="2180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Bihar’s pre-period income and urbanisation lie at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3087720" y="1148040"/>
            <a:ext cx="15156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the</a:t>
            </a:r>
            <a:r>
              <a:rPr b="0" i="1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lower edge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of the donor pool.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4682160" y="1148040"/>
            <a:ext cx="6012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A naive SCM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3087720" y="1268280"/>
            <a:ext cx="21207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optimiser collapses to a</a:t>
            </a:r>
            <a:r>
              <a:rPr b="1" lang="en-US" sz="790" spc="-1" strike="noStrike">
                <a:solidFill>
                  <a:srgbClr val="ef4444"/>
                </a:solidFill>
                <a:latin typeface="LMSans10"/>
                <a:ea typeface="LMSans10"/>
              </a:rPr>
              <a:t> corner solution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(100%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3087720" y="1388520"/>
            <a:ext cx="541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UP weight).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3087720" y="1562760"/>
            <a:ext cx="16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Fix: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3601080" y="1562760"/>
            <a:ext cx="316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include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4104360" y="1562760"/>
            <a:ext cx="290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lagged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4582080" y="1562760"/>
            <a:ext cx="427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outcomes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5198400" y="1562760"/>
            <a:ext cx="102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as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3087720" y="1697040"/>
            <a:ext cx="9608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Mono8"/>
                <a:ea typeface="LMMono8"/>
              </a:rPr>
              <a:t>special_predictors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4210920" y="1682640"/>
            <a:ext cx="352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(Abadie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4722840" y="1682640"/>
            <a:ext cx="217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2010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5097600" y="1682640"/>
            <a:ext cx="201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§IV)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3071520" y="1802880"/>
            <a:ext cx="2097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— 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this anchors the synthetic to Bihar’s actual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3087720" y="1923120"/>
            <a:ext cx="2027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trajectory, not just its socio-economic profile.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5433120" y="3047400"/>
            <a:ext cx="284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5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100080" y="5760"/>
            <a:ext cx="101124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Data — Panel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1159200" y="5760"/>
            <a:ext cx="88920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Construction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356040" y="516960"/>
            <a:ext cx="3650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f4c81"/>
                </a:solidFill>
                <a:latin typeface="LMSans10"/>
                <a:ea typeface="LMSans10"/>
              </a:rPr>
              <a:t>Annual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761760" y="516960"/>
            <a:ext cx="12200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f4c81"/>
                </a:solidFill>
                <a:latin typeface="LMSans10"/>
                <a:ea typeface="LMSans10"/>
              </a:rPr>
              <a:t>state panel, 2010–2022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2015640" y="516600"/>
            <a:ext cx="5950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— </a:t>
            </a:r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15 states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2649240" y="52632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Symbols9"/>
                <a:ea typeface="LMMathSymbols9"/>
              </a:rPr>
              <a:t>×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2779200" y="516600"/>
            <a:ext cx="9867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13 years = 195 obs.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3807720" y="516600"/>
            <a:ext cx="13539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Telangana excluded (only 2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359640" y="956880"/>
            <a:ext cx="5040000" cy="0"/>
          </a:xfrm>
          <a:prstGeom prst="line">
            <a:avLst/>
          </a:prstGeom>
          <a:ln w="10800">
            <a:solidFill>
              <a:srgbClr val="0a3a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00" rIns="5400" tIns="-5400" bIns="-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284040" y="1002240"/>
            <a:ext cx="1227600" cy="204840"/>
          </a:xfrm>
          <a:custGeom>
            <a:avLst/>
            <a:gdLst/>
            <a:ahLst/>
            <a:rect l="0" t="0" r="r" b="b"/>
            <a:pathLst>
              <a:path w="3410" h="569">
                <a:moveTo>
                  <a:pt x="0" y="569"/>
                </a:moveTo>
                <a:lnTo>
                  <a:pt x="3410" y="569"/>
                </a:lnTo>
                <a:lnTo>
                  <a:pt x="3410" y="0"/>
                </a:lnTo>
                <a:lnTo>
                  <a:pt x="0" y="0"/>
                </a:lnTo>
                <a:lnTo>
                  <a:pt x="0" y="569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360000" y="688680"/>
            <a:ext cx="20595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pre-treatment obs after 2014 bifurcation).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1511280" y="1002240"/>
            <a:ext cx="2752200" cy="204840"/>
          </a:xfrm>
          <a:custGeom>
            <a:avLst/>
            <a:gdLst/>
            <a:ahLst/>
            <a:rect l="0" t="0" r="r" b="b"/>
            <a:pathLst>
              <a:path w="7645" h="569">
                <a:moveTo>
                  <a:pt x="0" y="569"/>
                </a:moveTo>
                <a:lnTo>
                  <a:pt x="7645" y="569"/>
                </a:lnTo>
                <a:lnTo>
                  <a:pt x="7645" y="0"/>
                </a:lnTo>
                <a:lnTo>
                  <a:pt x="0" y="0"/>
                </a:lnTo>
                <a:lnTo>
                  <a:pt x="0" y="569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360000" y="969840"/>
            <a:ext cx="37548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Variable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4263120" y="1002240"/>
            <a:ext cx="1212840" cy="204840"/>
          </a:xfrm>
          <a:custGeom>
            <a:avLst/>
            <a:gdLst/>
            <a:ahLst/>
            <a:rect l="0" t="0" r="r" b="b"/>
            <a:pathLst>
              <a:path w="3369" h="569">
                <a:moveTo>
                  <a:pt x="0" y="569"/>
                </a:moveTo>
                <a:lnTo>
                  <a:pt x="3369" y="569"/>
                </a:lnTo>
                <a:lnTo>
                  <a:pt x="3369" y="0"/>
                </a:lnTo>
                <a:lnTo>
                  <a:pt x="0" y="0"/>
                </a:lnTo>
                <a:lnTo>
                  <a:pt x="0" y="569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1587240" y="1054080"/>
            <a:ext cx="52056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Description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359640" y="1234800"/>
            <a:ext cx="5040000" cy="0"/>
          </a:xfrm>
          <a:prstGeom prst="line">
            <a:avLst/>
          </a:prstGeom>
          <a:ln w="6840">
            <a:solidFill>
              <a:srgbClr val="0a3a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240" rIns="3240" tIns="-3240" bIns="-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4339080" y="969840"/>
            <a:ext cx="31176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Source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360000" y="1259640"/>
            <a:ext cx="10674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Mono8"/>
                <a:ea typeface="LMMono8"/>
              </a:rPr>
              <a:t>road_accident_deaths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1587240" y="1245600"/>
            <a:ext cx="14029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Persons killed in road accidents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4339080" y="1245600"/>
            <a:ext cx="1056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MoRTH PDFs 2010–23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360000" y="1379880"/>
            <a:ext cx="9608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Mono8"/>
                <a:ea typeface="LMMono8"/>
              </a:rPr>
              <a:t>own_tax_revenue_cr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1587240" y="1365840"/>
            <a:ext cx="15552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State own-tax revenue (composite,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3188520" y="137448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Font Awesome 5 Free Solid"/>
                <a:ea typeface="Font Awesome 5 Free Solid"/>
              </a:rPr>
              <a:t>Ñ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3269880" y="1365840"/>
            <a:ext cx="1468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Cr)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4339080" y="1365840"/>
            <a:ext cx="9259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RBI Handbook T168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360000" y="1500120"/>
            <a:ext cx="101412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Mono8"/>
                <a:ea typeface="LMMono8"/>
              </a:rPr>
              <a:t>nsdp_pc_current_inr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1587240" y="1486080"/>
            <a:ext cx="17532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Net State Domestic Product per capita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4339080" y="1486080"/>
            <a:ext cx="872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RBI Handbook T19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360000" y="1620360"/>
            <a:ext cx="8010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Mono8"/>
                <a:ea typeface="LMMono8"/>
              </a:rPr>
              <a:t>nsdp_growth_yoy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1587240" y="1606320"/>
            <a:ext cx="2018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YoY % growth of NSDP per capita (derived)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4339080" y="1606320"/>
            <a:ext cx="9165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Computed from T19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360000" y="1740600"/>
            <a:ext cx="8010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Mono8"/>
                <a:ea typeface="LMMono8"/>
              </a:rPr>
              <a:t>urban_share_pct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1587240" y="1726560"/>
            <a:ext cx="1043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Urban population share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4339080" y="1726560"/>
            <a:ext cx="10004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Census 2011 + interp.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360000" y="1860840"/>
            <a:ext cx="9075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Mono8"/>
                <a:ea typeface="LMMono8"/>
              </a:rPr>
              <a:t>literacy_rate_pct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1587240" y="1846800"/>
            <a:ext cx="10065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Literacy rate (age 7+)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359640" y="2029320"/>
            <a:ext cx="5040000" cy="0"/>
          </a:xfrm>
          <a:prstGeom prst="line">
            <a:avLst/>
          </a:prstGeom>
          <a:ln w="10800">
            <a:solidFill>
              <a:srgbClr val="0a3a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00" rIns="5400" tIns="-5400" bIns="-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359640" y="2239200"/>
            <a:ext cx="5040720" cy="370800"/>
          </a:xfrm>
          <a:custGeom>
            <a:avLst/>
            <a:gdLst/>
            <a:ahLst/>
            <a:rect l="0" t="0" r="r" b="b"/>
            <a:pathLst>
              <a:path w="14002" h="1030">
                <a:moveTo>
                  <a:pt x="0" y="907"/>
                </a:moveTo>
                <a:lnTo>
                  <a:pt x="0" y="123"/>
                </a:lnTo>
                <a:cubicBezTo>
                  <a:pt x="0" y="55"/>
                  <a:pt x="56" y="0"/>
                  <a:pt x="123" y="0"/>
                </a:cubicBezTo>
                <a:lnTo>
                  <a:pt x="13879" y="0"/>
                </a:lnTo>
                <a:cubicBezTo>
                  <a:pt x="13947" y="0"/>
                  <a:pt x="14002" y="55"/>
                  <a:pt x="14002" y="123"/>
                </a:cubicBezTo>
                <a:lnTo>
                  <a:pt x="14002" y="907"/>
                </a:lnTo>
                <a:cubicBezTo>
                  <a:pt x="14002" y="975"/>
                  <a:pt x="13947" y="1030"/>
                  <a:pt x="13879" y="1030"/>
                </a:cubicBezTo>
                <a:lnTo>
                  <a:pt x="123" y="1030"/>
                </a:lnTo>
                <a:cubicBezTo>
                  <a:pt x="56" y="1030"/>
                  <a:pt x="0" y="975"/>
                  <a:pt x="0" y="907"/>
                </a:cubicBez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366120" y="2245320"/>
            <a:ext cx="5027760" cy="358560"/>
          </a:xfrm>
          <a:custGeom>
            <a:avLst/>
            <a:gdLst/>
            <a:ahLst/>
            <a:rect l="0" t="0" r="r" b="b"/>
            <a:pathLst>
              <a:path w="13966" h="996">
                <a:moveTo>
                  <a:pt x="0" y="890"/>
                </a:moveTo>
                <a:lnTo>
                  <a:pt x="0" y="106"/>
                </a:lnTo>
                <a:cubicBezTo>
                  <a:pt x="0" y="47"/>
                  <a:pt x="47" y="0"/>
                  <a:pt x="105" y="0"/>
                </a:cubicBezTo>
                <a:lnTo>
                  <a:pt x="13861" y="0"/>
                </a:lnTo>
                <a:cubicBezTo>
                  <a:pt x="13919" y="0"/>
                  <a:pt x="13966" y="47"/>
                  <a:pt x="13966" y="106"/>
                </a:cubicBezTo>
                <a:lnTo>
                  <a:pt x="13966" y="890"/>
                </a:lnTo>
                <a:cubicBezTo>
                  <a:pt x="13966" y="949"/>
                  <a:pt x="13919" y="996"/>
                  <a:pt x="13861" y="996"/>
                </a:cubicBezTo>
                <a:lnTo>
                  <a:pt x="105" y="996"/>
                </a:lnTo>
                <a:cubicBezTo>
                  <a:pt x="47" y="996"/>
                  <a:pt x="0" y="949"/>
                  <a:pt x="0" y="890"/>
                </a:cubicBezTo>
                <a:close/>
              </a:path>
            </a:pathLst>
          </a:custGeom>
          <a:solidFill>
            <a:srgbClr val="f5f5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4339080" y="1846800"/>
            <a:ext cx="10004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Census 2011 + interp.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449280" y="2273040"/>
            <a:ext cx="82656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Acquisition stack.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1334520" y="2273040"/>
            <a:ext cx="1527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MoRTH PDFs via Wayback CDX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2907360" y="228168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MathSymbols8"/>
                <a:ea typeface="LMMathSymbols8"/>
              </a:rPr>
              <a:t>→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3052440" y="2287080"/>
            <a:ext cx="3740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Mono8"/>
                <a:ea typeface="LMMono8"/>
              </a:rPr>
              <a:t>camelot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3466080" y="2273040"/>
            <a:ext cx="11008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stream-mode extraction.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4635720" y="2273040"/>
            <a:ext cx="659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RBI behind F5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452880" y="2393280"/>
            <a:ext cx="1145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BIG-IP TSPD cookie wall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1641600" y="2393280"/>
            <a:ext cx="945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— 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two-step warmup.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2630160" y="2393280"/>
            <a:ext cx="166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Full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2831400" y="2393280"/>
            <a:ext cx="695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provenance log: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3576600" y="2407320"/>
            <a:ext cx="13356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Mono8"/>
                <a:ea typeface="LMMono8"/>
              </a:rPr>
              <a:t>data/raw/bihar/SOURCES.md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4921200" y="2393280"/>
            <a:ext cx="100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5433120" y="3047400"/>
            <a:ext cx="284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6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281" name="" descr=""/>
          <p:cNvPicPr/>
          <p:nvPr/>
        </p:nvPicPr>
        <p:blipFill>
          <a:blip r:embed="rId1"/>
          <a:stretch/>
        </p:blipFill>
        <p:spPr>
          <a:xfrm>
            <a:off x="360000" y="696960"/>
            <a:ext cx="2922840" cy="1441440"/>
          </a:xfrm>
          <a:prstGeom prst="rect">
            <a:avLst/>
          </a:prstGeom>
          <a:ln w="0">
            <a:noFill/>
          </a:ln>
        </p:spPr>
      </p:pic>
      <p:sp>
        <p:nvSpPr>
          <p:cNvPr id="282" name=""/>
          <p:cNvSpPr txBox="1"/>
          <p:nvPr/>
        </p:nvSpPr>
        <p:spPr>
          <a:xfrm>
            <a:off x="100080" y="5760"/>
            <a:ext cx="282780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Pre-Treatment EDA — Donor Selection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3379320" y="644040"/>
            <a:ext cx="198360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0f4c81"/>
                </a:solidFill>
                <a:latin typeface="LMSans10"/>
                <a:ea typeface="LMSans10"/>
              </a:rPr>
              <a:t>Top correlated donors (pre-2016):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3520800" y="85824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3658320" y="848520"/>
            <a:ext cx="1718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Jharkhand, Odisha, UP, MP, West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3661200" y="987480"/>
            <a:ext cx="3344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Bengal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3520800" y="118728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3661200" y="1177200"/>
            <a:ext cx="15980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Geographic neighbours &amp; similar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3661200" y="1316520"/>
            <a:ext cx="9259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income trajectories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3520800" y="151596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3661200" y="1506240"/>
            <a:ext cx="5857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Pre-period</a:t>
            </a:r>
            <a:r>
              <a:rPr b="0" i="1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 r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4296960" y="151596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Italic9"/>
                <a:ea typeface="LMMathItalic9"/>
              </a:rPr>
              <a:t>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4420440" y="1506240"/>
            <a:ext cx="113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0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4478760" y="151596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Italic9"/>
                <a:ea typeface="LMMathItalic9"/>
              </a:rPr>
              <a:t>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3384000" y="1890720"/>
            <a:ext cx="2016360" cy="614160"/>
          </a:xfrm>
          <a:custGeom>
            <a:avLst/>
            <a:gdLst/>
            <a:ahLst/>
            <a:rect l="0" t="0" r="r" b="b"/>
            <a:pathLst>
              <a:path w="5601" h="1706">
                <a:moveTo>
                  <a:pt x="0" y="1579"/>
                </a:moveTo>
                <a:lnTo>
                  <a:pt x="0" y="127"/>
                </a:lnTo>
                <a:cubicBezTo>
                  <a:pt x="0" y="57"/>
                  <a:pt x="56" y="0"/>
                  <a:pt x="126" y="0"/>
                </a:cubicBezTo>
                <a:lnTo>
                  <a:pt x="5474" y="0"/>
                </a:lnTo>
                <a:cubicBezTo>
                  <a:pt x="5544" y="0"/>
                  <a:pt x="5601" y="57"/>
                  <a:pt x="5601" y="127"/>
                </a:cubicBezTo>
                <a:lnTo>
                  <a:pt x="5601" y="1579"/>
                </a:lnTo>
                <a:cubicBezTo>
                  <a:pt x="5601" y="1649"/>
                  <a:pt x="5544" y="1706"/>
                  <a:pt x="5474" y="1706"/>
                </a:cubicBezTo>
                <a:lnTo>
                  <a:pt x="126" y="1706"/>
                </a:lnTo>
                <a:cubicBezTo>
                  <a:pt x="56" y="1706"/>
                  <a:pt x="0" y="1649"/>
                  <a:pt x="0" y="1579"/>
                </a:cubicBezTo>
                <a:close/>
              </a:path>
            </a:pathLst>
          </a:custGeom>
          <a:solidFill>
            <a:srgbClr val="dc823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3391560" y="1898280"/>
            <a:ext cx="2000880" cy="599040"/>
          </a:xfrm>
          <a:custGeom>
            <a:avLst/>
            <a:gdLst/>
            <a:ahLst/>
            <a:rect l="0" t="0" r="r" b="b"/>
            <a:pathLst>
              <a:path w="5558" h="1664">
                <a:moveTo>
                  <a:pt x="0" y="1558"/>
                </a:moveTo>
                <a:lnTo>
                  <a:pt x="0" y="106"/>
                </a:lnTo>
                <a:cubicBezTo>
                  <a:pt x="0" y="47"/>
                  <a:pt x="47" y="0"/>
                  <a:pt x="105" y="0"/>
                </a:cubicBezTo>
                <a:lnTo>
                  <a:pt x="5453" y="0"/>
                </a:lnTo>
                <a:cubicBezTo>
                  <a:pt x="5511" y="0"/>
                  <a:pt x="5558" y="47"/>
                  <a:pt x="5558" y="106"/>
                </a:cubicBezTo>
                <a:lnTo>
                  <a:pt x="5558" y="1558"/>
                </a:lnTo>
                <a:cubicBezTo>
                  <a:pt x="5558" y="1616"/>
                  <a:pt x="5511" y="1664"/>
                  <a:pt x="5453" y="1664"/>
                </a:cubicBezTo>
                <a:lnTo>
                  <a:pt x="105" y="1664"/>
                </a:lnTo>
                <a:cubicBezTo>
                  <a:pt x="47" y="1664"/>
                  <a:pt x="0" y="1616"/>
                  <a:pt x="0" y="1558"/>
                </a:cubicBezTo>
                <a:close/>
              </a:path>
            </a:pathLst>
          </a:custGeom>
          <a:solidFill>
            <a:srgbClr val="fdf1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4511520" y="1506240"/>
            <a:ext cx="531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9 for top 3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3485520" y="1926000"/>
            <a:ext cx="80856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Why this matters.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4335840" y="1926000"/>
            <a:ext cx="962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Donor pool must span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3490920" y="2046240"/>
            <a:ext cx="1616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Bihar’s pre-trend in</a:t>
            </a:r>
            <a:r>
              <a:rPr b="0" i="1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outcome space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5164920" y="2046240"/>
            <a:ext cx="1440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Se-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3490920" y="2166480"/>
            <a:ext cx="17456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lecting on outcome correlation is more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3490920" y="2286720"/>
            <a:ext cx="1796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robust than selecting on covariates alone.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5433120" y="3047400"/>
            <a:ext cx="284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7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100080" y="5760"/>
            <a:ext cx="205056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Method — Synthetic Control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356040" y="687240"/>
            <a:ext cx="6818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Treated unit</a:t>
            </a:r>
            <a:r>
              <a:rPr b="0" i="1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 i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1069560" y="687240"/>
            <a:ext cx="12898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= 1 (Bihar) and</a:t>
            </a:r>
            <a:r>
              <a:rPr b="0" i="1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 J</a:t>
            </a:r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 donors.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2404440" y="687240"/>
            <a:ext cx="7567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Choose weights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3197880" y="687240"/>
            <a:ext cx="1134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a3a66"/>
                </a:solidFill>
                <a:latin typeface="LMSans10"/>
                <a:ea typeface="LMSans10"/>
              </a:rPr>
              <a:t>w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3315240" y="687240"/>
            <a:ext cx="2552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= (</a:t>
            </a:r>
            <a:r>
              <a:rPr b="0" i="1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w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3564360" y="743760"/>
            <a:ext cx="75600" cy="11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a3a66"/>
                </a:solidFill>
                <a:latin typeface="LMSans8"/>
                <a:ea typeface="LMSans8"/>
              </a:rPr>
              <a:t>2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3610800" y="696960"/>
            <a:ext cx="2660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Italic9"/>
                <a:ea typeface="LMMathItalic9"/>
              </a:rPr>
              <a:t>, . . . ,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3871080" y="687240"/>
            <a:ext cx="113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w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3951000" y="744480"/>
            <a:ext cx="141120" cy="11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00" spc="-1" strike="noStrike">
                <a:solidFill>
                  <a:srgbClr val="0a3a66"/>
                </a:solidFill>
                <a:latin typeface="LMSans8"/>
                <a:ea typeface="LMSans8"/>
              </a:rPr>
              <a:t>J</a:t>
            </a:r>
            <a:r>
              <a:rPr b="0" lang="en-US" sz="600" spc="-1" strike="noStrike">
                <a:solidFill>
                  <a:srgbClr val="0a3a66"/>
                </a:solidFill>
                <a:latin typeface="LMSans8"/>
                <a:ea typeface="LMSans8"/>
              </a:rPr>
              <a:t>+1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4105080" y="687240"/>
            <a:ext cx="113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)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4150440" y="689040"/>
            <a:ext cx="7560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00" spc="-1" strike="noStrike">
                <a:solidFill>
                  <a:srgbClr val="0a3a66"/>
                </a:solidFill>
                <a:latin typeface="LMMathSymbols6"/>
                <a:ea typeface="LMMathSymbols6"/>
              </a:rPr>
              <a:t>⊤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359640" y="974160"/>
            <a:ext cx="5040720" cy="410040"/>
          </a:xfrm>
          <a:custGeom>
            <a:avLst/>
            <a:gdLst/>
            <a:ahLst/>
            <a:rect l="0" t="0" r="r" b="b"/>
            <a:pathLst>
              <a:path w="14002" h="1139">
                <a:moveTo>
                  <a:pt x="0" y="1012"/>
                </a:moveTo>
                <a:lnTo>
                  <a:pt x="0" y="127"/>
                </a:lnTo>
                <a:cubicBezTo>
                  <a:pt x="0" y="57"/>
                  <a:pt x="57" y="0"/>
                  <a:pt x="127" y="0"/>
                </a:cubicBezTo>
                <a:lnTo>
                  <a:pt x="13875" y="0"/>
                </a:lnTo>
                <a:cubicBezTo>
                  <a:pt x="13945" y="0"/>
                  <a:pt x="14002" y="57"/>
                  <a:pt x="14002" y="127"/>
                </a:cubicBezTo>
                <a:lnTo>
                  <a:pt x="14002" y="1012"/>
                </a:lnTo>
                <a:cubicBezTo>
                  <a:pt x="14002" y="1082"/>
                  <a:pt x="13945" y="1139"/>
                  <a:pt x="13875" y="1139"/>
                </a:cubicBezTo>
                <a:lnTo>
                  <a:pt x="127" y="1139"/>
                </a:lnTo>
                <a:cubicBezTo>
                  <a:pt x="57" y="1139"/>
                  <a:pt x="0" y="1082"/>
                  <a:pt x="0" y="1012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367560" y="981720"/>
            <a:ext cx="5025240" cy="394920"/>
          </a:xfrm>
          <a:custGeom>
            <a:avLst/>
            <a:gdLst/>
            <a:ahLst/>
            <a:rect l="0" t="0" r="r" b="b"/>
            <a:pathLst>
              <a:path w="13959" h="1097">
                <a:moveTo>
                  <a:pt x="0" y="991"/>
                </a:moveTo>
                <a:lnTo>
                  <a:pt x="0" y="107"/>
                </a:lnTo>
                <a:cubicBezTo>
                  <a:pt x="0" y="48"/>
                  <a:pt x="47" y="0"/>
                  <a:pt x="105" y="0"/>
                </a:cubicBezTo>
                <a:lnTo>
                  <a:pt x="13853" y="0"/>
                </a:lnTo>
                <a:cubicBezTo>
                  <a:pt x="13911" y="0"/>
                  <a:pt x="13959" y="48"/>
                  <a:pt x="13959" y="107"/>
                </a:cubicBezTo>
                <a:lnTo>
                  <a:pt x="13959" y="991"/>
                </a:lnTo>
                <a:cubicBezTo>
                  <a:pt x="13959" y="1050"/>
                  <a:pt x="13911" y="1097"/>
                  <a:pt x="13853" y="1097"/>
                </a:cubicBezTo>
                <a:lnTo>
                  <a:pt x="105" y="1097"/>
                </a:lnTo>
                <a:cubicBezTo>
                  <a:pt x="47" y="1097"/>
                  <a:pt x="0" y="1050"/>
                  <a:pt x="0" y="991"/>
                </a:cubicBezTo>
                <a:close/>
              </a:path>
            </a:pathLst>
          </a:custGeom>
          <a:solidFill>
            <a:srgbClr val="ecf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4268880" y="687240"/>
            <a:ext cx="4107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to solve: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1143360" y="1055520"/>
            <a:ext cx="12600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000000"/>
                </a:solidFill>
                <a:latin typeface="LMSans10"/>
                <a:ea typeface="LMSans10"/>
              </a:rPr>
              <a:t>w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1237680" y="1054440"/>
            <a:ext cx="8820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90" spc="-1" strike="noStrike">
                <a:solidFill>
                  <a:srgbClr val="000000"/>
                </a:solidFill>
                <a:latin typeface="LMMathSymbols7"/>
                <a:ea typeface="LMMathSymbols7"/>
              </a:rPr>
              <a:t>∗</a:t>
            </a:r>
            <a:endParaRPr b="0" lang="en-US" sz="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1366200" y="1055520"/>
            <a:ext cx="54648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9" spc="-1" strike="noStrike">
                <a:solidFill>
                  <a:srgbClr val="000000"/>
                </a:solidFill>
                <a:latin typeface="LMSans10"/>
                <a:ea typeface="LMSans10"/>
              </a:rPr>
              <a:t>= arg min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1721520" y="1180800"/>
            <a:ext cx="8820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90" spc="-1" strike="noStrike">
                <a:solidFill>
                  <a:srgbClr val="000000"/>
                </a:solidFill>
                <a:latin typeface="LMSans10"/>
                <a:ea typeface="LMSans10"/>
              </a:rPr>
              <a:t>w</a:t>
            </a:r>
            <a:endParaRPr b="0" lang="en-US" sz="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1787400" y="1188360"/>
            <a:ext cx="15300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90" spc="-1" strike="noStrike">
                <a:solidFill>
                  <a:srgbClr val="000000"/>
                </a:solidFill>
                <a:latin typeface="LMMathSymbols7"/>
                <a:ea typeface="LMMathSymbols7"/>
              </a:rPr>
              <a:t>∈</a:t>
            </a:r>
            <a:r>
              <a:rPr b="0" i="1" lang="en-US" sz="690" spc="-1" strike="noStrike">
                <a:solidFill>
                  <a:srgbClr val="000000"/>
                </a:solidFill>
                <a:latin typeface="LMMathSymbols7"/>
                <a:ea typeface="LMMathSymbols7"/>
              </a:rPr>
              <a:t>W</a:t>
            </a:r>
            <a:endParaRPr b="0" lang="en-US" sz="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1998720" y="958680"/>
            <a:ext cx="126000" cy="33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1998720" y="1034640"/>
            <a:ext cx="126000" cy="33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2068920" y="1055520"/>
            <a:ext cx="12600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89" spc="-1" strike="noStrike">
                <a:solidFill>
                  <a:srgbClr val="000000"/>
                </a:solidFill>
                <a:latin typeface="LMSans10"/>
                <a:ea typeface="LMSans10"/>
              </a:rPr>
              <a:t>X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2153520" y="1118160"/>
            <a:ext cx="8820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90" spc="-1" strike="noStrike">
                <a:solidFill>
                  <a:srgbClr val="000000"/>
                </a:solidFill>
                <a:latin typeface="LMSans8"/>
                <a:ea typeface="LMSans8"/>
              </a:rPr>
              <a:t>1</a:t>
            </a:r>
            <a:endParaRPr b="0" lang="en-US" sz="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2234880" y="1066320"/>
            <a:ext cx="126000" cy="17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89" spc="-1" strike="noStrike">
                <a:solidFill>
                  <a:srgbClr val="000000"/>
                </a:solidFill>
                <a:latin typeface="LMMathSymbols10"/>
                <a:ea typeface="LMMathSymbols10"/>
              </a:rPr>
              <a:t>−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2361600" y="1055520"/>
            <a:ext cx="12600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89" spc="-1" strike="noStrike">
                <a:solidFill>
                  <a:srgbClr val="000000"/>
                </a:solidFill>
                <a:latin typeface="LMSans10"/>
                <a:ea typeface="LMSans10"/>
              </a:rPr>
              <a:t>X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2445840" y="1118160"/>
            <a:ext cx="8820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90" spc="-1" strike="noStrike">
                <a:solidFill>
                  <a:srgbClr val="000000"/>
                </a:solidFill>
                <a:latin typeface="LMSans8"/>
                <a:ea typeface="LMSans8"/>
              </a:rPr>
              <a:t>0</a:t>
            </a:r>
            <a:endParaRPr b="0" lang="en-US" sz="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2520360" y="1055520"/>
            <a:ext cx="12600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000000"/>
                </a:solidFill>
                <a:latin typeface="LMSans10"/>
                <a:ea typeface="LMSans10"/>
              </a:rPr>
              <a:t>w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2614680" y="958680"/>
            <a:ext cx="126000" cy="33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2614680" y="1034640"/>
            <a:ext cx="126000" cy="33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2684880" y="1149840"/>
            <a:ext cx="8820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90" spc="-1" strike="noStrike">
                <a:solidFill>
                  <a:srgbClr val="000000"/>
                </a:solidFill>
                <a:latin typeface="LMSans8"/>
                <a:ea typeface="LMSans8"/>
              </a:rPr>
              <a:t>V</a:t>
            </a:r>
            <a:endParaRPr b="0" lang="en-US" sz="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2789280" y="1066320"/>
            <a:ext cx="126000" cy="17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89" spc="-1" strike="noStrike">
                <a:solidFill>
                  <a:srgbClr val="000000"/>
                </a:solidFill>
                <a:latin typeface="LMMathItalic10"/>
                <a:ea typeface="LMMathItalic10"/>
              </a:rPr>
              <a:t>,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2972160" y="1066320"/>
            <a:ext cx="126000" cy="17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89" spc="-1" strike="noStrike">
                <a:solidFill>
                  <a:srgbClr val="000000"/>
                </a:solidFill>
                <a:latin typeface="LMMathSymbols10"/>
                <a:ea typeface="LMMathSymbols10"/>
              </a:rPr>
              <a:t>W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3142440" y="1055520"/>
            <a:ext cx="12600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9" spc="-1" strike="noStrike">
                <a:solidFill>
                  <a:srgbClr val="000000"/>
                </a:solidFill>
                <a:latin typeface="LMSans10"/>
                <a:ea typeface="LMSans10"/>
              </a:rPr>
              <a:t>=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3276000" y="925920"/>
            <a:ext cx="126000" cy="17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9" spc="-1" strike="noStrike">
                <a:solidFill>
                  <a:srgbClr val="000000"/>
                </a:solidFill>
                <a:latin typeface="LMMathExtension10"/>
                <a:ea typeface="LMMathExtension10"/>
              </a:rPr>
              <a:t>n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3360600" y="1055520"/>
            <a:ext cx="21384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000000"/>
                </a:solidFill>
                <a:latin typeface="LMSans10"/>
                <a:ea typeface="LMSans10"/>
              </a:rPr>
              <a:t>w</a:t>
            </a:r>
            <a:r>
              <a:rPr b="0" lang="en-US" sz="989" spc="-1" strike="noStrike">
                <a:solidFill>
                  <a:srgbClr val="000000"/>
                </a:solidFill>
                <a:latin typeface="LMSans10"/>
                <a:ea typeface="LMSans10"/>
              </a:rPr>
              <a:t>:</a:t>
            </a:r>
            <a:r>
              <a:rPr b="0" i="1" lang="en-US" sz="989" spc="-1" strike="noStrike">
                <a:solidFill>
                  <a:srgbClr val="000000"/>
                </a:solidFill>
                <a:latin typeface="LMSans10"/>
                <a:ea typeface="LMSans10"/>
              </a:rPr>
              <a:t>w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3604680" y="1118160"/>
            <a:ext cx="8820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90" spc="-1" strike="noStrike">
                <a:solidFill>
                  <a:srgbClr val="000000"/>
                </a:solidFill>
                <a:latin typeface="LMSans8"/>
                <a:ea typeface="LMSans8"/>
              </a:rPr>
              <a:t>j</a:t>
            </a:r>
            <a:endParaRPr b="0" lang="en-US" sz="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3678480" y="1066320"/>
            <a:ext cx="126000" cy="17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89" spc="-1" strike="noStrike">
                <a:solidFill>
                  <a:srgbClr val="000000"/>
                </a:solidFill>
                <a:latin typeface="LMMathSymbols10"/>
                <a:ea typeface="LMMathSymbols10"/>
              </a:rPr>
              <a:t>≥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3812040" y="1055520"/>
            <a:ext cx="12600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9" spc="-1" strike="noStrike">
                <a:solidFill>
                  <a:srgbClr val="000000"/>
                </a:solidFill>
                <a:latin typeface="LMSans10"/>
                <a:ea typeface="LMSans10"/>
              </a:rPr>
              <a:t>0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3875400" y="1066320"/>
            <a:ext cx="126000" cy="17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89" spc="-1" strike="noStrike">
                <a:solidFill>
                  <a:srgbClr val="000000"/>
                </a:solidFill>
                <a:latin typeface="LMMathItalic10"/>
                <a:ea typeface="LMMathItalic10"/>
              </a:rPr>
              <a:t>,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3966840" y="946080"/>
            <a:ext cx="126000" cy="17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9" spc="-1" strike="noStrike">
                <a:solidFill>
                  <a:srgbClr val="000000"/>
                </a:solidFill>
                <a:latin typeface="LMMathExtension10"/>
                <a:ea typeface="LMMathExtension10"/>
              </a:rPr>
              <a:t>X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4170600" y="1055520"/>
            <a:ext cx="12600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89" spc="-1" strike="noStrike">
                <a:solidFill>
                  <a:srgbClr val="000000"/>
                </a:solidFill>
                <a:latin typeface="LMSans10"/>
                <a:ea typeface="LMSans10"/>
              </a:rPr>
              <a:t>w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4257000" y="1118160"/>
            <a:ext cx="8820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90" spc="-1" strike="noStrike">
                <a:solidFill>
                  <a:srgbClr val="000000"/>
                </a:solidFill>
                <a:latin typeface="LMSans8"/>
                <a:ea typeface="LMSans8"/>
              </a:rPr>
              <a:t>j</a:t>
            </a:r>
            <a:endParaRPr b="0" lang="en-US" sz="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4330800" y="1055520"/>
            <a:ext cx="20340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9" spc="-1" strike="noStrike">
                <a:solidFill>
                  <a:srgbClr val="000000"/>
                </a:solidFill>
                <a:latin typeface="LMSans10"/>
                <a:ea typeface="LMSans10"/>
              </a:rPr>
              <a:t>= 1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4527720" y="925920"/>
            <a:ext cx="126000" cy="17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9" spc="-1" strike="noStrike">
                <a:solidFill>
                  <a:srgbClr val="000000"/>
                </a:solidFill>
                <a:latin typeface="LMMathExtension10"/>
                <a:ea typeface="LMMathExtension10"/>
              </a:rPr>
              <a:t>o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360000" y="1477800"/>
            <a:ext cx="100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X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431640" y="1522080"/>
            <a:ext cx="75600" cy="11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a3a66"/>
                </a:solidFill>
                <a:latin typeface="LMSans8"/>
                <a:ea typeface="LMSans8"/>
              </a:rPr>
              <a:t>1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478440" y="1477800"/>
            <a:ext cx="100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: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555840" y="1477800"/>
            <a:ext cx="1349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predictor vector for treated;</a:t>
            </a:r>
            <a:r>
              <a:rPr b="0" i="1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 X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1902600" y="1522080"/>
            <a:ext cx="75600" cy="11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a3a66"/>
                </a:solidFill>
                <a:latin typeface="LMSans8"/>
                <a:ea typeface="LMSans8"/>
              </a:rPr>
              <a:t>0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1949040" y="1477800"/>
            <a:ext cx="100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: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2026800" y="1477800"/>
            <a:ext cx="100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K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2136960" y="148644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Symbols8"/>
                <a:ea typeface="LMMathSymbols8"/>
              </a:rPr>
              <a:t>×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2244600" y="1477800"/>
            <a:ext cx="861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J</a:t>
            </a:r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 donor matrix;</a:t>
            </a:r>
            <a:r>
              <a:rPr b="0" i="1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 V</a:t>
            </a:r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 :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3147120" y="1477800"/>
            <a:ext cx="20826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predictor-importance weight matrix (chosen to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360000" y="1598040"/>
            <a:ext cx="12657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minimise pre-period MSPE).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356040" y="1830600"/>
            <a:ext cx="19558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f4c81"/>
                </a:solidFill>
                <a:latin typeface="LMSans10"/>
                <a:ea typeface="LMSans10"/>
              </a:rPr>
              <a:t>Two consequences of the convex-hull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2332800" y="1830600"/>
            <a:ext cx="5540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f4c81"/>
                </a:solidFill>
                <a:latin typeface="LMSans10"/>
                <a:ea typeface="LMSans10"/>
              </a:rPr>
              <a:t>constraint: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496800" y="203004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637200" y="2020320"/>
            <a:ext cx="47570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Synthetic Bihar cannot extrapolate beyond the donor envelope — good for honest counterfactuals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496800" y="221976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637200" y="2210040"/>
            <a:ext cx="23965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Near a corner, weights collapse to a single donor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3050640" y="221976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Symbols9"/>
                <a:ea typeface="LMMathSymbols9"/>
              </a:rPr>
              <a:t>⇒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3206520" y="2210040"/>
            <a:ext cx="19256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poor pre-fit + spurious post-period gap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5433120" y="3047400"/>
            <a:ext cx="284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8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94680" y="5760"/>
            <a:ext cx="117864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The Convex Hull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75" name="" descr=""/>
          <p:cNvPicPr/>
          <p:nvPr/>
        </p:nvPicPr>
        <p:blipFill>
          <a:blip r:embed="rId1"/>
          <a:stretch/>
        </p:blipFill>
        <p:spPr>
          <a:xfrm>
            <a:off x="360000" y="516600"/>
            <a:ext cx="2519640" cy="1992600"/>
          </a:xfrm>
          <a:prstGeom prst="rect">
            <a:avLst/>
          </a:prstGeom>
          <a:ln w="0">
            <a:noFill/>
          </a:ln>
        </p:spPr>
      </p:pic>
      <p:sp>
        <p:nvSpPr>
          <p:cNvPr id="376" name=""/>
          <p:cNvSpPr txBox="1"/>
          <p:nvPr/>
        </p:nvSpPr>
        <p:spPr>
          <a:xfrm>
            <a:off x="1324080" y="5760"/>
            <a:ext cx="164052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Problem — And Its Fix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474840" y="2538000"/>
            <a:ext cx="17546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Bihar persistently</a:t>
            </a:r>
            <a:r>
              <a:rPr b="0" i="1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 below</a:t>
            </a:r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 the donor pool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2280960" y="2538000"/>
            <a:ext cx="480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average on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1150200" y="2658240"/>
            <a:ext cx="954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road-accident deaths.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3075120" y="458280"/>
            <a:ext cx="93348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0f4c81"/>
                </a:solidFill>
                <a:latin typeface="LMSans10"/>
                <a:ea typeface="LMSans10"/>
              </a:rPr>
              <a:t>Without the fix.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3218040" y="67248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3358800" y="662760"/>
            <a:ext cx="20109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Match on socio-economic predictors only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3218040" y="86220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3358800" y="852480"/>
            <a:ext cx="1628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Optimiser picks 100% UP weight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3218040" y="105192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3358800" y="1042200"/>
            <a:ext cx="5965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Pre-RMSPE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3991680" y="105192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ef4444"/>
                </a:solidFill>
                <a:latin typeface="LMMathSymbols9"/>
                <a:ea typeface="LMMathSymbols9"/>
              </a:rPr>
              <a:t>∼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4082760" y="1042560"/>
            <a:ext cx="6696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ef4444"/>
                </a:solidFill>
                <a:latin typeface="LMSans10"/>
                <a:ea typeface="LMSans10"/>
              </a:rPr>
              <a:t>1,300 deaths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4749840" y="1042200"/>
            <a:ext cx="4946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; post gap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3358800" y="1181520"/>
            <a:ext cx="5799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meaningless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3075120" y="1428840"/>
            <a:ext cx="232632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0f4c81"/>
                </a:solidFill>
                <a:latin typeface="LMSans10"/>
                <a:ea typeface="LMSans10"/>
              </a:rPr>
              <a:t>With lagged-outcome anchoring (Abadie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3081600" y="1567800"/>
            <a:ext cx="62388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0f4c81"/>
                </a:solidFill>
                <a:latin typeface="LMSans10"/>
                <a:ea typeface="LMSans10"/>
              </a:rPr>
              <a:t>2010 §IV).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3218040" y="178200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3358800" y="1772280"/>
            <a:ext cx="15490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Each pre-period year’s outcome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4937400" y="178200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Symbols9"/>
                <a:ea typeface="LMMathSymbols9"/>
              </a:rPr>
              <a:t>→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5093640" y="1772280"/>
            <a:ext cx="113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a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3358800" y="1927080"/>
            <a:ext cx="10202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Mono9"/>
                <a:ea typeface="LMMono9"/>
              </a:rPr>
              <a:t>special_predictor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3218040" y="211104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3358800" y="2101320"/>
            <a:ext cx="10278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Pre-RMSPE drops to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4423320" y="2101320"/>
            <a:ext cx="5022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1b9e4b"/>
                </a:solidFill>
                <a:latin typeface="LMSans10"/>
                <a:ea typeface="LMSans10"/>
              </a:rPr>
              <a:t>42 deaths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4963680" y="2101320"/>
            <a:ext cx="112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(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5008680" y="211104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Italic9"/>
                <a:ea typeface="LMMathItalic9"/>
              </a:rPr>
              <a:t>&lt;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5112720" y="2101320"/>
            <a:ext cx="287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1% of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3358800" y="2240280"/>
            <a:ext cx="10706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mean) — excellent fit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5433120" y="3047400"/>
            <a:ext cx="284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9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08" name="" descr=""/>
          <p:cNvPicPr/>
          <p:nvPr/>
        </p:nvPicPr>
        <p:blipFill>
          <a:blip r:embed="rId1"/>
          <a:stretch/>
        </p:blipFill>
        <p:spPr>
          <a:xfrm>
            <a:off x="1116000" y="384120"/>
            <a:ext cx="3527640" cy="1579680"/>
          </a:xfrm>
          <a:prstGeom prst="rect">
            <a:avLst/>
          </a:prstGeom>
          <a:ln w="0">
            <a:noFill/>
          </a:ln>
        </p:spPr>
      </p:pic>
      <p:sp>
        <p:nvSpPr>
          <p:cNvPr id="409" name=""/>
          <p:cNvSpPr/>
          <p:nvPr/>
        </p:nvSpPr>
        <p:spPr>
          <a:xfrm>
            <a:off x="359640" y="2276280"/>
            <a:ext cx="1613520" cy="424440"/>
          </a:xfrm>
          <a:custGeom>
            <a:avLst/>
            <a:gdLst/>
            <a:ahLst/>
            <a:rect l="0" t="0" r="r" b="b"/>
            <a:pathLst>
              <a:path w="4482" h="1179">
                <a:moveTo>
                  <a:pt x="0" y="1038"/>
                </a:moveTo>
                <a:lnTo>
                  <a:pt x="0" y="140"/>
                </a:lnTo>
                <a:cubicBezTo>
                  <a:pt x="0" y="63"/>
                  <a:pt x="63" y="0"/>
                  <a:pt x="141" y="0"/>
                </a:cubicBezTo>
                <a:lnTo>
                  <a:pt x="4341" y="0"/>
                </a:lnTo>
                <a:cubicBezTo>
                  <a:pt x="4419" y="0"/>
                  <a:pt x="4482" y="63"/>
                  <a:pt x="4482" y="140"/>
                </a:cubicBezTo>
                <a:lnTo>
                  <a:pt x="4482" y="1038"/>
                </a:lnTo>
                <a:cubicBezTo>
                  <a:pt x="4482" y="1116"/>
                  <a:pt x="4419" y="1179"/>
                  <a:pt x="4341" y="1179"/>
                </a:cubicBezTo>
                <a:lnTo>
                  <a:pt x="141" y="1179"/>
                </a:lnTo>
                <a:cubicBezTo>
                  <a:pt x="63" y="1179"/>
                  <a:pt x="0" y="1116"/>
                  <a:pt x="0" y="1038"/>
                </a:cubicBezTo>
                <a:close/>
              </a:path>
            </a:pathLst>
          </a:custGeom>
          <a:solidFill>
            <a:srgbClr val="0a3a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359640" y="2276280"/>
            <a:ext cx="1613520" cy="424440"/>
          </a:xfrm>
          <a:custGeom>
            <a:avLst/>
            <a:gdLst/>
            <a:ahLst/>
            <a:rect l="0" t="0" r="r" b="b"/>
            <a:pathLst>
              <a:path w="4482" h="1179">
                <a:moveTo>
                  <a:pt x="0" y="1038"/>
                </a:moveTo>
                <a:lnTo>
                  <a:pt x="0" y="140"/>
                </a:lnTo>
                <a:cubicBezTo>
                  <a:pt x="0" y="63"/>
                  <a:pt x="63" y="0"/>
                  <a:pt x="141" y="0"/>
                </a:cubicBezTo>
                <a:lnTo>
                  <a:pt x="4341" y="0"/>
                </a:lnTo>
                <a:cubicBezTo>
                  <a:pt x="4419" y="0"/>
                  <a:pt x="4482" y="63"/>
                  <a:pt x="4482" y="140"/>
                </a:cubicBezTo>
                <a:lnTo>
                  <a:pt x="4482" y="1038"/>
                </a:lnTo>
                <a:cubicBezTo>
                  <a:pt x="4482" y="1116"/>
                  <a:pt x="4419" y="1179"/>
                  <a:pt x="4341" y="1179"/>
                </a:cubicBezTo>
                <a:lnTo>
                  <a:pt x="141" y="1179"/>
                </a:lnTo>
                <a:cubicBezTo>
                  <a:pt x="63" y="1179"/>
                  <a:pt x="0" y="1116"/>
                  <a:pt x="0" y="1038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100080" y="5760"/>
            <a:ext cx="351360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Result — Bihar vs Synthetic Bihar (Road Deaths)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904680" y="2293200"/>
            <a:ext cx="38952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4a261"/>
                </a:solidFill>
                <a:latin typeface="LMSans10"/>
                <a:ea typeface="LMSans10"/>
              </a:rPr>
              <a:t>22.87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1292400" y="2306160"/>
            <a:ext cx="1515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i="1" lang="en-US" sz="1200" spc="-1" strike="noStrike">
                <a:solidFill>
                  <a:srgbClr val="f4a261"/>
                </a:solidFill>
                <a:latin typeface="LMMathSymbols10"/>
                <a:ea typeface="LMMathSymbols10"/>
              </a:rPr>
              <a:t>×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2073240" y="2276280"/>
            <a:ext cx="1613520" cy="550800"/>
          </a:xfrm>
          <a:custGeom>
            <a:avLst/>
            <a:gdLst/>
            <a:ahLst/>
            <a:rect l="0" t="0" r="r" b="b"/>
            <a:pathLst>
              <a:path w="4482" h="1530">
                <a:moveTo>
                  <a:pt x="0" y="1390"/>
                </a:moveTo>
                <a:lnTo>
                  <a:pt x="0" y="140"/>
                </a:lnTo>
                <a:cubicBezTo>
                  <a:pt x="0" y="63"/>
                  <a:pt x="63" y="0"/>
                  <a:pt x="141" y="0"/>
                </a:cubicBezTo>
                <a:lnTo>
                  <a:pt x="4341" y="0"/>
                </a:lnTo>
                <a:cubicBezTo>
                  <a:pt x="4419" y="0"/>
                  <a:pt x="4482" y="63"/>
                  <a:pt x="4482" y="140"/>
                </a:cubicBezTo>
                <a:lnTo>
                  <a:pt x="4482" y="1390"/>
                </a:lnTo>
                <a:cubicBezTo>
                  <a:pt x="4482" y="1468"/>
                  <a:pt x="4419" y="1530"/>
                  <a:pt x="4341" y="1530"/>
                </a:cubicBezTo>
                <a:lnTo>
                  <a:pt x="141" y="1530"/>
                </a:lnTo>
                <a:cubicBezTo>
                  <a:pt x="63" y="1530"/>
                  <a:pt x="0" y="1468"/>
                  <a:pt x="0" y="1390"/>
                </a:cubicBezTo>
                <a:close/>
              </a:path>
            </a:pathLst>
          </a:custGeom>
          <a:solidFill>
            <a:srgbClr val="0a3a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2073240" y="2276280"/>
            <a:ext cx="1613520" cy="550800"/>
          </a:xfrm>
          <a:custGeom>
            <a:avLst/>
            <a:gdLst/>
            <a:ahLst/>
            <a:rect l="0" t="0" r="r" b="b"/>
            <a:pathLst>
              <a:path w="4482" h="1530">
                <a:moveTo>
                  <a:pt x="0" y="1390"/>
                </a:moveTo>
                <a:lnTo>
                  <a:pt x="0" y="140"/>
                </a:lnTo>
                <a:cubicBezTo>
                  <a:pt x="0" y="63"/>
                  <a:pt x="63" y="0"/>
                  <a:pt x="141" y="0"/>
                </a:cubicBezTo>
                <a:lnTo>
                  <a:pt x="4341" y="0"/>
                </a:lnTo>
                <a:cubicBezTo>
                  <a:pt x="4419" y="0"/>
                  <a:pt x="4482" y="63"/>
                  <a:pt x="4482" y="140"/>
                </a:cubicBezTo>
                <a:lnTo>
                  <a:pt x="4482" y="1390"/>
                </a:lnTo>
                <a:cubicBezTo>
                  <a:pt x="4482" y="1468"/>
                  <a:pt x="4419" y="1530"/>
                  <a:pt x="4341" y="1530"/>
                </a:cubicBezTo>
                <a:lnTo>
                  <a:pt x="141" y="1530"/>
                </a:lnTo>
                <a:cubicBezTo>
                  <a:pt x="63" y="1530"/>
                  <a:pt x="0" y="1468"/>
                  <a:pt x="0" y="1390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581040" y="2471760"/>
            <a:ext cx="114984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RMSPE ratio (post/pre)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2514960" y="2299680"/>
            <a:ext cx="72468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4a261"/>
                </a:solidFill>
                <a:latin typeface="LMSans10"/>
                <a:ea typeface="LMSans10"/>
              </a:rPr>
              <a:t>+360 / yr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2419920" y="2478240"/>
            <a:ext cx="89820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avg post-treatment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3786840" y="2276280"/>
            <a:ext cx="1613520" cy="424440"/>
          </a:xfrm>
          <a:custGeom>
            <a:avLst/>
            <a:gdLst/>
            <a:ahLst/>
            <a:rect l="0" t="0" r="r" b="b"/>
            <a:pathLst>
              <a:path w="4482" h="1179">
                <a:moveTo>
                  <a:pt x="0" y="1038"/>
                </a:moveTo>
                <a:lnTo>
                  <a:pt x="0" y="140"/>
                </a:lnTo>
                <a:cubicBezTo>
                  <a:pt x="0" y="63"/>
                  <a:pt x="63" y="0"/>
                  <a:pt x="141" y="0"/>
                </a:cubicBezTo>
                <a:lnTo>
                  <a:pt x="4341" y="0"/>
                </a:lnTo>
                <a:cubicBezTo>
                  <a:pt x="4419" y="0"/>
                  <a:pt x="4482" y="63"/>
                  <a:pt x="4482" y="140"/>
                </a:cubicBezTo>
                <a:lnTo>
                  <a:pt x="4482" y="1038"/>
                </a:lnTo>
                <a:cubicBezTo>
                  <a:pt x="4482" y="1116"/>
                  <a:pt x="4419" y="1179"/>
                  <a:pt x="4341" y="1179"/>
                </a:cubicBezTo>
                <a:lnTo>
                  <a:pt x="141" y="1179"/>
                </a:lnTo>
                <a:cubicBezTo>
                  <a:pt x="63" y="1179"/>
                  <a:pt x="0" y="1116"/>
                  <a:pt x="0" y="1038"/>
                </a:cubicBezTo>
                <a:close/>
              </a:path>
            </a:pathLst>
          </a:custGeom>
          <a:solidFill>
            <a:srgbClr val="0a3a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3786840" y="2276280"/>
            <a:ext cx="1613520" cy="424440"/>
          </a:xfrm>
          <a:custGeom>
            <a:avLst/>
            <a:gdLst/>
            <a:ahLst/>
            <a:rect l="0" t="0" r="r" b="b"/>
            <a:pathLst>
              <a:path w="4482" h="1179">
                <a:moveTo>
                  <a:pt x="0" y="1038"/>
                </a:moveTo>
                <a:lnTo>
                  <a:pt x="0" y="140"/>
                </a:lnTo>
                <a:cubicBezTo>
                  <a:pt x="0" y="63"/>
                  <a:pt x="63" y="0"/>
                  <a:pt x="141" y="0"/>
                </a:cubicBezTo>
                <a:lnTo>
                  <a:pt x="4341" y="0"/>
                </a:lnTo>
                <a:cubicBezTo>
                  <a:pt x="4419" y="0"/>
                  <a:pt x="4482" y="63"/>
                  <a:pt x="4482" y="140"/>
                </a:cubicBezTo>
                <a:lnTo>
                  <a:pt x="4482" y="1038"/>
                </a:lnTo>
                <a:cubicBezTo>
                  <a:pt x="4482" y="1116"/>
                  <a:pt x="4419" y="1179"/>
                  <a:pt x="4341" y="1179"/>
                </a:cubicBezTo>
                <a:lnTo>
                  <a:pt x="141" y="1179"/>
                </a:lnTo>
                <a:cubicBezTo>
                  <a:pt x="63" y="1179"/>
                  <a:pt x="0" y="1116"/>
                  <a:pt x="0" y="1038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2578680" y="2598480"/>
            <a:ext cx="59652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gap (deaths)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4253040" y="2293200"/>
            <a:ext cx="15444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4a261"/>
                </a:solidFill>
                <a:latin typeface="LMSans10"/>
                <a:ea typeface="LMSans10"/>
              </a:rPr>
              <a:t>p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4385880" y="2306160"/>
            <a:ext cx="1515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200" spc="-1" strike="noStrike">
                <a:solidFill>
                  <a:srgbClr val="f4a261"/>
                </a:solidFill>
                <a:latin typeface="LMMathSymbols10"/>
                <a:ea typeface="LMMathSymbols10"/>
              </a:rPr>
              <a:t>≈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4550400" y="2293200"/>
            <a:ext cx="38952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4a261"/>
                </a:solidFill>
                <a:latin typeface="LMSans10"/>
                <a:ea typeface="LMSans10"/>
              </a:rPr>
              <a:t>0.071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3981240" y="2471760"/>
            <a:ext cx="59976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permutation,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4637520" y="2471760"/>
            <a:ext cx="54036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rank 2 / 14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5379480" y="3047400"/>
            <a:ext cx="337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10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30" name="" descr=""/>
          <p:cNvPicPr/>
          <p:nvPr/>
        </p:nvPicPr>
        <p:blipFill>
          <a:blip r:embed="rId1"/>
          <a:stretch/>
        </p:blipFill>
        <p:spPr>
          <a:xfrm>
            <a:off x="360000" y="563760"/>
            <a:ext cx="2771640" cy="986040"/>
          </a:xfrm>
          <a:prstGeom prst="rect">
            <a:avLst/>
          </a:prstGeom>
          <a:ln w="0">
            <a:noFill/>
          </a:ln>
        </p:spPr>
      </p:pic>
      <p:sp>
        <p:nvSpPr>
          <p:cNvPr id="431" name=""/>
          <p:cNvSpPr txBox="1"/>
          <p:nvPr/>
        </p:nvSpPr>
        <p:spPr>
          <a:xfrm>
            <a:off x="94680" y="5760"/>
            <a:ext cx="241632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Treatment Effect — Year by Year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3283200" y="789120"/>
            <a:ext cx="2117160" cy="498240"/>
          </a:xfrm>
          <a:custGeom>
            <a:avLst/>
            <a:gdLst/>
            <a:ahLst/>
            <a:rect l="0" t="0" r="r" b="b"/>
            <a:pathLst>
              <a:path w="5881" h="1384">
                <a:moveTo>
                  <a:pt x="0" y="1257"/>
                </a:moveTo>
                <a:lnTo>
                  <a:pt x="0" y="127"/>
                </a:lnTo>
                <a:cubicBezTo>
                  <a:pt x="0" y="57"/>
                  <a:pt x="56" y="0"/>
                  <a:pt x="126" y="0"/>
                </a:cubicBezTo>
                <a:lnTo>
                  <a:pt x="5754" y="0"/>
                </a:lnTo>
                <a:cubicBezTo>
                  <a:pt x="5824" y="0"/>
                  <a:pt x="5881" y="57"/>
                  <a:pt x="5881" y="127"/>
                </a:cubicBezTo>
                <a:lnTo>
                  <a:pt x="5881" y="1257"/>
                </a:lnTo>
                <a:cubicBezTo>
                  <a:pt x="5881" y="1327"/>
                  <a:pt x="5824" y="1384"/>
                  <a:pt x="5754" y="1384"/>
                </a:cubicBezTo>
                <a:lnTo>
                  <a:pt x="126" y="1384"/>
                </a:lnTo>
                <a:cubicBezTo>
                  <a:pt x="56" y="1384"/>
                  <a:pt x="0" y="1327"/>
                  <a:pt x="0" y="1257"/>
                </a:cubicBezTo>
                <a:close/>
              </a:path>
            </a:pathLst>
          </a:custGeom>
          <a:solidFill>
            <a:srgbClr val="6fd99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3290760" y="797040"/>
            <a:ext cx="2101680" cy="482760"/>
          </a:xfrm>
          <a:custGeom>
            <a:avLst/>
            <a:gdLst/>
            <a:ahLst/>
            <a:rect l="0" t="0" r="r" b="b"/>
            <a:pathLst>
              <a:path w="5838" h="1341">
                <a:moveTo>
                  <a:pt x="0" y="1236"/>
                </a:moveTo>
                <a:lnTo>
                  <a:pt x="0" y="105"/>
                </a:lnTo>
                <a:cubicBezTo>
                  <a:pt x="0" y="47"/>
                  <a:pt x="47" y="0"/>
                  <a:pt x="105" y="0"/>
                </a:cubicBezTo>
                <a:lnTo>
                  <a:pt x="5733" y="0"/>
                </a:lnTo>
                <a:cubicBezTo>
                  <a:pt x="5791" y="0"/>
                  <a:pt x="5838" y="47"/>
                  <a:pt x="5838" y="105"/>
                </a:cubicBezTo>
                <a:lnTo>
                  <a:pt x="5838" y="1236"/>
                </a:lnTo>
                <a:cubicBezTo>
                  <a:pt x="5838" y="1294"/>
                  <a:pt x="5791" y="1341"/>
                  <a:pt x="5733" y="1341"/>
                </a:cubicBezTo>
                <a:lnTo>
                  <a:pt x="105" y="1341"/>
                </a:lnTo>
                <a:cubicBezTo>
                  <a:pt x="47" y="1341"/>
                  <a:pt x="0" y="1294"/>
                  <a:pt x="0" y="1236"/>
                </a:cubicBezTo>
                <a:close/>
              </a:path>
            </a:pathLst>
          </a:custGeom>
          <a:solidFill>
            <a:srgbClr val="e9f9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3278520" y="505800"/>
            <a:ext cx="119232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0f4c81"/>
                </a:solidFill>
                <a:latin typeface="LMSans10"/>
                <a:ea typeface="LMSans10"/>
              </a:rPr>
              <a:t>Two distinct phases: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3390120" y="828720"/>
            <a:ext cx="112104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2016–2017 (lives saved).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4570200" y="83736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MathSymbols8"/>
                <a:ea typeface="LMMathSymbols8"/>
              </a:rPr>
              <a:t>∼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4654080" y="828720"/>
            <a:ext cx="6361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600–900 fewer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3390120" y="948960"/>
            <a:ext cx="1873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deaths than counterfactual; consistent with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3283200" y="1513080"/>
            <a:ext cx="2117160" cy="598680"/>
          </a:xfrm>
          <a:custGeom>
            <a:avLst/>
            <a:gdLst/>
            <a:ahLst/>
            <a:rect l="0" t="0" r="r" b="b"/>
            <a:pathLst>
              <a:path w="5881" h="1663">
                <a:moveTo>
                  <a:pt x="0" y="1535"/>
                </a:moveTo>
                <a:lnTo>
                  <a:pt x="0" y="127"/>
                </a:lnTo>
                <a:cubicBezTo>
                  <a:pt x="0" y="57"/>
                  <a:pt x="56" y="0"/>
                  <a:pt x="126" y="0"/>
                </a:cubicBezTo>
                <a:lnTo>
                  <a:pt x="5754" y="0"/>
                </a:lnTo>
                <a:cubicBezTo>
                  <a:pt x="5824" y="0"/>
                  <a:pt x="5881" y="57"/>
                  <a:pt x="5881" y="127"/>
                </a:cubicBezTo>
                <a:lnTo>
                  <a:pt x="5881" y="1535"/>
                </a:lnTo>
                <a:cubicBezTo>
                  <a:pt x="5881" y="1605"/>
                  <a:pt x="5824" y="1663"/>
                  <a:pt x="5754" y="1663"/>
                </a:cubicBezTo>
                <a:lnTo>
                  <a:pt x="126" y="1663"/>
                </a:lnTo>
                <a:cubicBezTo>
                  <a:pt x="56" y="1663"/>
                  <a:pt x="0" y="1605"/>
                  <a:pt x="0" y="1535"/>
                </a:cubicBezTo>
                <a:close/>
              </a:path>
            </a:pathLst>
          </a:custGeom>
          <a:solidFill>
            <a:srgbClr val="f6989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3290760" y="1520640"/>
            <a:ext cx="2101680" cy="583560"/>
          </a:xfrm>
          <a:custGeom>
            <a:avLst/>
            <a:gdLst/>
            <a:ahLst/>
            <a:rect l="0" t="0" r="r" b="b"/>
            <a:pathLst>
              <a:path w="5838" h="1621">
                <a:moveTo>
                  <a:pt x="0" y="1515"/>
                </a:moveTo>
                <a:lnTo>
                  <a:pt x="0" y="106"/>
                </a:lnTo>
                <a:cubicBezTo>
                  <a:pt x="0" y="47"/>
                  <a:pt x="47" y="0"/>
                  <a:pt x="105" y="0"/>
                </a:cubicBezTo>
                <a:lnTo>
                  <a:pt x="5733" y="0"/>
                </a:lnTo>
                <a:cubicBezTo>
                  <a:pt x="5791" y="0"/>
                  <a:pt x="5838" y="47"/>
                  <a:pt x="5838" y="106"/>
                </a:cubicBezTo>
                <a:lnTo>
                  <a:pt x="5838" y="1515"/>
                </a:lnTo>
                <a:cubicBezTo>
                  <a:pt x="5838" y="1574"/>
                  <a:pt x="5791" y="1621"/>
                  <a:pt x="5733" y="1621"/>
                </a:cubicBezTo>
                <a:lnTo>
                  <a:pt x="105" y="1621"/>
                </a:lnTo>
                <a:cubicBezTo>
                  <a:pt x="47" y="1621"/>
                  <a:pt x="0" y="1574"/>
                  <a:pt x="0" y="1515"/>
                </a:cubicBezTo>
                <a:close/>
              </a:path>
            </a:pathLst>
          </a:custGeom>
          <a:solidFill>
            <a:srgbClr val="fef0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1" name=""/>
          <p:cNvSpPr txBox="1"/>
          <p:nvPr/>
        </p:nvSpPr>
        <p:spPr>
          <a:xfrm>
            <a:off x="3390120" y="1069200"/>
            <a:ext cx="1018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immediate compliance.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3390120" y="1552680"/>
            <a:ext cx="130968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2018–2022 (effect reverses).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3" name=""/>
          <p:cNvSpPr txBox="1"/>
          <p:nvPr/>
        </p:nvSpPr>
        <p:spPr>
          <a:xfrm>
            <a:off x="4743000" y="1552680"/>
            <a:ext cx="554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Bihar climbs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3390120" y="1672920"/>
            <a:ext cx="2599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above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3728160" y="1672920"/>
            <a:ext cx="4046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synthetic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4208760" y="1672920"/>
            <a:ext cx="105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by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4384800" y="1672920"/>
            <a:ext cx="3315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+1,000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8" name=""/>
          <p:cNvSpPr txBox="1"/>
          <p:nvPr/>
        </p:nvSpPr>
        <p:spPr>
          <a:xfrm>
            <a:off x="4791600" y="1672920"/>
            <a:ext cx="102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to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9" name=""/>
          <p:cNvSpPr txBox="1"/>
          <p:nvPr/>
        </p:nvSpPr>
        <p:spPr>
          <a:xfrm>
            <a:off x="4957920" y="1672920"/>
            <a:ext cx="3315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+3,300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3390120" y="1792800"/>
            <a:ext cx="18723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deaths/yr — consistent with illicit-market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3283200" y="2337480"/>
            <a:ext cx="2117160" cy="366840"/>
          </a:xfrm>
          <a:custGeom>
            <a:avLst/>
            <a:gdLst/>
            <a:ahLst/>
            <a:rect l="0" t="0" r="r" b="b"/>
            <a:pathLst>
              <a:path w="5881" h="1019">
                <a:moveTo>
                  <a:pt x="0" y="892"/>
                </a:moveTo>
                <a:lnTo>
                  <a:pt x="0" y="127"/>
                </a:lnTo>
                <a:cubicBezTo>
                  <a:pt x="0" y="56"/>
                  <a:pt x="56" y="0"/>
                  <a:pt x="126" y="0"/>
                </a:cubicBezTo>
                <a:lnTo>
                  <a:pt x="5754" y="0"/>
                </a:lnTo>
                <a:cubicBezTo>
                  <a:pt x="5824" y="0"/>
                  <a:pt x="5881" y="56"/>
                  <a:pt x="5881" y="127"/>
                </a:cubicBezTo>
                <a:lnTo>
                  <a:pt x="5881" y="892"/>
                </a:lnTo>
                <a:cubicBezTo>
                  <a:pt x="5881" y="962"/>
                  <a:pt x="5824" y="1019"/>
                  <a:pt x="5754" y="1019"/>
                </a:cubicBezTo>
                <a:lnTo>
                  <a:pt x="126" y="1019"/>
                </a:lnTo>
                <a:cubicBezTo>
                  <a:pt x="56" y="1019"/>
                  <a:pt x="0" y="962"/>
                  <a:pt x="0" y="892"/>
                </a:cubicBezTo>
                <a:close/>
              </a:path>
            </a:pathLst>
          </a:custGeom>
          <a:solidFill>
            <a:srgbClr val="dc823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3290760" y="2345040"/>
            <a:ext cx="2101680" cy="351720"/>
          </a:xfrm>
          <a:custGeom>
            <a:avLst/>
            <a:gdLst/>
            <a:ahLst/>
            <a:rect l="0" t="0" r="r" b="b"/>
            <a:pathLst>
              <a:path w="5838" h="977">
                <a:moveTo>
                  <a:pt x="0" y="871"/>
                </a:moveTo>
                <a:lnTo>
                  <a:pt x="0" y="105"/>
                </a:lnTo>
                <a:cubicBezTo>
                  <a:pt x="0" y="47"/>
                  <a:pt x="47" y="0"/>
                  <a:pt x="105" y="0"/>
                </a:cubicBezTo>
                <a:lnTo>
                  <a:pt x="5733" y="0"/>
                </a:lnTo>
                <a:cubicBezTo>
                  <a:pt x="5791" y="0"/>
                  <a:pt x="5838" y="47"/>
                  <a:pt x="5838" y="105"/>
                </a:cubicBezTo>
                <a:lnTo>
                  <a:pt x="5838" y="871"/>
                </a:lnTo>
                <a:cubicBezTo>
                  <a:pt x="5838" y="930"/>
                  <a:pt x="5791" y="977"/>
                  <a:pt x="5733" y="977"/>
                </a:cubicBezTo>
                <a:lnTo>
                  <a:pt x="105" y="977"/>
                </a:lnTo>
                <a:cubicBezTo>
                  <a:pt x="47" y="977"/>
                  <a:pt x="0" y="930"/>
                  <a:pt x="0" y="871"/>
                </a:cubicBezTo>
                <a:close/>
              </a:path>
            </a:pathLst>
          </a:custGeom>
          <a:solidFill>
            <a:srgbClr val="fdf1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3390120" y="1913040"/>
            <a:ext cx="16754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substitution and weaker enforcement.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3390120" y="2372760"/>
            <a:ext cx="70956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Donor weights: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4171320" y="2372760"/>
            <a:ext cx="7473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dc823c"/>
                </a:solidFill>
                <a:latin typeface="LMSans10"/>
                <a:ea typeface="LMSans10"/>
              </a:rPr>
              <a:t>Jharkhand 0.68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4977720" y="2372760"/>
            <a:ext cx="3117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Odisha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3390120" y="2492640"/>
            <a:ext cx="6516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0.16, UP 0.16.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5379480" y="3047400"/>
            <a:ext cx="337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11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61" name="" descr=""/>
          <p:cNvPicPr/>
          <p:nvPr/>
        </p:nvPicPr>
        <p:blipFill>
          <a:blip r:embed="rId1"/>
          <a:stretch/>
        </p:blipFill>
        <p:spPr>
          <a:xfrm>
            <a:off x="360000" y="574200"/>
            <a:ext cx="3023640" cy="1353600"/>
          </a:xfrm>
          <a:prstGeom prst="rect">
            <a:avLst/>
          </a:prstGeom>
          <a:ln w="0">
            <a:noFill/>
          </a:ln>
        </p:spPr>
      </p:pic>
      <p:sp>
        <p:nvSpPr>
          <p:cNvPr id="462" name=""/>
          <p:cNvSpPr txBox="1"/>
          <p:nvPr/>
        </p:nvSpPr>
        <p:spPr>
          <a:xfrm>
            <a:off x="100080" y="5760"/>
            <a:ext cx="212364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Inference — In-Space Placebo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3535200" y="516240"/>
            <a:ext cx="102780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0f4c81"/>
                </a:solidFill>
                <a:latin typeface="LMSans10"/>
                <a:ea typeface="LMSans10"/>
              </a:rPr>
              <a:t>Permutation test.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3535200" y="753120"/>
            <a:ext cx="18507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Refit SCM treating each of 13 donors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3535200" y="925200"/>
            <a:ext cx="6224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as if treated.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4207680" y="925200"/>
            <a:ext cx="9122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Bihar’s gap (navy)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3535200" y="1097280"/>
            <a:ext cx="18799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should stand out from placebos (gray)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3535200" y="1628640"/>
            <a:ext cx="1865160" cy="425160"/>
          </a:xfrm>
          <a:custGeom>
            <a:avLst/>
            <a:gdLst/>
            <a:ahLst/>
            <a:rect l="0" t="0" r="r" b="b"/>
            <a:pathLst>
              <a:path w="5181" h="1181">
                <a:moveTo>
                  <a:pt x="0" y="1040"/>
                </a:moveTo>
                <a:lnTo>
                  <a:pt x="0" y="140"/>
                </a:lnTo>
                <a:cubicBezTo>
                  <a:pt x="0" y="62"/>
                  <a:pt x="63" y="0"/>
                  <a:pt x="140" y="0"/>
                </a:cubicBezTo>
                <a:lnTo>
                  <a:pt x="5040" y="0"/>
                </a:lnTo>
                <a:cubicBezTo>
                  <a:pt x="5118" y="0"/>
                  <a:pt x="5181" y="62"/>
                  <a:pt x="5181" y="140"/>
                </a:cubicBezTo>
                <a:lnTo>
                  <a:pt x="5181" y="1040"/>
                </a:lnTo>
                <a:cubicBezTo>
                  <a:pt x="5181" y="1118"/>
                  <a:pt x="5118" y="1181"/>
                  <a:pt x="5040" y="1181"/>
                </a:cubicBezTo>
                <a:lnTo>
                  <a:pt x="140" y="1181"/>
                </a:lnTo>
                <a:cubicBezTo>
                  <a:pt x="63" y="1181"/>
                  <a:pt x="0" y="1118"/>
                  <a:pt x="0" y="1040"/>
                </a:cubicBezTo>
                <a:close/>
              </a:path>
            </a:pathLst>
          </a:custGeom>
          <a:solidFill>
            <a:srgbClr val="0a3a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3535200" y="1628640"/>
            <a:ext cx="1865160" cy="425160"/>
          </a:xfrm>
          <a:custGeom>
            <a:avLst/>
            <a:gdLst/>
            <a:ahLst/>
            <a:rect l="0" t="0" r="r" b="b"/>
            <a:pathLst>
              <a:path w="5181" h="1181">
                <a:moveTo>
                  <a:pt x="0" y="1040"/>
                </a:moveTo>
                <a:lnTo>
                  <a:pt x="0" y="140"/>
                </a:lnTo>
                <a:cubicBezTo>
                  <a:pt x="0" y="62"/>
                  <a:pt x="63" y="0"/>
                  <a:pt x="140" y="0"/>
                </a:cubicBezTo>
                <a:lnTo>
                  <a:pt x="5040" y="0"/>
                </a:lnTo>
                <a:cubicBezTo>
                  <a:pt x="5118" y="0"/>
                  <a:pt x="5181" y="62"/>
                  <a:pt x="5181" y="140"/>
                </a:cubicBezTo>
                <a:lnTo>
                  <a:pt x="5181" y="1040"/>
                </a:lnTo>
                <a:cubicBezTo>
                  <a:pt x="5181" y="1118"/>
                  <a:pt x="5118" y="1181"/>
                  <a:pt x="5040" y="1181"/>
                </a:cubicBezTo>
                <a:lnTo>
                  <a:pt x="140" y="1181"/>
                </a:lnTo>
                <a:cubicBezTo>
                  <a:pt x="63" y="1181"/>
                  <a:pt x="0" y="1118"/>
                  <a:pt x="0" y="1040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3535200" y="1269360"/>
            <a:ext cx="9259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if the effect is real.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4050360" y="1652040"/>
            <a:ext cx="87408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4a261"/>
                </a:solidFill>
                <a:latin typeface="LMSans10"/>
                <a:ea typeface="LMSans10"/>
              </a:rPr>
              <a:t>Rank 2 / 14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4222800" y="1830600"/>
            <a:ext cx="10296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p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4326840" y="183924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ffffff"/>
                </a:solidFill>
                <a:latin typeface="LMMathSymbols8"/>
                <a:ea typeface="LMMathSymbols8"/>
              </a:rPr>
              <a:t>≈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4456800" y="1830600"/>
            <a:ext cx="25524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0.071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5" name=""/>
          <p:cNvSpPr txBox="1"/>
          <p:nvPr/>
        </p:nvSpPr>
        <p:spPr>
          <a:xfrm>
            <a:off x="3535200" y="2208240"/>
            <a:ext cx="17456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Only Maharashtra has a larger ratio —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3535200" y="2379960"/>
            <a:ext cx="1820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consistent with its own outlier post-2018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3535200" y="2552040"/>
            <a:ext cx="1351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trajectory unrelated to alcohol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4927680" y="2552040"/>
            <a:ext cx="285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policy.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5379480" y="3047400"/>
            <a:ext cx="337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12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482" name="" descr=""/>
          <p:cNvPicPr/>
          <p:nvPr/>
        </p:nvPicPr>
        <p:blipFill>
          <a:blip r:embed="rId1"/>
          <a:stretch/>
        </p:blipFill>
        <p:spPr>
          <a:xfrm>
            <a:off x="360000" y="745560"/>
            <a:ext cx="3023640" cy="1353960"/>
          </a:xfrm>
          <a:prstGeom prst="rect">
            <a:avLst/>
          </a:prstGeom>
          <a:ln w="0">
            <a:noFill/>
          </a:ln>
        </p:spPr>
      </p:pic>
      <p:sp>
        <p:nvSpPr>
          <p:cNvPr id="483" name=""/>
          <p:cNvSpPr txBox="1"/>
          <p:nvPr/>
        </p:nvSpPr>
        <p:spPr>
          <a:xfrm>
            <a:off x="100080" y="5760"/>
            <a:ext cx="212364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Robustness — Leave-One-Out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3535200" y="687600"/>
            <a:ext cx="144864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0f4c81"/>
                </a:solidFill>
                <a:latin typeface="LMSans10"/>
                <a:ea typeface="LMSans10"/>
              </a:rPr>
              <a:t>Drop each donor in turn.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3535200" y="924480"/>
            <a:ext cx="16221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If a single donor were driving the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3535200" y="1096560"/>
            <a:ext cx="18385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result, removing it would collapse the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7" name=""/>
          <p:cNvSpPr txBox="1"/>
          <p:nvPr/>
        </p:nvSpPr>
        <p:spPr>
          <a:xfrm>
            <a:off x="3535200" y="1268640"/>
            <a:ext cx="4701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synthetic.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4056120" y="1268640"/>
            <a:ext cx="5022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Instead all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4595040" y="1268640"/>
            <a:ext cx="6757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13 LOO refits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3535200" y="1818000"/>
            <a:ext cx="1865160" cy="613800"/>
          </a:xfrm>
          <a:custGeom>
            <a:avLst/>
            <a:gdLst/>
            <a:ahLst/>
            <a:rect l="0" t="0" r="r" b="b"/>
            <a:pathLst>
              <a:path w="5181" h="1705">
                <a:moveTo>
                  <a:pt x="0" y="1579"/>
                </a:moveTo>
                <a:lnTo>
                  <a:pt x="0" y="126"/>
                </a:lnTo>
                <a:cubicBezTo>
                  <a:pt x="0" y="56"/>
                  <a:pt x="56" y="0"/>
                  <a:pt x="126" y="0"/>
                </a:cubicBezTo>
                <a:lnTo>
                  <a:pt x="5054" y="0"/>
                </a:lnTo>
                <a:cubicBezTo>
                  <a:pt x="5124" y="0"/>
                  <a:pt x="5181" y="56"/>
                  <a:pt x="5181" y="126"/>
                </a:cubicBezTo>
                <a:lnTo>
                  <a:pt x="5181" y="1579"/>
                </a:lnTo>
                <a:cubicBezTo>
                  <a:pt x="5181" y="1649"/>
                  <a:pt x="5124" y="1705"/>
                  <a:pt x="5054" y="1705"/>
                </a:cubicBezTo>
                <a:lnTo>
                  <a:pt x="126" y="1705"/>
                </a:lnTo>
                <a:cubicBezTo>
                  <a:pt x="56" y="1705"/>
                  <a:pt x="0" y="1649"/>
                  <a:pt x="0" y="1579"/>
                </a:cubicBezTo>
                <a:close/>
              </a:path>
            </a:pathLst>
          </a:custGeom>
          <a:solidFill>
            <a:srgbClr val="6fd99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3542760" y="1825560"/>
            <a:ext cx="1849680" cy="598680"/>
          </a:xfrm>
          <a:custGeom>
            <a:avLst/>
            <a:gdLst/>
            <a:ahLst/>
            <a:rect l="0" t="0" r="r" b="b"/>
            <a:pathLst>
              <a:path w="5138" h="1663">
                <a:moveTo>
                  <a:pt x="0" y="1558"/>
                </a:moveTo>
                <a:lnTo>
                  <a:pt x="0" y="105"/>
                </a:lnTo>
                <a:cubicBezTo>
                  <a:pt x="0" y="47"/>
                  <a:pt x="47" y="0"/>
                  <a:pt x="105" y="0"/>
                </a:cubicBezTo>
                <a:lnTo>
                  <a:pt x="5033" y="0"/>
                </a:lnTo>
                <a:cubicBezTo>
                  <a:pt x="5091" y="0"/>
                  <a:pt x="5138" y="47"/>
                  <a:pt x="5138" y="105"/>
                </a:cubicBezTo>
                <a:lnTo>
                  <a:pt x="5138" y="1558"/>
                </a:lnTo>
                <a:cubicBezTo>
                  <a:pt x="5138" y="1616"/>
                  <a:pt x="5091" y="1663"/>
                  <a:pt x="5033" y="1663"/>
                </a:cubicBezTo>
                <a:lnTo>
                  <a:pt x="105" y="1663"/>
                </a:lnTo>
                <a:cubicBezTo>
                  <a:pt x="47" y="1663"/>
                  <a:pt x="0" y="1616"/>
                  <a:pt x="0" y="1558"/>
                </a:cubicBezTo>
                <a:close/>
              </a:path>
            </a:pathLst>
          </a:custGeom>
          <a:solidFill>
            <a:srgbClr val="e9f9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3535200" y="1440720"/>
            <a:ext cx="15980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trace nearly the same trajectory.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3642120" y="1852920"/>
            <a:ext cx="281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Result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3979080" y="1852920"/>
            <a:ext cx="2595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is</a:t>
            </a:r>
            <a:r>
              <a:rPr b="1" lang="en-US" sz="790" spc="-1" strike="noStrike">
                <a:solidFill>
                  <a:srgbClr val="1b9e4b"/>
                </a:solidFill>
                <a:latin typeface="LMSans10"/>
                <a:ea typeface="LMSans10"/>
              </a:rPr>
              <a:t> not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4310640" y="1852920"/>
            <a:ext cx="92592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1b9e4b"/>
                </a:solidFill>
                <a:latin typeface="LMSans10"/>
                <a:ea typeface="LMSans10"/>
              </a:rPr>
              <a:t>driven by any single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3642120" y="1973160"/>
            <a:ext cx="16527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1b9e4b"/>
                </a:solidFill>
                <a:latin typeface="LMSans10"/>
                <a:ea typeface="LMSans10"/>
              </a:rPr>
              <a:t>donor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— including dropping the dom-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3642120" y="2093400"/>
            <a:ext cx="15901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inant Jharkhand weight produces a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3642120" y="2213640"/>
            <a:ext cx="843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materially identical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4526640" y="2213640"/>
            <a:ext cx="427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synthetic.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5379480" y="3047400"/>
            <a:ext cx="337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13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100080" y="5760"/>
            <a:ext cx="218772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Method — Bayesian Structural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2330640" y="5760"/>
            <a:ext cx="82512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Time Series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359640" y="826920"/>
            <a:ext cx="5040720" cy="306000"/>
          </a:xfrm>
          <a:custGeom>
            <a:avLst/>
            <a:gdLst/>
            <a:ahLst/>
            <a:rect l="0" t="0" r="r" b="b"/>
            <a:pathLst>
              <a:path w="14002" h="850">
                <a:moveTo>
                  <a:pt x="0" y="724"/>
                </a:moveTo>
                <a:lnTo>
                  <a:pt x="0" y="126"/>
                </a:lnTo>
                <a:cubicBezTo>
                  <a:pt x="0" y="56"/>
                  <a:pt x="57" y="0"/>
                  <a:pt x="127" y="0"/>
                </a:cubicBezTo>
                <a:lnTo>
                  <a:pt x="13875" y="0"/>
                </a:lnTo>
                <a:cubicBezTo>
                  <a:pt x="13945" y="0"/>
                  <a:pt x="14002" y="56"/>
                  <a:pt x="14002" y="126"/>
                </a:cubicBezTo>
                <a:lnTo>
                  <a:pt x="14002" y="724"/>
                </a:lnTo>
                <a:cubicBezTo>
                  <a:pt x="14002" y="793"/>
                  <a:pt x="13945" y="850"/>
                  <a:pt x="13875" y="850"/>
                </a:cubicBezTo>
                <a:lnTo>
                  <a:pt x="127" y="850"/>
                </a:lnTo>
                <a:cubicBezTo>
                  <a:pt x="57" y="850"/>
                  <a:pt x="0" y="793"/>
                  <a:pt x="0" y="724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367560" y="834480"/>
            <a:ext cx="5025240" cy="290880"/>
          </a:xfrm>
          <a:custGeom>
            <a:avLst/>
            <a:gdLst/>
            <a:ahLst/>
            <a:rect l="0" t="0" r="r" b="b"/>
            <a:pathLst>
              <a:path w="13959" h="808">
                <a:moveTo>
                  <a:pt x="0" y="703"/>
                </a:moveTo>
                <a:lnTo>
                  <a:pt x="0" y="105"/>
                </a:lnTo>
                <a:cubicBezTo>
                  <a:pt x="0" y="47"/>
                  <a:pt x="47" y="0"/>
                  <a:pt x="105" y="0"/>
                </a:cubicBezTo>
                <a:lnTo>
                  <a:pt x="13853" y="0"/>
                </a:lnTo>
                <a:cubicBezTo>
                  <a:pt x="13911" y="0"/>
                  <a:pt x="13959" y="47"/>
                  <a:pt x="13959" y="105"/>
                </a:cubicBezTo>
                <a:lnTo>
                  <a:pt x="13959" y="703"/>
                </a:lnTo>
                <a:cubicBezTo>
                  <a:pt x="13959" y="761"/>
                  <a:pt x="13911" y="808"/>
                  <a:pt x="13853" y="808"/>
                </a:cubicBezTo>
                <a:lnTo>
                  <a:pt x="105" y="808"/>
                </a:lnTo>
                <a:cubicBezTo>
                  <a:pt x="47" y="808"/>
                  <a:pt x="0" y="761"/>
                  <a:pt x="0" y="703"/>
                </a:cubicBezTo>
                <a:close/>
              </a:path>
            </a:pathLst>
          </a:custGeom>
          <a:solidFill>
            <a:srgbClr val="ecf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360000" y="540000"/>
            <a:ext cx="28504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Brodersen et al. (2015) decompose the observed series as: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2063520" y="880560"/>
            <a:ext cx="12600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89" spc="-1" strike="noStrike">
                <a:solidFill>
                  <a:srgbClr val="000000"/>
                </a:solidFill>
                <a:latin typeface="LMSans10"/>
                <a:ea typeface="LMSans10"/>
              </a:rPr>
              <a:t>y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2121840" y="943560"/>
            <a:ext cx="8820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90" spc="-1" strike="noStrike">
                <a:solidFill>
                  <a:srgbClr val="000000"/>
                </a:solidFill>
                <a:latin typeface="LMSans8"/>
                <a:ea typeface="LMSans8"/>
              </a:rPr>
              <a:t>t</a:t>
            </a:r>
            <a:endParaRPr b="0" lang="en-US" sz="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2238840" y="880560"/>
            <a:ext cx="12600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9" spc="-1" strike="noStrike">
                <a:solidFill>
                  <a:srgbClr val="000000"/>
                </a:solidFill>
                <a:latin typeface="LMSans10"/>
                <a:ea typeface="LMSans10"/>
              </a:rPr>
              <a:t>=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2407680" y="891360"/>
            <a:ext cx="126000" cy="17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89" spc="-1" strike="noStrike">
                <a:solidFill>
                  <a:srgbClr val="000000"/>
                </a:solidFill>
                <a:latin typeface="LMMathItalic10"/>
                <a:ea typeface="LMMathItalic10"/>
              </a:rPr>
              <a:t>µ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2483640" y="943560"/>
            <a:ext cx="8820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90" spc="-1" strike="noStrike">
                <a:solidFill>
                  <a:srgbClr val="000000"/>
                </a:solidFill>
                <a:latin typeface="LMSans8"/>
                <a:ea typeface="LMSans8"/>
              </a:rPr>
              <a:t>t</a:t>
            </a:r>
            <a:endParaRPr b="0" lang="en-US" sz="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2593800" y="880560"/>
            <a:ext cx="12600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9" spc="-1" strike="noStrike">
                <a:solidFill>
                  <a:srgbClr val="000000"/>
                </a:solidFill>
                <a:latin typeface="LMSans10"/>
                <a:ea typeface="LMSans10"/>
              </a:rPr>
              <a:t>+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2755440" y="891360"/>
            <a:ext cx="126000" cy="17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89" spc="-1" strike="noStrike">
                <a:solidFill>
                  <a:srgbClr val="000000"/>
                </a:solidFill>
                <a:latin typeface="LMMathItalic10"/>
                <a:ea typeface="LMMathItalic10"/>
              </a:rPr>
              <a:t>τ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2810880" y="943560"/>
            <a:ext cx="8820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90" spc="-1" strike="noStrike">
                <a:solidFill>
                  <a:srgbClr val="000000"/>
                </a:solidFill>
                <a:latin typeface="LMSans8"/>
                <a:ea typeface="LMSans8"/>
              </a:rPr>
              <a:t>t</a:t>
            </a:r>
            <a:endParaRPr b="0" lang="en-US" sz="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2921040" y="880560"/>
            <a:ext cx="12600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9" spc="-1" strike="noStrike">
                <a:solidFill>
                  <a:srgbClr val="000000"/>
                </a:solidFill>
                <a:latin typeface="LMSans10"/>
                <a:ea typeface="LMSans10"/>
              </a:rPr>
              <a:t>+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3082680" y="891360"/>
            <a:ext cx="126000" cy="17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i="1" lang="en-US" sz="989" spc="-1" strike="noStrike">
                <a:solidFill>
                  <a:srgbClr val="000000"/>
                </a:solidFill>
                <a:latin typeface="LMMathItalic10"/>
                <a:ea typeface="LMMathItalic10"/>
              </a:rPr>
              <a:t>β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3170520" y="875520"/>
            <a:ext cx="8820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90" spc="-1" strike="noStrike">
                <a:solidFill>
                  <a:srgbClr val="000000"/>
                </a:solidFill>
                <a:latin typeface="LMMathSymbols7"/>
                <a:ea typeface="LMMathSymbols7"/>
              </a:rPr>
              <a:t>⊤</a:t>
            </a:r>
            <a:endParaRPr b="0" lang="en-US" sz="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3255840" y="880560"/>
            <a:ext cx="12600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000000"/>
                </a:solidFill>
                <a:latin typeface="LMSans10"/>
                <a:ea typeface="LMSans10"/>
              </a:rPr>
              <a:t>x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3319200" y="943560"/>
            <a:ext cx="8820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90" spc="-1" strike="noStrike">
                <a:solidFill>
                  <a:srgbClr val="000000"/>
                </a:solidFill>
                <a:latin typeface="LMSans8"/>
                <a:ea typeface="LMSans8"/>
              </a:rPr>
              <a:t>t</a:t>
            </a:r>
            <a:endParaRPr b="0" lang="en-US" sz="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3429000" y="880560"/>
            <a:ext cx="126000" cy="18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89" spc="-1" strike="noStrike">
                <a:solidFill>
                  <a:srgbClr val="000000"/>
                </a:solidFill>
                <a:latin typeface="LMSans10"/>
                <a:ea typeface="LMSans10"/>
              </a:rPr>
              <a:t>+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3590640" y="891360"/>
            <a:ext cx="126000" cy="172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89" spc="-1" strike="noStrike">
                <a:solidFill>
                  <a:srgbClr val="000000"/>
                </a:solidFill>
                <a:latin typeface="LMMathItalic10"/>
                <a:ea typeface="LMMathItalic10"/>
              </a:rPr>
              <a:t>ε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3649680" y="943560"/>
            <a:ext cx="8820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90" spc="-1" strike="noStrike">
                <a:solidFill>
                  <a:srgbClr val="000000"/>
                </a:solidFill>
                <a:latin typeface="LMSans8"/>
                <a:ea typeface="LMSans8"/>
              </a:rPr>
              <a:t>t</a:t>
            </a:r>
            <a:endParaRPr b="0" lang="en-US" sz="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360000" y="123300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Italic8"/>
                <a:ea typeface="LMMathItalic8"/>
              </a:rPr>
              <a:t>µ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424800" y="1266120"/>
            <a:ext cx="75600" cy="11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00" spc="-1" strike="noStrike">
                <a:solidFill>
                  <a:srgbClr val="0a3a66"/>
                </a:solidFill>
                <a:latin typeface="LMSans8"/>
                <a:ea typeface="LMSans8"/>
              </a:rPr>
              <a:t>t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465840" y="1224360"/>
            <a:ext cx="100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: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7" name=""/>
          <p:cNvSpPr txBox="1"/>
          <p:nvPr/>
        </p:nvSpPr>
        <p:spPr>
          <a:xfrm>
            <a:off x="543240" y="1224360"/>
            <a:ext cx="4334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local-level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1019160" y="1224360"/>
            <a:ext cx="2322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trend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1319400" y="123300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Symbols8"/>
                <a:ea typeface="LMMathSymbols8"/>
              </a:rPr>
              <a:t>|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1414800" y="123300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Italic8"/>
                <a:ea typeface="LMMathItalic8"/>
              </a:rPr>
              <a:t>τ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1" name=""/>
          <p:cNvSpPr txBox="1"/>
          <p:nvPr/>
        </p:nvSpPr>
        <p:spPr>
          <a:xfrm>
            <a:off x="1462680" y="1266120"/>
            <a:ext cx="75600" cy="11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00" spc="-1" strike="noStrike">
                <a:solidFill>
                  <a:srgbClr val="0a3a66"/>
                </a:solidFill>
                <a:latin typeface="LMSans8"/>
                <a:ea typeface="LMSans8"/>
              </a:rPr>
              <a:t>t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2" name=""/>
          <p:cNvSpPr txBox="1"/>
          <p:nvPr/>
        </p:nvSpPr>
        <p:spPr>
          <a:xfrm>
            <a:off x="1503720" y="1224360"/>
            <a:ext cx="100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: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1581120" y="1224360"/>
            <a:ext cx="12596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seasonality (omitted, annual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2881440" y="1224360"/>
            <a:ext cx="238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data)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5" name=""/>
          <p:cNvSpPr txBox="1"/>
          <p:nvPr/>
        </p:nvSpPr>
        <p:spPr>
          <a:xfrm>
            <a:off x="3186720" y="123300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Symbols8"/>
                <a:ea typeface="LMMathSymbols8"/>
              </a:rPr>
              <a:t>|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6" name=""/>
          <p:cNvSpPr txBox="1"/>
          <p:nvPr/>
        </p:nvSpPr>
        <p:spPr>
          <a:xfrm>
            <a:off x="3282480" y="123300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i="1" lang="en-US" sz="790" spc="-1" strike="noStrike">
                <a:solidFill>
                  <a:srgbClr val="0a3a66"/>
                </a:solidFill>
                <a:latin typeface="LMMathItalic10"/>
                <a:ea typeface="LMMathItalic10"/>
              </a:rPr>
              <a:t>β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7" name=""/>
          <p:cNvSpPr txBox="1"/>
          <p:nvPr/>
        </p:nvSpPr>
        <p:spPr>
          <a:xfrm>
            <a:off x="3352680" y="1221120"/>
            <a:ext cx="7560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00" spc="-1" strike="noStrike">
                <a:solidFill>
                  <a:srgbClr val="0a3a66"/>
                </a:solidFill>
                <a:latin typeface="LMMathSymbols6"/>
                <a:ea typeface="LMMathSymbols6"/>
              </a:rPr>
              <a:t>⊤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3432240" y="1224360"/>
            <a:ext cx="10080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a3a66"/>
                </a:solidFill>
                <a:latin typeface="LMSans10"/>
                <a:ea typeface="LMSans10"/>
              </a:rPr>
              <a:t>x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3482640" y="1266120"/>
            <a:ext cx="75600" cy="11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00" spc="-1" strike="noStrike">
                <a:solidFill>
                  <a:srgbClr val="0a3a66"/>
                </a:solidFill>
                <a:latin typeface="LMSans8"/>
                <a:ea typeface="LMSans8"/>
              </a:rPr>
              <a:t>t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3523680" y="1224360"/>
            <a:ext cx="100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: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3601440" y="1224360"/>
            <a:ext cx="15552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regression on donor outcomes with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360000" y="1344600"/>
            <a:ext cx="9104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spike-and-slab</a:t>
            </a:r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 priors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1333440" y="135324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Symbols8"/>
                <a:ea typeface="LMMathSymbols8"/>
              </a:rPr>
              <a:t>|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4" name=""/>
          <p:cNvSpPr txBox="1"/>
          <p:nvPr/>
        </p:nvSpPr>
        <p:spPr>
          <a:xfrm>
            <a:off x="1429200" y="135324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Italic8"/>
                <a:ea typeface="LMMathItalic8"/>
              </a:rPr>
              <a:t>ε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5" name=""/>
          <p:cNvSpPr txBox="1"/>
          <p:nvPr/>
        </p:nvSpPr>
        <p:spPr>
          <a:xfrm>
            <a:off x="1478880" y="1386360"/>
            <a:ext cx="75600" cy="11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00" spc="-1" strike="noStrike">
                <a:solidFill>
                  <a:srgbClr val="0a3a66"/>
                </a:solidFill>
                <a:latin typeface="LMSans8"/>
                <a:ea typeface="LMSans8"/>
              </a:rPr>
              <a:t>t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1549800" y="1353240"/>
            <a:ext cx="1807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Symbols8"/>
                <a:ea typeface="LMMathSymbols8"/>
              </a:rPr>
              <a:t>∼ </a:t>
            </a:r>
            <a:r>
              <a:rPr b="0" i="1" lang="en-US" sz="790" spc="-1" strike="noStrike">
                <a:solidFill>
                  <a:srgbClr val="0a3a66"/>
                </a:solidFill>
                <a:latin typeface="LMMathSymbols8"/>
                <a:ea typeface="LMMathSymbols8"/>
              </a:rPr>
              <a:t>N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1766160" y="1344600"/>
            <a:ext cx="100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(0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1861920" y="1353240"/>
            <a:ext cx="1105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Italic8"/>
                <a:ea typeface="LMMathItalic8"/>
              </a:rPr>
              <a:t>, σ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9" name=""/>
          <p:cNvSpPr txBox="1"/>
          <p:nvPr/>
        </p:nvSpPr>
        <p:spPr>
          <a:xfrm>
            <a:off x="1974600" y="1338120"/>
            <a:ext cx="75600" cy="11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a3a66"/>
                </a:solidFill>
                <a:latin typeface="LMSans8"/>
                <a:ea typeface="LMSans8"/>
              </a:rPr>
              <a:t>2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0" name=""/>
          <p:cNvSpPr txBox="1"/>
          <p:nvPr/>
        </p:nvSpPr>
        <p:spPr>
          <a:xfrm>
            <a:off x="2021400" y="1344600"/>
            <a:ext cx="100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).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1" name=""/>
          <p:cNvSpPr txBox="1"/>
          <p:nvPr/>
        </p:nvSpPr>
        <p:spPr>
          <a:xfrm>
            <a:off x="354240" y="1577160"/>
            <a:ext cx="18478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f4c81"/>
                </a:solidFill>
                <a:latin typeface="LMSans10"/>
                <a:ea typeface="LMSans10"/>
              </a:rPr>
              <a:t>Why BSTS triangulates with SCM: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496800" y="177660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637200" y="1766880"/>
            <a:ext cx="9518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Different functional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1624680" y="1766880"/>
            <a:ext cx="26586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form (linear regression with priors vs. convex average)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4299120" y="177660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Symbols9"/>
                <a:ea typeface="LMMathSymbols9"/>
              </a:rPr>
              <a:t>⇒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4455360" y="1766880"/>
            <a:ext cx="4046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different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637200" y="1906200"/>
            <a:ext cx="10598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mis-specification risks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496800" y="210564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9" name=""/>
          <p:cNvSpPr txBox="1"/>
          <p:nvPr/>
        </p:nvSpPr>
        <p:spPr>
          <a:xfrm>
            <a:off x="633240" y="2095920"/>
            <a:ext cx="4838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Yields full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1154880" y="2095920"/>
            <a:ext cx="4258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posterior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1" name=""/>
          <p:cNvSpPr txBox="1"/>
          <p:nvPr/>
        </p:nvSpPr>
        <p:spPr>
          <a:xfrm>
            <a:off x="1618200" y="210564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Symbols9"/>
                <a:ea typeface="LMMathSymbols9"/>
              </a:rPr>
              <a:t>⇒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1774440" y="2095920"/>
            <a:ext cx="8208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credible intervals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496800" y="229536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637200" y="2285640"/>
            <a:ext cx="3693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Caveat: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1056960" y="2285640"/>
            <a:ext cx="3099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with</a:t>
            </a:r>
            <a:r>
              <a:rPr b="0" i="1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 n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1367280" y="2342160"/>
            <a:ext cx="105840" cy="11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a3a66"/>
                </a:solidFill>
                <a:latin typeface="LMSans8"/>
                <a:ea typeface="LMSans8"/>
              </a:rPr>
              <a:t>pre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7" name=""/>
          <p:cNvSpPr txBox="1"/>
          <p:nvPr/>
        </p:nvSpPr>
        <p:spPr>
          <a:xfrm>
            <a:off x="1508760" y="2285640"/>
            <a:ext cx="1897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= 6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1723320" y="2295360"/>
            <a:ext cx="1209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Symbols9"/>
                <a:ea typeface="LMMathSymbols9"/>
              </a:rPr>
              <a:t>≪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9" name=""/>
          <p:cNvSpPr txBox="1"/>
          <p:nvPr/>
        </p:nvSpPr>
        <p:spPr>
          <a:xfrm>
            <a:off x="1873080" y="2285640"/>
            <a:ext cx="14515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J</a:t>
            </a:r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 = 13 the regression overfits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0" name=""/>
          <p:cNvSpPr txBox="1"/>
          <p:nvPr/>
        </p:nvSpPr>
        <p:spPr>
          <a:xfrm>
            <a:off x="3355560" y="229536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Symbols9"/>
                <a:ea typeface="LMMathSymbols9"/>
              </a:rPr>
              <a:t>⇒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1" name=""/>
          <p:cNvSpPr txBox="1"/>
          <p:nvPr/>
        </p:nvSpPr>
        <p:spPr>
          <a:xfrm>
            <a:off x="3511800" y="2285640"/>
            <a:ext cx="18770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restrict to top-</a:t>
            </a:r>
            <a:r>
              <a:rPr b="0" i="1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k</a:t>
            </a:r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 donors via correlation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632520" y="2424960"/>
            <a:ext cx="113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(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677880" y="2440800"/>
            <a:ext cx="7200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Mono9"/>
                <a:ea typeface="LMMono9"/>
              </a:rPr>
              <a:t>max_donors=3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1395360" y="2424960"/>
            <a:ext cx="8571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, Brodersen §3.2)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5379480" y="3047400"/>
            <a:ext cx="337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14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578" name="" descr=""/>
          <p:cNvPicPr/>
          <p:nvPr/>
        </p:nvPicPr>
        <p:blipFill>
          <a:blip r:embed="rId1"/>
          <a:stretch/>
        </p:blipFill>
        <p:spPr>
          <a:xfrm>
            <a:off x="1468800" y="243720"/>
            <a:ext cx="2822040" cy="2021040"/>
          </a:xfrm>
          <a:prstGeom prst="rect">
            <a:avLst/>
          </a:prstGeom>
          <a:ln w="0">
            <a:noFill/>
          </a:ln>
        </p:spPr>
      </p:pic>
      <p:sp>
        <p:nvSpPr>
          <p:cNvPr id="579" name=""/>
          <p:cNvSpPr/>
          <p:nvPr/>
        </p:nvSpPr>
        <p:spPr>
          <a:xfrm>
            <a:off x="359640" y="2540880"/>
            <a:ext cx="2419920" cy="382320"/>
          </a:xfrm>
          <a:custGeom>
            <a:avLst/>
            <a:gdLst/>
            <a:ahLst/>
            <a:rect l="0" t="0" r="r" b="b"/>
            <a:pathLst>
              <a:path w="6722" h="1062">
                <a:moveTo>
                  <a:pt x="0" y="939"/>
                </a:moveTo>
                <a:lnTo>
                  <a:pt x="0" y="123"/>
                </a:lnTo>
                <a:cubicBezTo>
                  <a:pt x="0" y="55"/>
                  <a:pt x="56" y="0"/>
                  <a:pt x="123" y="0"/>
                </a:cubicBezTo>
                <a:lnTo>
                  <a:pt x="6598" y="0"/>
                </a:lnTo>
                <a:cubicBezTo>
                  <a:pt x="6666" y="0"/>
                  <a:pt x="6722" y="55"/>
                  <a:pt x="6722" y="123"/>
                </a:cubicBezTo>
                <a:lnTo>
                  <a:pt x="6722" y="939"/>
                </a:lnTo>
                <a:cubicBezTo>
                  <a:pt x="6722" y="1007"/>
                  <a:pt x="6666" y="1062"/>
                  <a:pt x="6598" y="1062"/>
                </a:cubicBezTo>
                <a:lnTo>
                  <a:pt x="123" y="1062"/>
                </a:lnTo>
                <a:cubicBezTo>
                  <a:pt x="56" y="1062"/>
                  <a:pt x="0" y="1007"/>
                  <a:pt x="0" y="939"/>
                </a:cubicBez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366120" y="2547360"/>
            <a:ext cx="2406960" cy="369720"/>
          </a:xfrm>
          <a:custGeom>
            <a:avLst/>
            <a:gdLst/>
            <a:ahLst/>
            <a:rect l="0" t="0" r="r" b="b"/>
            <a:pathLst>
              <a:path w="6686" h="1027">
                <a:moveTo>
                  <a:pt x="0" y="921"/>
                </a:moveTo>
                <a:lnTo>
                  <a:pt x="0" y="105"/>
                </a:lnTo>
                <a:cubicBezTo>
                  <a:pt x="0" y="47"/>
                  <a:pt x="47" y="0"/>
                  <a:pt x="105" y="0"/>
                </a:cubicBezTo>
                <a:lnTo>
                  <a:pt x="6580" y="0"/>
                </a:lnTo>
                <a:cubicBezTo>
                  <a:pt x="6639" y="0"/>
                  <a:pt x="6686" y="47"/>
                  <a:pt x="6686" y="105"/>
                </a:cubicBezTo>
                <a:lnTo>
                  <a:pt x="6686" y="921"/>
                </a:lnTo>
                <a:cubicBezTo>
                  <a:pt x="6686" y="980"/>
                  <a:pt x="6639" y="1027"/>
                  <a:pt x="6580" y="1027"/>
                </a:cubicBezTo>
                <a:lnTo>
                  <a:pt x="105" y="1027"/>
                </a:lnTo>
                <a:cubicBezTo>
                  <a:pt x="47" y="1027"/>
                  <a:pt x="0" y="980"/>
                  <a:pt x="0" y="921"/>
                </a:cubicBezTo>
                <a:close/>
              </a:path>
            </a:pathLst>
          </a:custGeom>
          <a:solidFill>
            <a:srgbClr val="f5f5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1" name=""/>
          <p:cNvSpPr txBox="1"/>
          <p:nvPr/>
        </p:nvSpPr>
        <p:spPr>
          <a:xfrm>
            <a:off x="100080" y="5760"/>
            <a:ext cx="275004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BSTS Result — Road-Accident Deaths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452880" y="2580480"/>
            <a:ext cx="36360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Donors: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870120" y="2580480"/>
            <a:ext cx="7020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Haryana (</a:t>
            </a:r>
            <a:r>
              <a:rPr b="0" i="1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r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= 0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1582920" y="258912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MathItalic8"/>
                <a:ea typeface="LMMathItalic8"/>
              </a:rPr>
              <a:t>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1612800" y="2580480"/>
            <a:ext cx="854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82), Odisha (</a:t>
            </a:r>
            <a:r>
              <a:rPr b="0" i="1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r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= 0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2488320" y="258912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MathItalic8"/>
                <a:ea typeface="LMMathItalic8"/>
              </a:rPr>
              <a:t>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2518200" y="2580480"/>
            <a:ext cx="180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67),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447840" y="2700720"/>
            <a:ext cx="567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West Bengal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1052280" y="2700720"/>
            <a:ext cx="284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(</a:t>
            </a:r>
            <a:r>
              <a:rPr b="0" i="1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r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= 0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1338840" y="270936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MathItalic8"/>
                <a:ea typeface="LMMathItalic8"/>
              </a:rPr>
              <a:t>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1" name=""/>
          <p:cNvSpPr/>
          <p:nvPr/>
        </p:nvSpPr>
        <p:spPr>
          <a:xfrm>
            <a:off x="2980800" y="2540880"/>
            <a:ext cx="2419560" cy="498240"/>
          </a:xfrm>
          <a:custGeom>
            <a:avLst/>
            <a:gdLst/>
            <a:ahLst/>
            <a:rect l="0" t="0" r="r" b="b"/>
            <a:pathLst>
              <a:path w="6721" h="1384">
                <a:moveTo>
                  <a:pt x="0" y="1257"/>
                </a:moveTo>
                <a:lnTo>
                  <a:pt x="0" y="127"/>
                </a:lnTo>
                <a:cubicBezTo>
                  <a:pt x="0" y="57"/>
                  <a:pt x="56" y="0"/>
                  <a:pt x="126" y="0"/>
                </a:cubicBezTo>
                <a:lnTo>
                  <a:pt x="6594" y="0"/>
                </a:lnTo>
                <a:cubicBezTo>
                  <a:pt x="6664" y="0"/>
                  <a:pt x="6721" y="57"/>
                  <a:pt x="6721" y="127"/>
                </a:cubicBezTo>
                <a:lnTo>
                  <a:pt x="6721" y="1257"/>
                </a:lnTo>
                <a:cubicBezTo>
                  <a:pt x="6721" y="1327"/>
                  <a:pt x="6664" y="1384"/>
                  <a:pt x="6594" y="1384"/>
                </a:cubicBezTo>
                <a:lnTo>
                  <a:pt x="126" y="1384"/>
                </a:lnTo>
                <a:cubicBezTo>
                  <a:pt x="56" y="1384"/>
                  <a:pt x="0" y="1327"/>
                  <a:pt x="0" y="1257"/>
                </a:cubicBezTo>
                <a:close/>
              </a:path>
            </a:pathLst>
          </a:custGeom>
          <a:solidFill>
            <a:srgbClr val="dc823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2988360" y="2548440"/>
            <a:ext cx="2404080" cy="483120"/>
          </a:xfrm>
          <a:custGeom>
            <a:avLst/>
            <a:gdLst/>
            <a:ahLst/>
            <a:rect l="0" t="0" r="r" b="b"/>
            <a:pathLst>
              <a:path w="6678" h="1342">
                <a:moveTo>
                  <a:pt x="0" y="1236"/>
                </a:moveTo>
                <a:lnTo>
                  <a:pt x="0" y="106"/>
                </a:lnTo>
                <a:cubicBezTo>
                  <a:pt x="0" y="48"/>
                  <a:pt x="47" y="0"/>
                  <a:pt x="105" y="0"/>
                </a:cubicBezTo>
                <a:lnTo>
                  <a:pt x="6573" y="0"/>
                </a:lnTo>
                <a:cubicBezTo>
                  <a:pt x="6631" y="0"/>
                  <a:pt x="6678" y="48"/>
                  <a:pt x="6678" y="106"/>
                </a:cubicBezTo>
                <a:lnTo>
                  <a:pt x="6678" y="1236"/>
                </a:lnTo>
                <a:cubicBezTo>
                  <a:pt x="6678" y="1295"/>
                  <a:pt x="6631" y="1342"/>
                  <a:pt x="6573" y="1342"/>
                </a:cubicBezTo>
                <a:lnTo>
                  <a:pt x="105" y="1342"/>
                </a:lnTo>
                <a:cubicBezTo>
                  <a:pt x="47" y="1342"/>
                  <a:pt x="0" y="1295"/>
                  <a:pt x="0" y="1236"/>
                </a:cubicBezTo>
                <a:close/>
              </a:path>
            </a:pathLst>
          </a:custGeom>
          <a:solidFill>
            <a:srgbClr val="fdf1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1368720" y="2700720"/>
            <a:ext cx="177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63).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4" name=""/>
          <p:cNvSpPr txBox="1"/>
          <p:nvPr/>
        </p:nvSpPr>
        <p:spPr>
          <a:xfrm>
            <a:off x="3084120" y="2580480"/>
            <a:ext cx="91512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Avg posterior effect: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5" name=""/>
          <p:cNvSpPr txBox="1"/>
          <p:nvPr/>
        </p:nvSpPr>
        <p:spPr>
          <a:xfrm>
            <a:off x="4062240" y="2580480"/>
            <a:ext cx="12074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dc823c"/>
                </a:solidFill>
                <a:latin typeface="LMSans10"/>
                <a:ea typeface="LMSans10"/>
              </a:rPr>
              <a:t>+1,076 deaths/yr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— larger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3087720" y="2700720"/>
            <a:ext cx="861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than SCM (+360);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4008600" y="2700720"/>
            <a:ext cx="12762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BSTS weights post-2020 di-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3085200" y="2820960"/>
            <a:ext cx="6379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vergence fully.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5379480" y="3047400"/>
            <a:ext cx="337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15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1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602" name="" descr=""/>
          <p:cNvPicPr/>
          <p:nvPr/>
        </p:nvPicPr>
        <p:blipFill>
          <a:blip r:embed="rId1"/>
          <a:stretch/>
        </p:blipFill>
        <p:spPr>
          <a:xfrm>
            <a:off x="1216800" y="432360"/>
            <a:ext cx="3326040" cy="1488960"/>
          </a:xfrm>
          <a:prstGeom prst="rect">
            <a:avLst/>
          </a:prstGeom>
          <a:ln w="0">
            <a:noFill/>
          </a:ln>
        </p:spPr>
      </p:pic>
      <p:sp>
        <p:nvSpPr>
          <p:cNvPr id="603" name=""/>
          <p:cNvSpPr/>
          <p:nvPr/>
        </p:nvSpPr>
        <p:spPr>
          <a:xfrm>
            <a:off x="359640" y="2233440"/>
            <a:ext cx="1613520" cy="521640"/>
          </a:xfrm>
          <a:custGeom>
            <a:avLst/>
            <a:gdLst/>
            <a:ahLst/>
            <a:rect l="0" t="0" r="r" b="b"/>
            <a:pathLst>
              <a:path w="4482" h="1449">
                <a:moveTo>
                  <a:pt x="0" y="1308"/>
                </a:moveTo>
                <a:lnTo>
                  <a:pt x="0" y="141"/>
                </a:lnTo>
                <a:cubicBezTo>
                  <a:pt x="0" y="63"/>
                  <a:pt x="63" y="0"/>
                  <a:pt x="141" y="0"/>
                </a:cubicBezTo>
                <a:lnTo>
                  <a:pt x="4341" y="0"/>
                </a:lnTo>
                <a:cubicBezTo>
                  <a:pt x="4419" y="0"/>
                  <a:pt x="4482" y="63"/>
                  <a:pt x="4482" y="141"/>
                </a:cubicBezTo>
                <a:lnTo>
                  <a:pt x="4482" y="1308"/>
                </a:lnTo>
                <a:cubicBezTo>
                  <a:pt x="4482" y="1386"/>
                  <a:pt x="4419" y="1449"/>
                  <a:pt x="4341" y="1449"/>
                </a:cubicBezTo>
                <a:lnTo>
                  <a:pt x="141" y="1449"/>
                </a:lnTo>
                <a:cubicBezTo>
                  <a:pt x="63" y="1449"/>
                  <a:pt x="0" y="1386"/>
                  <a:pt x="0" y="1308"/>
                </a:cubicBezTo>
                <a:close/>
              </a:path>
            </a:pathLst>
          </a:custGeom>
          <a:solidFill>
            <a:srgbClr val="0a3a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4" name=""/>
          <p:cNvSpPr/>
          <p:nvPr/>
        </p:nvSpPr>
        <p:spPr>
          <a:xfrm>
            <a:off x="359640" y="2233440"/>
            <a:ext cx="1613520" cy="521640"/>
          </a:xfrm>
          <a:custGeom>
            <a:avLst/>
            <a:gdLst/>
            <a:ahLst/>
            <a:rect l="0" t="0" r="r" b="b"/>
            <a:pathLst>
              <a:path w="4482" h="1449">
                <a:moveTo>
                  <a:pt x="0" y="1308"/>
                </a:moveTo>
                <a:lnTo>
                  <a:pt x="0" y="141"/>
                </a:lnTo>
                <a:cubicBezTo>
                  <a:pt x="0" y="63"/>
                  <a:pt x="63" y="0"/>
                  <a:pt x="141" y="0"/>
                </a:cubicBezTo>
                <a:lnTo>
                  <a:pt x="4341" y="0"/>
                </a:lnTo>
                <a:cubicBezTo>
                  <a:pt x="4419" y="0"/>
                  <a:pt x="4482" y="63"/>
                  <a:pt x="4482" y="141"/>
                </a:cubicBezTo>
                <a:lnTo>
                  <a:pt x="4482" y="1308"/>
                </a:lnTo>
                <a:cubicBezTo>
                  <a:pt x="4482" y="1386"/>
                  <a:pt x="4419" y="1449"/>
                  <a:pt x="4341" y="1449"/>
                </a:cubicBezTo>
                <a:lnTo>
                  <a:pt x="141" y="1449"/>
                </a:lnTo>
                <a:cubicBezTo>
                  <a:pt x="63" y="1449"/>
                  <a:pt x="0" y="1386"/>
                  <a:pt x="0" y="1308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94680" y="5760"/>
            <a:ext cx="222264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Triangulation — SCM vs BSTS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1038960" y="2262240"/>
            <a:ext cx="25668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f4a261"/>
                </a:solidFill>
                <a:latin typeface="LMSans10"/>
                <a:ea typeface="LMSans10"/>
              </a:rPr>
              <a:t>Sign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600120" y="2411640"/>
            <a:ext cx="111924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Both negative 2016–17,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8" name=""/>
          <p:cNvSpPr/>
          <p:nvPr/>
        </p:nvSpPr>
        <p:spPr>
          <a:xfrm>
            <a:off x="2073240" y="2233440"/>
            <a:ext cx="1613520" cy="407160"/>
          </a:xfrm>
          <a:custGeom>
            <a:avLst/>
            <a:gdLst/>
            <a:ahLst/>
            <a:rect l="0" t="0" r="r" b="b"/>
            <a:pathLst>
              <a:path w="4482" h="1131">
                <a:moveTo>
                  <a:pt x="0" y="990"/>
                </a:moveTo>
                <a:lnTo>
                  <a:pt x="0" y="142"/>
                </a:lnTo>
                <a:cubicBezTo>
                  <a:pt x="0" y="64"/>
                  <a:pt x="63" y="0"/>
                  <a:pt x="141" y="0"/>
                </a:cubicBezTo>
                <a:lnTo>
                  <a:pt x="4341" y="0"/>
                </a:lnTo>
                <a:cubicBezTo>
                  <a:pt x="4419" y="0"/>
                  <a:pt x="4482" y="64"/>
                  <a:pt x="4482" y="142"/>
                </a:cubicBezTo>
                <a:lnTo>
                  <a:pt x="4482" y="990"/>
                </a:lnTo>
                <a:cubicBezTo>
                  <a:pt x="4482" y="1068"/>
                  <a:pt x="4419" y="1131"/>
                  <a:pt x="4341" y="1131"/>
                </a:cubicBezTo>
                <a:lnTo>
                  <a:pt x="141" y="1131"/>
                </a:lnTo>
                <a:cubicBezTo>
                  <a:pt x="63" y="1131"/>
                  <a:pt x="0" y="1068"/>
                  <a:pt x="0" y="990"/>
                </a:cubicBezTo>
                <a:close/>
              </a:path>
            </a:pathLst>
          </a:custGeom>
          <a:solidFill>
            <a:srgbClr val="0a3a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9" name=""/>
          <p:cNvSpPr/>
          <p:nvPr/>
        </p:nvSpPr>
        <p:spPr>
          <a:xfrm>
            <a:off x="2073240" y="2233440"/>
            <a:ext cx="1613520" cy="407160"/>
          </a:xfrm>
          <a:custGeom>
            <a:avLst/>
            <a:gdLst/>
            <a:ahLst/>
            <a:rect l="0" t="0" r="r" b="b"/>
            <a:pathLst>
              <a:path w="4482" h="1131">
                <a:moveTo>
                  <a:pt x="0" y="990"/>
                </a:moveTo>
                <a:lnTo>
                  <a:pt x="0" y="142"/>
                </a:lnTo>
                <a:cubicBezTo>
                  <a:pt x="0" y="64"/>
                  <a:pt x="63" y="0"/>
                  <a:pt x="141" y="0"/>
                </a:cubicBezTo>
                <a:lnTo>
                  <a:pt x="4341" y="0"/>
                </a:lnTo>
                <a:cubicBezTo>
                  <a:pt x="4419" y="0"/>
                  <a:pt x="4482" y="64"/>
                  <a:pt x="4482" y="142"/>
                </a:cubicBezTo>
                <a:lnTo>
                  <a:pt x="4482" y="990"/>
                </a:lnTo>
                <a:cubicBezTo>
                  <a:pt x="4482" y="1068"/>
                  <a:pt x="4419" y="1131"/>
                  <a:pt x="4341" y="1131"/>
                </a:cubicBezTo>
                <a:lnTo>
                  <a:pt x="141" y="1131"/>
                </a:lnTo>
                <a:cubicBezTo>
                  <a:pt x="63" y="1131"/>
                  <a:pt x="0" y="1068"/>
                  <a:pt x="0" y="990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684360" y="2531880"/>
            <a:ext cx="95184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both positive 2018+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1" name=""/>
          <p:cNvSpPr txBox="1"/>
          <p:nvPr/>
        </p:nvSpPr>
        <p:spPr>
          <a:xfrm>
            <a:off x="2609280" y="2262240"/>
            <a:ext cx="54324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f4a261"/>
                </a:solidFill>
                <a:latin typeface="LMSans10"/>
                <a:ea typeface="LMSans10"/>
              </a:rPr>
              <a:t>Direction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2" name=""/>
          <p:cNvSpPr/>
          <p:nvPr/>
        </p:nvSpPr>
        <p:spPr>
          <a:xfrm>
            <a:off x="3786840" y="2233440"/>
            <a:ext cx="1613520" cy="392400"/>
          </a:xfrm>
          <a:custGeom>
            <a:avLst/>
            <a:gdLst/>
            <a:ahLst/>
            <a:rect l="0" t="0" r="r" b="b"/>
            <a:pathLst>
              <a:path w="4482" h="1090">
                <a:moveTo>
                  <a:pt x="0" y="949"/>
                </a:moveTo>
                <a:lnTo>
                  <a:pt x="0" y="141"/>
                </a:lnTo>
                <a:cubicBezTo>
                  <a:pt x="0" y="63"/>
                  <a:pt x="63" y="0"/>
                  <a:pt x="141" y="0"/>
                </a:cubicBezTo>
                <a:lnTo>
                  <a:pt x="4341" y="0"/>
                </a:lnTo>
                <a:cubicBezTo>
                  <a:pt x="4419" y="0"/>
                  <a:pt x="4482" y="63"/>
                  <a:pt x="4482" y="141"/>
                </a:cubicBezTo>
                <a:lnTo>
                  <a:pt x="4482" y="949"/>
                </a:lnTo>
                <a:cubicBezTo>
                  <a:pt x="4482" y="1027"/>
                  <a:pt x="4419" y="1090"/>
                  <a:pt x="4341" y="1090"/>
                </a:cubicBezTo>
                <a:lnTo>
                  <a:pt x="141" y="1090"/>
                </a:lnTo>
                <a:cubicBezTo>
                  <a:pt x="63" y="1090"/>
                  <a:pt x="0" y="1027"/>
                  <a:pt x="0" y="949"/>
                </a:cubicBezTo>
                <a:close/>
              </a:path>
            </a:pathLst>
          </a:custGeom>
          <a:solidFill>
            <a:srgbClr val="0a3a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3" name=""/>
          <p:cNvSpPr/>
          <p:nvPr/>
        </p:nvSpPr>
        <p:spPr>
          <a:xfrm>
            <a:off x="3786840" y="2233440"/>
            <a:ext cx="1613520" cy="392400"/>
          </a:xfrm>
          <a:custGeom>
            <a:avLst/>
            <a:gdLst/>
            <a:ahLst/>
            <a:rect l="0" t="0" r="r" b="b"/>
            <a:pathLst>
              <a:path w="4482" h="1090">
                <a:moveTo>
                  <a:pt x="0" y="949"/>
                </a:moveTo>
                <a:lnTo>
                  <a:pt x="0" y="141"/>
                </a:lnTo>
                <a:cubicBezTo>
                  <a:pt x="0" y="63"/>
                  <a:pt x="63" y="0"/>
                  <a:pt x="141" y="0"/>
                </a:cubicBezTo>
                <a:lnTo>
                  <a:pt x="4341" y="0"/>
                </a:lnTo>
                <a:cubicBezTo>
                  <a:pt x="4419" y="0"/>
                  <a:pt x="4482" y="63"/>
                  <a:pt x="4482" y="141"/>
                </a:cubicBezTo>
                <a:lnTo>
                  <a:pt x="4482" y="949"/>
                </a:lnTo>
                <a:cubicBezTo>
                  <a:pt x="4482" y="1027"/>
                  <a:pt x="4419" y="1090"/>
                  <a:pt x="4341" y="1090"/>
                </a:cubicBezTo>
                <a:lnTo>
                  <a:pt x="141" y="1090"/>
                </a:lnTo>
                <a:cubicBezTo>
                  <a:pt x="63" y="1090"/>
                  <a:pt x="0" y="1027"/>
                  <a:pt x="0" y="949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4" name=""/>
          <p:cNvSpPr txBox="1"/>
          <p:nvPr/>
        </p:nvSpPr>
        <p:spPr>
          <a:xfrm>
            <a:off x="2230200" y="2411640"/>
            <a:ext cx="128988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Agree year-by-year (10/10)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5" name=""/>
          <p:cNvSpPr txBox="1"/>
          <p:nvPr/>
        </p:nvSpPr>
        <p:spPr>
          <a:xfrm>
            <a:off x="4276800" y="2262240"/>
            <a:ext cx="63612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f4a261"/>
                </a:solidFill>
                <a:latin typeface="LMSans10"/>
                <a:ea typeface="LMSans10"/>
              </a:rPr>
              <a:t>Magnitude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4098240" y="2411640"/>
            <a:ext cx="27504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BSTS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4422240" y="242028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ffffff"/>
                </a:solidFill>
                <a:latin typeface="LMMathSymbols8"/>
                <a:ea typeface="LMMathSymbols8"/>
              </a:rPr>
              <a:t>≈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4551840" y="2411640"/>
            <a:ext cx="16848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2–3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4722480" y="242028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ffffff"/>
                </a:solidFill>
                <a:latin typeface="LMMathSymbols8"/>
                <a:ea typeface="LMMathSymbols8"/>
              </a:rPr>
              <a:t>×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0" name=""/>
          <p:cNvSpPr txBox="1"/>
          <p:nvPr/>
        </p:nvSpPr>
        <p:spPr>
          <a:xfrm>
            <a:off x="4852080" y="2411640"/>
            <a:ext cx="23400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SCM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5379480" y="3047400"/>
            <a:ext cx="337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16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3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624" name="" descr=""/>
          <p:cNvPicPr/>
          <p:nvPr/>
        </p:nvPicPr>
        <p:blipFill>
          <a:blip r:embed="rId1"/>
          <a:stretch/>
        </p:blipFill>
        <p:spPr>
          <a:xfrm>
            <a:off x="360000" y="604080"/>
            <a:ext cx="2771640" cy="2005560"/>
          </a:xfrm>
          <a:prstGeom prst="rect">
            <a:avLst/>
          </a:prstGeom>
          <a:ln w="0">
            <a:noFill/>
          </a:ln>
        </p:spPr>
      </p:pic>
      <p:sp>
        <p:nvSpPr>
          <p:cNvPr id="625" name=""/>
          <p:cNvSpPr txBox="1"/>
          <p:nvPr/>
        </p:nvSpPr>
        <p:spPr>
          <a:xfrm>
            <a:off x="100080" y="5760"/>
            <a:ext cx="291924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Outcome 2 — Own Tax Revenue (Fiscal)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3283200" y="546120"/>
            <a:ext cx="197280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0f4c81"/>
                </a:solidFill>
                <a:latin typeface="LMSans10"/>
                <a:ea typeface="LMSans10"/>
              </a:rPr>
              <a:t>Composite proxy, not pure excise.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3283200" y="785160"/>
            <a:ext cx="2099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Own-tax revenue includes excise + VAT + GST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8" name=""/>
          <p:cNvSpPr txBox="1"/>
          <p:nvPr/>
        </p:nvSpPr>
        <p:spPr>
          <a:xfrm>
            <a:off x="3283200" y="957240"/>
            <a:ext cx="1731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compensation + stamps + vehicle tax.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9" name=""/>
          <p:cNvSpPr txBox="1"/>
          <p:nvPr/>
        </p:nvSpPr>
        <p:spPr>
          <a:xfrm>
            <a:off x="5076720" y="957240"/>
            <a:ext cx="275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Excise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0" name=""/>
          <p:cNvSpPr txBox="1"/>
          <p:nvPr/>
        </p:nvSpPr>
        <p:spPr>
          <a:xfrm>
            <a:off x="3279600" y="1129320"/>
            <a:ext cx="1652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was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1" name=""/>
          <p:cNvSpPr txBox="1"/>
          <p:nvPr/>
        </p:nvSpPr>
        <p:spPr>
          <a:xfrm>
            <a:off x="3478680" y="113796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Symbols8"/>
                <a:ea typeface="LMMathSymbols8"/>
              </a:rPr>
              <a:t>∼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3562560" y="1129320"/>
            <a:ext cx="1588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22–25% of pre-prohibition own-tax.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3283200" y="1645920"/>
            <a:ext cx="2117160" cy="425880"/>
          </a:xfrm>
          <a:custGeom>
            <a:avLst/>
            <a:gdLst/>
            <a:ahLst/>
            <a:rect l="0" t="0" r="r" b="b"/>
            <a:pathLst>
              <a:path w="5881" h="1183">
                <a:moveTo>
                  <a:pt x="0" y="1043"/>
                </a:moveTo>
                <a:lnTo>
                  <a:pt x="0" y="140"/>
                </a:lnTo>
                <a:cubicBezTo>
                  <a:pt x="0" y="63"/>
                  <a:pt x="62" y="0"/>
                  <a:pt x="140" y="0"/>
                </a:cubicBezTo>
                <a:lnTo>
                  <a:pt x="5740" y="0"/>
                </a:lnTo>
                <a:cubicBezTo>
                  <a:pt x="5818" y="0"/>
                  <a:pt x="5881" y="63"/>
                  <a:pt x="5881" y="140"/>
                </a:cubicBezTo>
                <a:lnTo>
                  <a:pt x="5881" y="1043"/>
                </a:lnTo>
                <a:cubicBezTo>
                  <a:pt x="5881" y="1120"/>
                  <a:pt x="5818" y="1183"/>
                  <a:pt x="5740" y="1183"/>
                </a:cubicBezTo>
                <a:lnTo>
                  <a:pt x="140" y="1183"/>
                </a:lnTo>
                <a:cubicBezTo>
                  <a:pt x="62" y="1183"/>
                  <a:pt x="0" y="1120"/>
                  <a:pt x="0" y="1043"/>
                </a:cubicBezTo>
                <a:close/>
              </a:path>
            </a:pathLst>
          </a:custGeom>
          <a:solidFill>
            <a:srgbClr val="0a3a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4" name=""/>
          <p:cNvSpPr/>
          <p:nvPr/>
        </p:nvSpPr>
        <p:spPr>
          <a:xfrm>
            <a:off x="3283200" y="1645920"/>
            <a:ext cx="2117160" cy="425880"/>
          </a:xfrm>
          <a:custGeom>
            <a:avLst/>
            <a:gdLst/>
            <a:ahLst/>
            <a:rect l="0" t="0" r="r" b="b"/>
            <a:pathLst>
              <a:path w="5881" h="1183">
                <a:moveTo>
                  <a:pt x="0" y="1043"/>
                </a:moveTo>
                <a:lnTo>
                  <a:pt x="0" y="140"/>
                </a:lnTo>
                <a:cubicBezTo>
                  <a:pt x="0" y="63"/>
                  <a:pt x="62" y="0"/>
                  <a:pt x="140" y="0"/>
                </a:cubicBezTo>
                <a:lnTo>
                  <a:pt x="5740" y="0"/>
                </a:lnTo>
                <a:cubicBezTo>
                  <a:pt x="5818" y="0"/>
                  <a:pt x="5881" y="63"/>
                  <a:pt x="5881" y="140"/>
                </a:cubicBezTo>
                <a:lnTo>
                  <a:pt x="5881" y="1043"/>
                </a:lnTo>
                <a:cubicBezTo>
                  <a:pt x="5881" y="1120"/>
                  <a:pt x="5818" y="1183"/>
                  <a:pt x="5740" y="1183"/>
                </a:cubicBezTo>
                <a:lnTo>
                  <a:pt x="140" y="1183"/>
                </a:lnTo>
                <a:cubicBezTo>
                  <a:pt x="62" y="1183"/>
                  <a:pt x="0" y="1120"/>
                  <a:pt x="0" y="1043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5" name=""/>
          <p:cNvSpPr txBox="1"/>
          <p:nvPr/>
        </p:nvSpPr>
        <p:spPr>
          <a:xfrm>
            <a:off x="3283200" y="1301400"/>
            <a:ext cx="1358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Effect is therefore</a:t>
            </a:r>
            <a:r>
              <a:rPr b="1" lang="en-US" sz="790" spc="-1" strike="noStrike">
                <a:solidFill>
                  <a:srgbClr val="ef4444"/>
                </a:solidFill>
                <a:latin typeface="LMSans10"/>
                <a:ea typeface="LMSans10"/>
              </a:rPr>
              <a:t> attenuated</a:t>
            </a:r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3820680" y="1697040"/>
            <a:ext cx="2217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090" spc="-1" strike="noStrike">
                <a:solidFill>
                  <a:srgbClr val="f4a261"/>
                </a:solidFill>
                <a:latin typeface="LMMathSymbols10"/>
                <a:ea typeface="LMMathSymbols10"/>
              </a:rPr>
              <a:t>−</a:t>
            </a:r>
            <a:r>
              <a:rPr b="0" lang="en-US" sz="109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Ñ</a:t>
            </a:r>
            <a:endParaRPr b="0" lang="en-US" sz="10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7" name=""/>
          <p:cNvSpPr txBox="1"/>
          <p:nvPr/>
        </p:nvSpPr>
        <p:spPr>
          <a:xfrm>
            <a:off x="4040280" y="1685160"/>
            <a:ext cx="8647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090" spc="-1" strike="noStrike">
                <a:solidFill>
                  <a:srgbClr val="f4a261"/>
                </a:solidFill>
                <a:latin typeface="LMSans10"/>
                <a:ea typeface="LMSans10"/>
              </a:rPr>
              <a:t>2,017 Cr / yr</a:t>
            </a:r>
            <a:endParaRPr b="0" lang="en-US" sz="10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8" name=""/>
          <p:cNvSpPr/>
          <p:nvPr/>
        </p:nvSpPr>
        <p:spPr>
          <a:xfrm>
            <a:off x="3283200" y="2279520"/>
            <a:ext cx="2117160" cy="364320"/>
          </a:xfrm>
          <a:custGeom>
            <a:avLst/>
            <a:gdLst/>
            <a:ahLst/>
            <a:rect l="0" t="0" r="r" b="b"/>
            <a:pathLst>
              <a:path w="5881" h="1012">
                <a:moveTo>
                  <a:pt x="0" y="889"/>
                </a:moveTo>
                <a:lnTo>
                  <a:pt x="0" y="123"/>
                </a:lnTo>
                <a:cubicBezTo>
                  <a:pt x="0" y="55"/>
                  <a:pt x="55" y="0"/>
                  <a:pt x="123" y="0"/>
                </a:cubicBezTo>
                <a:lnTo>
                  <a:pt x="5758" y="0"/>
                </a:lnTo>
                <a:cubicBezTo>
                  <a:pt x="5825" y="0"/>
                  <a:pt x="5881" y="55"/>
                  <a:pt x="5881" y="123"/>
                </a:cubicBezTo>
                <a:lnTo>
                  <a:pt x="5881" y="889"/>
                </a:lnTo>
                <a:cubicBezTo>
                  <a:pt x="5881" y="957"/>
                  <a:pt x="5825" y="1012"/>
                  <a:pt x="5758" y="1012"/>
                </a:cubicBezTo>
                <a:lnTo>
                  <a:pt x="123" y="1012"/>
                </a:lnTo>
                <a:cubicBezTo>
                  <a:pt x="55" y="1012"/>
                  <a:pt x="0" y="957"/>
                  <a:pt x="0" y="889"/>
                </a:cubicBez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3289320" y="2286000"/>
            <a:ext cx="2104560" cy="351720"/>
          </a:xfrm>
          <a:custGeom>
            <a:avLst/>
            <a:gdLst/>
            <a:ahLst/>
            <a:rect l="0" t="0" r="r" b="b"/>
            <a:pathLst>
              <a:path w="5846" h="977">
                <a:moveTo>
                  <a:pt x="0" y="870"/>
                </a:moveTo>
                <a:lnTo>
                  <a:pt x="0" y="105"/>
                </a:lnTo>
                <a:cubicBezTo>
                  <a:pt x="0" y="47"/>
                  <a:pt x="47" y="0"/>
                  <a:pt x="106" y="0"/>
                </a:cubicBezTo>
                <a:lnTo>
                  <a:pt x="5741" y="0"/>
                </a:lnTo>
                <a:cubicBezTo>
                  <a:pt x="5799" y="0"/>
                  <a:pt x="5846" y="47"/>
                  <a:pt x="5846" y="105"/>
                </a:cubicBezTo>
                <a:lnTo>
                  <a:pt x="5846" y="870"/>
                </a:lnTo>
                <a:cubicBezTo>
                  <a:pt x="5846" y="929"/>
                  <a:pt x="5799" y="977"/>
                  <a:pt x="5741" y="977"/>
                </a:cubicBezTo>
                <a:lnTo>
                  <a:pt x="106" y="977"/>
                </a:lnTo>
                <a:cubicBezTo>
                  <a:pt x="47" y="977"/>
                  <a:pt x="0" y="929"/>
                  <a:pt x="0" y="870"/>
                </a:cubicBezTo>
                <a:close/>
              </a:path>
            </a:pathLst>
          </a:custGeom>
          <a:solidFill>
            <a:srgbClr val="f5f5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0" name=""/>
          <p:cNvSpPr txBox="1"/>
          <p:nvPr/>
        </p:nvSpPr>
        <p:spPr>
          <a:xfrm>
            <a:off x="3632400" y="1848600"/>
            <a:ext cx="137520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avg post-treatment SCM gap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3376080" y="2313720"/>
            <a:ext cx="3513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Donors: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2" name=""/>
          <p:cNvSpPr txBox="1"/>
          <p:nvPr/>
        </p:nvSpPr>
        <p:spPr>
          <a:xfrm>
            <a:off x="3803400" y="2313720"/>
            <a:ext cx="7473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dc823c"/>
                </a:solidFill>
                <a:latin typeface="LMSans10"/>
                <a:ea typeface="LMSans10"/>
              </a:rPr>
              <a:t>Jharkhand 0.84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3" name=""/>
          <p:cNvSpPr txBox="1"/>
          <p:nvPr/>
        </p:nvSpPr>
        <p:spPr>
          <a:xfrm>
            <a:off x="4623480" y="2313720"/>
            <a:ext cx="4032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UP 0.16.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5132160" y="2313720"/>
            <a:ext cx="191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Pre-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5" name=""/>
          <p:cNvSpPr txBox="1"/>
          <p:nvPr/>
        </p:nvSpPr>
        <p:spPr>
          <a:xfrm>
            <a:off x="3376080" y="2433600"/>
            <a:ext cx="3542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RMSPE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6" name=""/>
          <p:cNvSpPr txBox="1"/>
          <p:nvPr/>
        </p:nvSpPr>
        <p:spPr>
          <a:xfrm>
            <a:off x="3768480" y="244224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Font Awesome 5 Free Solid"/>
                <a:ea typeface="Font Awesome 5 Free Solid"/>
              </a:rPr>
              <a:t>Ñ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7" name=""/>
          <p:cNvSpPr txBox="1"/>
          <p:nvPr/>
        </p:nvSpPr>
        <p:spPr>
          <a:xfrm>
            <a:off x="3849480" y="2433600"/>
            <a:ext cx="8802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1,091 Cr; ratio 3.16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8" name=""/>
          <p:cNvSpPr txBox="1"/>
          <p:nvPr/>
        </p:nvSpPr>
        <p:spPr>
          <a:xfrm>
            <a:off x="4735080" y="244224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MathSymbols8"/>
                <a:ea typeface="LMMathSymbols8"/>
              </a:rPr>
              <a:t>×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9" name=""/>
          <p:cNvSpPr txBox="1"/>
          <p:nvPr/>
        </p:nvSpPr>
        <p:spPr>
          <a:xfrm>
            <a:off x="4818960" y="2433600"/>
            <a:ext cx="100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0" name=""/>
          <p:cNvSpPr txBox="1"/>
          <p:nvPr/>
        </p:nvSpPr>
        <p:spPr>
          <a:xfrm>
            <a:off x="5379480" y="3047400"/>
            <a:ext cx="337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17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359640" y="582840"/>
            <a:ext cx="2520720" cy="981720"/>
          </a:xfrm>
          <a:custGeom>
            <a:avLst/>
            <a:gdLst/>
            <a:ahLst/>
            <a:rect l="0" t="0" r="r" b="b"/>
            <a:pathLst>
              <a:path w="7002" h="2727">
                <a:moveTo>
                  <a:pt x="0" y="2601"/>
                </a:moveTo>
                <a:lnTo>
                  <a:pt x="0" y="127"/>
                </a:lnTo>
                <a:cubicBezTo>
                  <a:pt x="0" y="57"/>
                  <a:pt x="57" y="0"/>
                  <a:pt x="127" y="0"/>
                </a:cubicBezTo>
                <a:lnTo>
                  <a:pt x="6875" y="0"/>
                </a:lnTo>
                <a:cubicBezTo>
                  <a:pt x="6945" y="0"/>
                  <a:pt x="7002" y="57"/>
                  <a:pt x="7002" y="127"/>
                </a:cubicBezTo>
                <a:lnTo>
                  <a:pt x="7002" y="2601"/>
                </a:lnTo>
                <a:cubicBezTo>
                  <a:pt x="7002" y="2671"/>
                  <a:pt x="6945" y="2727"/>
                  <a:pt x="6875" y="2727"/>
                </a:cubicBezTo>
                <a:lnTo>
                  <a:pt x="127" y="2727"/>
                </a:lnTo>
                <a:cubicBezTo>
                  <a:pt x="57" y="2727"/>
                  <a:pt x="0" y="2671"/>
                  <a:pt x="0" y="2601"/>
                </a:cubicBezTo>
                <a:close/>
              </a:path>
            </a:pathLst>
          </a:custGeom>
          <a:solidFill>
            <a:srgbClr val="6fd99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367560" y="787320"/>
            <a:ext cx="2504880" cy="769680"/>
          </a:xfrm>
          <a:custGeom>
            <a:avLst/>
            <a:gdLst/>
            <a:ahLst/>
            <a:rect l="0" t="0" r="r" b="b"/>
            <a:pathLst>
              <a:path w="6958" h="2138">
                <a:moveTo>
                  <a:pt x="0" y="2033"/>
                </a:moveTo>
                <a:lnTo>
                  <a:pt x="0" y="0"/>
                </a:lnTo>
                <a:lnTo>
                  <a:pt x="6958" y="0"/>
                </a:lnTo>
                <a:lnTo>
                  <a:pt x="6958" y="2033"/>
                </a:lnTo>
                <a:cubicBezTo>
                  <a:pt x="6958" y="2091"/>
                  <a:pt x="6911" y="2138"/>
                  <a:pt x="6853" y="2138"/>
                </a:cubicBezTo>
                <a:lnTo>
                  <a:pt x="105" y="2138"/>
                </a:lnTo>
                <a:cubicBezTo>
                  <a:pt x="47" y="2138"/>
                  <a:pt x="0" y="2091"/>
                  <a:pt x="0" y="2033"/>
                </a:cubicBezTo>
                <a:close/>
              </a:path>
            </a:pathLst>
          </a:custGeom>
          <a:solidFill>
            <a:srgbClr val="e9f9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367560" y="590400"/>
            <a:ext cx="2504880" cy="197280"/>
          </a:xfrm>
          <a:custGeom>
            <a:avLst/>
            <a:gdLst/>
            <a:ahLst/>
            <a:rect l="0" t="0" r="r" b="b"/>
            <a:pathLst>
              <a:path w="6958" h="548">
                <a:moveTo>
                  <a:pt x="0" y="548"/>
                </a:moveTo>
                <a:lnTo>
                  <a:pt x="0" y="106"/>
                </a:lnTo>
                <a:cubicBezTo>
                  <a:pt x="0" y="47"/>
                  <a:pt x="47" y="0"/>
                  <a:pt x="105" y="0"/>
                </a:cubicBezTo>
                <a:lnTo>
                  <a:pt x="6853" y="0"/>
                </a:lnTo>
                <a:cubicBezTo>
                  <a:pt x="6911" y="0"/>
                  <a:pt x="6958" y="47"/>
                  <a:pt x="6958" y="106"/>
                </a:cubicBezTo>
                <a:lnTo>
                  <a:pt x="6958" y="548"/>
                </a:lnTo>
                <a:lnTo>
                  <a:pt x="0" y="548"/>
                </a:lnTo>
                <a:close/>
              </a:path>
            </a:pathLst>
          </a:custGeom>
          <a:solidFill>
            <a:srgbClr val="6fd99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6" name=""/>
          <p:cNvSpPr txBox="1"/>
          <p:nvPr/>
        </p:nvSpPr>
        <p:spPr>
          <a:xfrm>
            <a:off x="100080" y="5760"/>
            <a:ext cx="355176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Outcome 3 — Per-Capita Growth (Two Channels)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7" name=""/>
          <p:cNvSpPr txBox="1"/>
          <p:nvPr/>
        </p:nvSpPr>
        <p:spPr>
          <a:xfrm>
            <a:off x="466920" y="61020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fffff"/>
                </a:solidFill>
                <a:latin typeface="Font Awesome 5 Free Solid"/>
                <a:ea typeface="Font Awesome 5 Free Solid"/>
              </a:rPr>
              <a:t>+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8" name=""/>
          <p:cNvSpPr txBox="1"/>
          <p:nvPr/>
        </p:nvSpPr>
        <p:spPr>
          <a:xfrm>
            <a:off x="629280" y="600480"/>
            <a:ext cx="8982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ffffff"/>
                </a:solidFill>
                <a:latin typeface="LMSans10"/>
                <a:ea typeface="LMSans10"/>
              </a:rPr>
              <a:t>Positive channels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9" name=""/>
          <p:cNvSpPr txBox="1"/>
          <p:nvPr/>
        </p:nvSpPr>
        <p:spPr>
          <a:xfrm>
            <a:off x="466920" y="815040"/>
            <a:ext cx="15566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Household reallocation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— alcohol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0" name=""/>
          <p:cNvSpPr txBox="1"/>
          <p:nvPr/>
        </p:nvSpPr>
        <p:spPr>
          <a:xfrm>
            <a:off x="2076480" y="82368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MathSymbols8"/>
                <a:ea typeface="LMMathSymbols8"/>
              </a:rPr>
              <a:t>→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1" name=""/>
          <p:cNvSpPr txBox="1"/>
          <p:nvPr/>
        </p:nvSpPr>
        <p:spPr>
          <a:xfrm>
            <a:off x="2219760" y="815040"/>
            <a:ext cx="560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food, educa-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2" name=""/>
          <p:cNvSpPr txBox="1"/>
          <p:nvPr/>
        </p:nvSpPr>
        <p:spPr>
          <a:xfrm>
            <a:off x="466920" y="935280"/>
            <a:ext cx="554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tion, savings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3" name=""/>
          <p:cNvSpPr txBox="1"/>
          <p:nvPr/>
        </p:nvSpPr>
        <p:spPr>
          <a:xfrm>
            <a:off x="466920" y="1080720"/>
            <a:ext cx="22305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Productivity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— fewer alcohol-related absences &amp;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4" name=""/>
          <p:cNvSpPr txBox="1"/>
          <p:nvPr/>
        </p:nvSpPr>
        <p:spPr>
          <a:xfrm>
            <a:off x="466920" y="1200960"/>
            <a:ext cx="409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accidents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5" name=""/>
          <p:cNvSpPr txBox="1"/>
          <p:nvPr/>
        </p:nvSpPr>
        <p:spPr>
          <a:xfrm>
            <a:off x="466920" y="1346400"/>
            <a:ext cx="13982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Public health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— lower hospital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359640" y="1801080"/>
            <a:ext cx="2520720" cy="1095840"/>
          </a:xfrm>
          <a:custGeom>
            <a:avLst/>
            <a:gdLst/>
            <a:ahLst/>
            <a:rect l="0" t="0" r="r" b="b"/>
            <a:pathLst>
              <a:path w="7002" h="3044">
                <a:moveTo>
                  <a:pt x="0" y="2918"/>
                </a:moveTo>
                <a:lnTo>
                  <a:pt x="0" y="127"/>
                </a:lnTo>
                <a:cubicBezTo>
                  <a:pt x="0" y="57"/>
                  <a:pt x="57" y="0"/>
                  <a:pt x="127" y="0"/>
                </a:cubicBezTo>
                <a:lnTo>
                  <a:pt x="6875" y="0"/>
                </a:lnTo>
                <a:cubicBezTo>
                  <a:pt x="6945" y="0"/>
                  <a:pt x="7002" y="57"/>
                  <a:pt x="7002" y="127"/>
                </a:cubicBezTo>
                <a:lnTo>
                  <a:pt x="7002" y="2918"/>
                </a:lnTo>
                <a:cubicBezTo>
                  <a:pt x="7002" y="2988"/>
                  <a:pt x="6945" y="3044"/>
                  <a:pt x="6875" y="3044"/>
                </a:cubicBezTo>
                <a:lnTo>
                  <a:pt x="127" y="3044"/>
                </a:lnTo>
                <a:cubicBezTo>
                  <a:pt x="57" y="3044"/>
                  <a:pt x="0" y="2988"/>
                  <a:pt x="0" y="2918"/>
                </a:cubicBezTo>
                <a:close/>
              </a:path>
            </a:pathLst>
          </a:custGeom>
          <a:solidFill>
            <a:srgbClr val="f6989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367560" y="2007360"/>
            <a:ext cx="2504880" cy="882000"/>
          </a:xfrm>
          <a:custGeom>
            <a:avLst/>
            <a:gdLst/>
            <a:ahLst/>
            <a:rect l="0" t="0" r="r" b="b"/>
            <a:pathLst>
              <a:path w="6958" h="2450">
                <a:moveTo>
                  <a:pt x="0" y="2345"/>
                </a:moveTo>
                <a:lnTo>
                  <a:pt x="0" y="0"/>
                </a:lnTo>
                <a:lnTo>
                  <a:pt x="6958" y="0"/>
                </a:lnTo>
                <a:lnTo>
                  <a:pt x="6958" y="2345"/>
                </a:lnTo>
                <a:cubicBezTo>
                  <a:pt x="6958" y="2403"/>
                  <a:pt x="6911" y="2450"/>
                  <a:pt x="6853" y="2450"/>
                </a:cubicBezTo>
                <a:lnTo>
                  <a:pt x="105" y="2450"/>
                </a:lnTo>
                <a:cubicBezTo>
                  <a:pt x="47" y="2450"/>
                  <a:pt x="0" y="2403"/>
                  <a:pt x="0" y="2345"/>
                </a:cubicBezTo>
                <a:close/>
              </a:path>
            </a:pathLst>
          </a:custGeom>
          <a:solidFill>
            <a:srgbClr val="fef0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367560" y="1808640"/>
            <a:ext cx="2504880" cy="199080"/>
          </a:xfrm>
          <a:custGeom>
            <a:avLst/>
            <a:gdLst/>
            <a:ahLst/>
            <a:rect l="0" t="0" r="r" b="b"/>
            <a:pathLst>
              <a:path w="6958" h="553">
                <a:moveTo>
                  <a:pt x="0" y="553"/>
                </a:moveTo>
                <a:lnTo>
                  <a:pt x="0" y="106"/>
                </a:lnTo>
                <a:cubicBezTo>
                  <a:pt x="0" y="47"/>
                  <a:pt x="47" y="0"/>
                  <a:pt x="105" y="0"/>
                </a:cubicBezTo>
                <a:lnTo>
                  <a:pt x="6853" y="0"/>
                </a:lnTo>
                <a:cubicBezTo>
                  <a:pt x="6911" y="0"/>
                  <a:pt x="6958" y="47"/>
                  <a:pt x="6958" y="106"/>
                </a:cubicBezTo>
                <a:lnTo>
                  <a:pt x="6958" y="553"/>
                </a:lnTo>
                <a:lnTo>
                  <a:pt x="0" y="553"/>
                </a:lnTo>
                <a:close/>
              </a:path>
            </a:pathLst>
          </a:custGeom>
          <a:solidFill>
            <a:srgbClr val="f6989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9" name=""/>
          <p:cNvSpPr txBox="1"/>
          <p:nvPr/>
        </p:nvSpPr>
        <p:spPr>
          <a:xfrm>
            <a:off x="1905480" y="1346400"/>
            <a:ext cx="5385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trauma load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0" name=""/>
          <p:cNvSpPr txBox="1"/>
          <p:nvPr/>
        </p:nvSpPr>
        <p:spPr>
          <a:xfrm>
            <a:off x="466920" y="181512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fffff"/>
                </a:solidFill>
                <a:latin typeface="Font Awesome 5 Free Solid"/>
                <a:ea typeface="Font Awesome 5 Free Solid"/>
              </a:rPr>
              <a:t>−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1" name=""/>
          <p:cNvSpPr txBox="1"/>
          <p:nvPr/>
        </p:nvSpPr>
        <p:spPr>
          <a:xfrm>
            <a:off x="629280" y="1805400"/>
            <a:ext cx="9486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ffffff"/>
                </a:solidFill>
                <a:latin typeface="LMSans10"/>
                <a:ea typeface="LMSans10"/>
              </a:rPr>
              <a:t>Negative channels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2" name=""/>
          <p:cNvSpPr txBox="1"/>
          <p:nvPr/>
        </p:nvSpPr>
        <p:spPr>
          <a:xfrm>
            <a:off x="466920" y="2046960"/>
            <a:ext cx="6379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Excise loss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—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3" name=""/>
          <p:cNvSpPr txBox="1"/>
          <p:nvPr/>
        </p:nvSpPr>
        <p:spPr>
          <a:xfrm>
            <a:off x="1147320" y="2055600"/>
            <a:ext cx="1609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MathSymbols8"/>
                <a:ea typeface="LMMathSymbols8"/>
              </a:rPr>
              <a:t>∼</a:t>
            </a:r>
            <a:r>
              <a:rPr b="0" lang="en-US" sz="790" spc="-1" strike="noStrike">
                <a:solidFill>
                  <a:srgbClr val="000000"/>
                </a:solidFill>
                <a:latin typeface="Font Awesome 5 Free Solid"/>
                <a:ea typeface="Font Awesome 5 Free Solid"/>
              </a:rPr>
              <a:t>Ñ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1312200" y="2046960"/>
            <a:ext cx="14835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4,000 Cr/yr in lost public invest-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5" name=""/>
          <p:cNvSpPr txBox="1"/>
          <p:nvPr/>
        </p:nvSpPr>
        <p:spPr>
          <a:xfrm>
            <a:off x="466920" y="2167200"/>
            <a:ext cx="2264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ment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6" name=""/>
          <p:cNvSpPr txBox="1"/>
          <p:nvPr/>
        </p:nvSpPr>
        <p:spPr>
          <a:xfrm>
            <a:off x="466920" y="2312640"/>
            <a:ext cx="50364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Hospitality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7" name=""/>
          <p:cNvSpPr txBox="1"/>
          <p:nvPr/>
        </p:nvSpPr>
        <p:spPr>
          <a:xfrm>
            <a:off x="1056240" y="2312640"/>
            <a:ext cx="52668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contraction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8" name=""/>
          <p:cNvSpPr txBox="1"/>
          <p:nvPr/>
        </p:nvSpPr>
        <p:spPr>
          <a:xfrm>
            <a:off x="1670400" y="2312640"/>
            <a:ext cx="67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— 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restaurants,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9" name=""/>
          <p:cNvSpPr txBox="1"/>
          <p:nvPr/>
        </p:nvSpPr>
        <p:spPr>
          <a:xfrm>
            <a:off x="2489760" y="2312640"/>
            <a:ext cx="294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hotels,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0" name=""/>
          <p:cNvSpPr txBox="1"/>
          <p:nvPr/>
        </p:nvSpPr>
        <p:spPr>
          <a:xfrm>
            <a:off x="466920" y="2432880"/>
            <a:ext cx="3344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tourism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1" name=""/>
          <p:cNvSpPr txBox="1"/>
          <p:nvPr/>
        </p:nvSpPr>
        <p:spPr>
          <a:xfrm>
            <a:off x="466920" y="2578320"/>
            <a:ext cx="2306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Bootlegging / shadow economy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— unmeasured by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82" name="" descr=""/>
          <p:cNvPicPr/>
          <p:nvPr/>
        </p:nvPicPr>
        <p:blipFill>
          <a:blip r:embed="rId1"/>
          <a:stretch/>
        </p:blipFill>
        <p:spPr>
          <a:xfrm>
            <a:off x="3081600" y="435600"/>
            <a:ext cx="2318040" cy="1037880"/>
          </a:xfrm>
          <a:prstGeom prst="rect">
            <a:avLst/>
          </a:prstGeom>
          <a:ln w="0">
            <a:noFill/>
          </a:ln>
        </p:spPr>
      </p:pic>
      <p:sp>
        <p:nvSpPr>
          <p:cNvPr id="683" name=""/>
          <p:cNvSpPr txBox="1"/>
          <p:nvPr/>
        </p:nvSpPr>
        <p:spPr>
          <a:xfrm>
            <a:off x="466920" y="2698560"/>
            <a:ext cx="279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NSDP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4" name=""/>
          <p:cNvSpPr txBox="1"/>
          <p:nvPr/>
        </p:nvSpPr>
        <p:spPr>
          <a:xfrm>
            <a:off x="3135960" y="1514880"/>
            <a:ext cx="346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Donors: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5" name=""/>
          <p:cNvSpPr txBox="1"/>
          <p:nvPr/>
        </p:nvSpPr>
        <p:spPr>
          <a:xfrm>
            <a:off x="3529440" y="1514880"/>
            <a:ext cx="1806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dc823c"/>
                </a:solidFill>
                <a:latin typeface="LMSans10"/>
                <a:ea typeface="LMSans10"/>
              </a:rPr>
              <a:t>Odisha 0.66</a:t>
            </a:r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, Rajasthan 0.32, Jharkhand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6" name=""/>
          <p:cNvSpPr txBox="1"/>
          <p:nvPr/>
        </p:nvSpPr>
        <p:spPr>
          <a:xfrm>
            <a:off x="4140720" y="1635120"/>
            <a:ext cx="220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0.03.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7" name=""/>
          <p:cNvSpPr txBox="1"/>
          <p:nvPr/>
        </p:nvSpPr>
        <p:spPr>
          <a:xfrm>
            <a:off x="5379480" y="3047400"/>
            <a:ext cx="337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18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9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690" name="" descr=""/>
          <p:cNvPicPr/>
          <p:nvPr/>
        </p:nvPicPr>
        <p:blipFill>
          <a:blip r:embed="rId1"/>
          <a:stretch/>
        </p:blipFill>
        <p:spPr>
          <a:xfrm>
            <a:off x="360000" y="612000"/>
            <a:ext cx="2469240" cy="1105560"/>
          </a:xfrm>
          <a:prstGeom prst="rect">
            <a:avLst/>
          </a:prstGeom>
          <a:ln w="0">
            <a:noFill/>
          </a:ln>
        </p:spPr>
      </p:pic>
      <p:sp>
        <p:nvSpPr>
          <p:cNvPr id="691" name=""/>
          <p:cNvSpPr txBox="1"/>
          <p:nvPr/>
        </p:nvSpPr>
        <p:spPr>
          <a:xfrm>
            <a:off x="100080" y="5760"/>
            <a:ext cx="198792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Growth — Placebo &amp; BSTS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92" name="" descr=""/>
          <p:cNvPicPr/>
          <p:nvPr/>
        </p:nvPicPr>
        <p:blipFill>
          <a:blip r:embed="rId2"/>
          <a:stretch/>
        </p:blipFill>
        <p:spPr>
          <a:xfrm>
            <a:off x="2930400" y="612000"/>
            <a:ext cx="2469240" cy="1105560"/>
          </a:xfrm>
          <a:prstGeom prst="rect">
            <a:avLst/>
          </a:prstGeom>
          <a:ln w="0">
            <a:noFill/>
          </a:ln>
        </p:spPr>
      </p:pic>
      <p:sp>
        <p:nvSpPr>
          <p:cNvPr id="693" name=""/>
          <p:cNvSpPr txBox="1"/>
          <p:nvPr/>
        </p:nvSpPr>
        <p:spPr>
          <a:xfrm>
            <a:off x="774720" y="1746720"/>
            <a:ext cx="1631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In-space placebo — Bihar rank 6/14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3163320" y="1746720"/>
            <a:ext cx="298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SCM (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3463200" y="175536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6b7280"/>
                </a:solidFill>
                <a:latin typeface="LMMathSymbols8"/>
                <a:ea typeface="LMMathSymbols8"/>
              </a:rPr>
              <a:t>−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6" name=""/>
          <p:cNvSpPr txBox="1"/>
          <p:nvPr/>
        </p:nvSpPr>
        <p:spPr>
          <a:xfrm>
            <a:off x="3547080" y="1746720"/>
            <a:ext cx="100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2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3600720" y="175536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6b7280"/>
                </a:solidFill>
                <a:latin typeface="LMMathItalic8"/>
                <a:ea typeface="LMMathItalic8"/>
              </a:rPr>
              <a:t>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3630600" y="1746720"/>
            <a:ext cx="9349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99 pp/yr) vs BSTS (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4571640" y="175536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6b7280"/>
                </a:solidFill>
                <a:latin typeface="LMMathSymbols8"/>
                <a:ea typeface="LMMathSymbols8"/>
              </a:rPr>
              <a:t>−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0" name=""/>
          <p:cNvSpPr txBox="1"/>
          <p:nvPr/>
        </p:nvSpPr>
        <p:spPr>
          <a:xfrm>
            <a:off x="4655520" y="1746720"/>
            <a:ext cx="100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4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1" name=""/>
          <p:cNvSpPr txBox="1"/>
          <p:nvPr/>
        </p:nvSpPr>
        <p:spPr>
          <a:xfrm>
            <a:off x="4709160" y="175536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6b7280"/>
                </a:solidFill>
                <a:latin typeface="LMMathItalic8"/>
                <a:ea typeface="LMMathItalic8"/>
              </a:rPr>
              <a:t>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2" name=""/>
          <p:cNvSpPr/>
          <p:nvPr/>
        </p:nvSpPr>
        <p:spPr>
          <a:xfrm>
            <a:off x="359640" y="2046600"/>
            <a:ext cx="5040720" cy="499680"/>
          </a:xfrm>
          <a:custGeom>
            <a:avLst/>
            <a:gdLst/>
            <a:ahLst/>
            <a:rect l="0" t="0" r="r" b="b"/>
            <a:pathLst>
              <a:path w="14002" h="1388">
                <a:moveTo>
                  <a:pt x="0" y="1261"/>
                </a:moveTo>
                <a:lnTo>
                  <a:pt x="0" y="127"/>
                </a:lnTo>
                <a:cubicBezTo>
                  <a:pt x="0" y="57"/>
                  <a:pt x="57" y="0"/>
                  <a:pt x="127" y="0"/>
                </a:cubicBezTo>
                <a:lnTo>
                  <a:pt x="13875" y="0"/>
                </a:lnTo>
                <a:cubicBezTo>
                  <a:pt x="13945" y="0"/>
                  <a:pt x="14002" y="57"/>
                  <a:pt x="14002" y="127"/>
                </a:cubicBezTo>
                <a:lnTo>
                  <a:pt x="14002" y="1261"/>
                </a:lnTo>
                <a:cubicBezTo>
                  <a:pt x="14002" y="1331"/>
                  <a:pt x="13945" y="1388"/>
                  <a:pt x="13875" y="1388"/>
                </a:cubicBezTo>
                <a:lnTo>
                  <a:pt x="127" y="1388"/>
                </a:lnTo>
                <a:cubicBezTo>
                  <a:pt x="57" y="1388"/>
                  <a:pt x="0" y="1331"/>
                  <a:pt x="0" y="1261"/>
                </a:cubicBezTo>
                <a:close/>
              </a:path>
            </a:pathLst>
          </a:custGeom>
          <a:solidFill>
            <a:srgbClr val="f6989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3" name=""/>
          <p:cNvSpPr/>
          <p:nvPr/>
        </p:nvSpPr>
        <p:spPr>
          <a:xfrm>
            <a:off x="367560" y="2054160"/>
            <a:ext cx="5025240" cy="484560"/>
          </a:xfrm>
          <a:custGeom>
            <a:avLst/>
            <a:gdLst/>
            <a:ahLst/>
            <a:rect l="0" t="0" r="r" b="b"/>
            <a:pathLst>
              <a:path w="13959" h="1346">
                <a:moveTo>
                  <a:pt x="0" y="1240"/>
                </a:moveTo>
                <a:lnTo>
                  <a:pt x="0" y="106"/>
                </a:lnTo>
                <a:cubicBezTo>
                  <a:pt x="0" y="48"/>
                  <a:pt x="47" y="0"/>
                  <a:pt x="105" y="0"/>
                </a:cubicBezTo>
                <a:lnTo>
                  <a:pt x="13853" y="0"/>
                </a:lnTo>
                <a:cubicBezTo>
                  <a:pt x="13911" y="0"/>
                  <a:pt x="13959" y="48"/>
                  <a:pt x="13959" y="106"/>
                </a:cubicBezTo>
                <a:lnTo>
                  <a:pt x="13959" y="1240"/>
                </a:lnTo>
                <a:cubicBezTo>
                  <a:pt x="13959" y="1298"/>
                  <a:pt x="13911" y="1346"/>
                  <a:pt x="13853" y="1346"/>
                </a:cubicBezTo>
                <a:lnTo>
                  <a:pt x="105" y="1346"/>
                </a:lnTo>
                <a:cubicBezTo>
                  <a:pt x="47" y="1346"/>
                  <a:pt x="0" y="1298"/>
                  <a:pt x="0" y="1240"/>
                </a:cubicBezTo>
                <a:close/>
              </a:path>
            </a:pathLst>
          </a:custGeom>
          <a:solidFill>
            <a:srgbClr val="fef0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4" name=""/>
          <p:cNvSpPr txBox="1"/>
          <p:nvPr/>
        </p:nvSpPr>
        <p:spPr>
          <a:xfrm>
            <a:off x="4739040" y="1746720"/>
            <a:ext cx="4334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28 pp/yr)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5" name=""/>
          <p:cNvSpPr txBox="1"/>
          <p:nvPr/>
        </p:nvSpPr>
        <p:spPr>
          <a:xfrm>
            <a:off x="466920" y="2087640"/>
            <a:ext cx="99144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Honest interpretation.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6" name=""/>
          <p:cNvSpPr txBox="1"/>
          <p:nvPr/>
        </p:nvSpPr>
        <p:spPr>
          <a:xfrm>
            <a:off x="1523520" y="2087640"/>
            <a:ext cx="1631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Both methods point to Bihar growing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7" name=""/>
          <p:cNvSpPr txBox="1"/>
          <p:nvPr/>
        </p:nvSpPr>
        <p:spPr>
          <a:xfrm>
            <a:off x="3227040" y="209628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MathSymbols8"/>
                <a:ea typeface="LMMathSymbols8"/>
              </a:rPr>
              <a:t>∼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8" name=""/>
          <p:cNvSpPr txBox="1"/>
          <p:nvPr/>
        </p:nvSpPr>
        <p:spPr>
          <a:xfrm>
            <a:off x="3310920" y="2087640"/>
            <a:ext cx="1738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3–4 pp/year</a:t>
            </a:r>
            <a:r>
              <a:rPr b="0" i="1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slower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than counterfactual.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5124240" y="2087640"/>
            <a:ext cx="16524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dc823c"/>
                </a:solidFill>
                <a:latin typeface="LMSans10"/>
                <a:ea typeface="LMSans10"/>
              </a:rPr>
              <a:t>But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0" name=""/>
          <p:cNvSpPr txBox="1"/>
          <p:nvPr/>
        </p:nvSpPr>
        <p:spPr>
          <a:xfrm>
            <a:off x="466920" y="2207880"/>
            <a:ext cx="9014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SCM permutation</a:t>
            </a:r>
            <a:r>
              <a:rPr b="0" i="1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 p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1" name=""/>
          <p:cNvSpPr txBox="1"/>
          <p:nvPr/>
        </p:nvSpPr>
        <p:spPr>
          <a:xfrm>
            <a:off x="1438560" y="221652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MathSymbols8"/>
                <a:ea typeface="LMMathSymbols8"/>
              </a:rPr>
              <a:t>≈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2" name=""/>
          <p:cNvSpPr txBox="1"/>
          <p:nvPr/>
        </p:nvSpPr>
        <p:spPr>
          <a:xfrm>
            <a:off x="1562760" y="2207880"/>
            <a:ext cx="102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0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3" name=""/>
          <p:cNvSpPr txBox="1"/>
          <p:nvPr/>
        </p:nvSpPr>
        <p:spPr>
          <a:xfrm>
            <a:off x="1617480" y="221652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MathItalic8"/>
                <a:ea typeface="LMMathItalic8"/>
              </a:rPr>
              <a:t>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4" name=""/>
          <p:cNvSpPr txBox="1"/>
          <p:nvPr/>
        </p:nvSpPr>
        <p:spPr>
          <a:xfrm>
            <a:off x="1647360" y="2207880"/>
            <a:ext cx="3547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43 (rank 6/14) and BSTS uses a single-donor regression to avoid catastrophic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5" name=""/>
          <p:cNvSpPr txBox="1"/>
          <p:nvPr/>
        </p:nvSpPr>
        <p:spPr>
          <a:xfrm>
            <a:off x="466920" y="2328120"/>
            <a:ext cx="3117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overfit.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6" name=""/>
          <p:cNvSpPr txBox="1"/>
          <p:nvPr/>
        </p:nvSpPr>
        <p:spPr>
          <a:xfrm>
            <a:off x="828720" y="2328120"/>
            <a:ext cx="195156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ef4444"/>
                </a:solidFill>
                <a:latin typeface="LMSans10"/>
                <a:ea typeface="LMSans10"/>
              </a:rPr>
              <a:t>Direction is suggestive; significance is not.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7" name=""/>
          <p:cNvSpPr txBox="1"/>
          <p:nvPr/>
        </p:nvSpPr>
        <p:spPr>
          <a:xfrm>
            <a:off x="5379480" y="3047400"/>
            <a:ext cx="337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19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9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0" name=""/>
          <p:cNvSpPr/>
          <p:nvPr/>
        </p:nvSpPr>
        <p:spPr>
          <a:xfrm>
            <a:off x="359640" y="470880"/>
            <a:ext cx="5040000" cy="0"/>
          </a:xfrm>
          <a:prstGeom prst="line">
            <a:avLst/>
          </a:prstGeom>
          <a:ln w="10800">
            <a:solidFill>
              <a:srgbClr val="0a3a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00" rIns="5400" tIns="-5400" bIns="-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1" name=""/>
          <p:cNvSpPr/>
          <p:nvPr/>
        </p:nvSpPr>
        <p:spPr>
          <a:xfrm>
            <a:off x="284040" y="516600"/>
            <a:ext cx="1265040" cy="204480"/>
          </a:xfrm>
          <a:custGeom>
            <a:avLst/>
            <a:gdLst/>
            <a:ahLst/>
            <a:rect l="0" t="0" r="r" b="b"/>
            <a:pathLst>
              <a:path w="3514" h="568">
                <a:moveTo>
                  <a:pt x="0" y="568"/>
                </a:moveTo>
                <a:lnTo>
                  <a:pt x="3514" y="568"/>
                </a:lnTo>
                <a:lnTo>
                  <a:pt x="3514" y="0"/>
                </a:lnTo>
                <a:lnTo>
                  <a:pt x="0" y="0"/>
                </a:lnTo>
                <a:lnTo>
                  <a:pt x="0" y="568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2" name=""/>
          <p:cNvSpPr txBox="1"/>
          <p:nvPr/>
        </p:nvSpPr>
        <p:spPr>
          <a:xfrm>
            <a:off x="100080" y="5760"/>
            <a:ext cx="177156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Cross-Outcome Synthesis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1548720" y="516600"/>
            <a:ext cx="1888200" cy="204480"/>
          </a:xfrm>
          <a:custGeom>
            <a:avLst/>
            <a:gdLst/>
            <a:ahLst/>
            <a:rect l="0" t="0" r="r" b="b"/>
            <a:pathLst>
              <a:path w="5245" h="568">
                <a:moveTo>
                  <a:pt x="0" y="568"/>
                </a:moveTo>
                <a:lnTo>
                  <a:pt x="5245" y="568"/>
                </a:lnTo>
                <a:lnTo>
                  <a:pt x="5245" y="0"/>
                </a:lnTo>
                <a:lnTo>
                  <a:pt x="0" y="0"/>
                </a:lnTo>
                <a:lnTo>
                  <a:pt x="0" y="568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4" name=""/>
          <p:cNvSpPr txBox="1"/>
          <p:nvPr/>
        </p:nvSpPr>
        <p:spPr>
          <a:xfrm>
            <a:off x="360000" y="483840"/>
            <a:ext cx="41976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Outcome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5" name=""/>
          <p:cNvSpPr/>
          <p:nvPr/>
        </p:nvSpPr>
        <p:spPr>
          <a:xfrm>
            <a:off x="3436560" y="516600"/>
            <a:ext cx="723600" cy="204480"/>
          </a:xfrm>
          <a:custGeom>
            <a:avLst/>
            <a:gdLst/>
            <a:ahLst/>
            <a:rect l="0" t="0" r="r" b="b"/>
            <a:pathLst>
              <a:path w="2010" h="568">
                <a:moveTo>
                  <a:pt x="0" y="568"/>
                </a:moveTo>
                <a:lnTo>
                  <a:pt x="2010" y="568"/>
                </a:lnTo>
                <a:lnTo>
                  <a:pt x="2010" y="0"/>
                </a:lnTo>
                <a:lnTo>
                  <a:pt x="0" y="0"/>
                </a:lnTo>
                <a:lnTo>
                  <a:pt x="0" y="568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6" name=""/>
          <p:cNvSpPr txBox="1"/>
          <p:nvPr/>
        </p:nvSpPr>
        <p:spPr>
          <a:xfrm>
            <a:off x="1624680" y="568080"/>
            <a:ext cx="42120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Direction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7" name=""/>
          <p:cNvSpPr/>
          <p:nvPr/>
        </p:nvSpPr>
        <p:spPr>
          <a:xfrm>
            <a:off x="4159800" y="516600"/>
            <a:ext cx="480960" cy="204480"/>
          </a:xfrm>
          <a:custGeom>
            <a:avLst/>
            <a:gdLst/>
            <a:ahLst/>
            <a:rect l="0" t="0" r="r" b="b"/>
            <a:pathLst>
              <a:path w="1336" h="568">
                <a:moveTo>
                  <a:pt x="0" y="568"/>
                </a:moveTo>
                <a:lnTo>
                  <a:pt x="1336" y="568"/>
                </a:lnTo>
                <a:lnTo>
                  <a:pt x="1336" y="0"/>
                </a:lnTo>
                <a:lnTo>
                  <a:pt x="0" y="0"/>
                </a:lnTo>
                <a:lnTo>
                  <a:pt x="0" y="568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8" name=""/>
          <p:cNvSpPr txBox="1"/>
          <p:nvPr/>
        </p:nvSpPr>
        <p:spPr>
          <a:xfrm>
            <a:off x="3687480" y="483840"/>
            <a:ext cx="39528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Avg / yr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9" name=""/>
          <p:cNvSpPr/>
          <p:nvPr/>
        </p:nvSpPr>
        <p:spPr>
          <a:xfrm>
            <a:off x="4640400" y="516600"/>
            <a:ext cx="438840" cy="204480"/>
          </a:xfrm>
          <a:custGeom>
            <a:avLst/>
            <a:gdLst/>
            <a:ahLst/>
            <a:rect l="0" t="0" r="r" b="b"/>
            <a:pathLst>
              <a:path w="1219" h="568">
                <a:moveTo>
                  <a:pt x="0" y="568"/>
                </a:moveTo>
                <a:lnTo>
                  <a:pt x="1219" y="568"/>
                </a:lnTo>
                <a:lnTo>
                  <a:pt x="1219" y="0"/>
                </a:lnTo>
                <a:lnTo>
                  <a:pt x="0" y="0"/>
                </a:lnTo>
                <a:lnTo>
                  <a:pt x="0" y="568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0" name=""/>
          <p:cNvSpPr txBox="1"/>
          <p:nvPr/>
        </p:nvSpPr>
        <p:spPr>
          <a:xfrm>
            <a:off x="4317840" y="483840"/>
            <a:ext cx="24444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Ratio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1" name=""/>
          <p:cNvSpPr/>
          <p:nvPr/>
        </p:nvSpPr>
        <p:spPr>
          <a:xfrm>
            <a:off x="5078880" y="516600"/>
            <a:ext cx="397080" cy="204480"/>
          </a:xfrm>
          <a:custGeom>
            <a:avLst/>
            <a:gdLst/>
            <a:ahLst/>
            <a:rect l="0" t="0" r="r" b="b"/>
            <a:pathLst>
              <a:path w="1103" h="568">
                <a:moveTo>
                  <a:pt x="0" y="568"/>
                </a:moveTo>
                <a:lnTo>
                  <a:pt x="1103" y="568"/>
                </a:lnTo>
                <a:lnTo>
                  <a:pt x="1103" y="0"/>
                </a:lnTo>
                <a:lnTo>
                  <a:pt x="0" y="0"/>
                </a:lnTo>
                <a:lnTo>
                  <a:pt x="0" y="568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2" name=""/>
          <p:cNvSpPr txBox="1"/>
          <p:nvPr/>
        </p:nvSpPr>
        <p:spPr>
          <a:xfrm>
            <a:off x="4768560" y="483840"/>
            <a:ext cx="23400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Rank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3" name=""/>
          <p:cNvSpPr/>
          <p:nvPr/>
        </p:nvSpPr>
        <p:spPr>
          <a:xfrm>
            <a:off x="359640" y="748800"/>
            <a:ext cx="5040000" cy="0"/>
          </a:xfrm>
          <a:prstGeom prst="line">
            <a:avLst/>
          </a:prstGeom>
          <a:ln w="6840">
            <a:solidFill>
              <a:srgbClr val="0a3a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240" rIns="3240" tIns="-3240" bIns="-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4" name=""/>
          <p:cNvSpPr txBox="1"/>
          <p:nvPr/>
        </p:nvSpPr>
        <p:spPr>
          <a:xfrm>
            <a:off x="5155200" y="483840"/>
            <a:ext cx="10080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ffffff"/>
                </a:solidFill>
                <a:latin typeface="LMSans10"/>
                <a:ea typeface="LMSans10"/>
              </a:rPr>
              <a:t>p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5" name=""/>
          <p:cNvSpPr txBox="1"/>
          <p:nvPr/>
        </p:nvSpPr>
        <p:spPr>
          <a:xfrm>
            <a:off x="360000" y="759960"/>
            <a:ext cx="9579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Road-accident deaths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6" name=""/>
          <p:cNvSpPr txBox="1"/>
          <p:nvPr/>
        </p:nvSpPr>
        <p:spPr>
          <a:xfrm>
            <a:off x="1624680" y="76860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Symbols8"/>
                <a:ea typeface="LMMathSymbols8"/>
              </a:rPr>
              <a:t>↓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7" name=""/>
          <p:cNvSpPr txBox="1"/>
          <p:nvPr/>
        </p:nvSpPr>
        <p:spPr>
          <a:xfrm>
            <a:off x="1714320" y="759960"/>
            <a:ext cx="195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then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8" name=""/>
          <p:cNvSpPr txBox="1"/>
          <p:nvPr/>
        </p:nvSpPr>
        <p:spPr>
          <a:xfrm>
            <a:off x="1947960" y="76860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Symbols8"/>
                <a:ea typeface="LMMathSymbols8"/>
              </a:rPr>
              <a:t>↑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9" name=""/>
          <p:cNvSpPr txBox="1"/>
          <p:nvPr/>
        </p:nvSpPr>
        <p:spPr>
          <a:xfrm>
            <a:off x="2037600" y="759960"/>
            <a:ext cx="377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(reversal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0" name=""/>
          <p:cNvSpPr txBox="1"/>
          <p:nvPr/>
        </p:nvSpPr>
        <p:spPr>
          <a:xfrm>
            <a:off x="2452320" y="759960"/>
            <a:ext cx="479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post-2018)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1" name=""/>
          <p:cNvSpPr txBox="1"/>
          <p:nvPr/>
        </p:nvSpPr>
        <p:spPr>
          <a:xfrm>
            <a:off x="3512880" y="759960"/>
            <a:ext cx="567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+360 deaths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2" name=""/>
          <p:cNvSpPr txBox="1"/>
          <p:nvPr/>
        </p:nvSpPr>
        <p:spPr>
          <a:xfrm>
            <a:off x="4236120" y="759960"/>
            <a:ext cx="2430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22.87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3" name=""/>
          <p:cNvSpPr txBox="1"/>
          <p:nvPr/>
        </p:nvSpPr>
        <p:spPr>
          <a:xfrm>
            <a:off x="4480920" y="76860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Symbols8"/>
                <a:ea typeface="LMMathSymbols8"/>
              </a:rPr>
              <a:t>×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4" name=""/>
          <p:cNvSpPr txBox="1"/>
          <p:nvPr/>
        </p:nvSpPr>
        <p:spPr>
          <a:xfrm>
            <a:off x="4716360" y="759960"/>
            <a:ext cx="284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2 / 14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5" name=""/>
          <p:cNvSpPr txBox="1"/>
          <p:nvPr/>
        </p:nvSpPr>
        <p:spPr>
          <a:xfrm>
            <a:off x="5154840" y="759960"/>
            <a:ext cx="2430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0.071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6" name=""/>
          <p:cNvSpPr txBox="1"/>
          <p:nvPr/>
        </p:nvSpPr>
        <p:spPr>
          <a:xfrm>
            <a:off x="360000" y="880200"/>
            <a:ext cx="756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Own tax revenue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7" name=""/>
          <p:cNvSpPr txBox="1"/>
          <p:nvPr/>
        </p:nvSpPr>
        <p:spPr>
          <a:xfrm>
            <a:off x="1624680" y="88884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Symbols8"/>
                <a:ea typeface="LMMathSymbols8"/>
              </a:rPr>
              <a:t>↓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8" name=""/>
          <p:cNvSpPr txBox="1"/>
          <p:nvPr/>
        </p:nvSpPr>
        <p:spPr>
          <a:xfrm>
            <a:off x="1714320" y="880200"/>
            <a:ext cx="5616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(attenuated)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9" name=""/>
          <p:cNvSpPr txBox="1"/>
          <p:nvPr/>
        </p:nvSpPr>
        <p:spPr>
          <a:xfrm>
            <a:off x="3533040" y="888840"/>
            <a:ext cx="1609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Symbols8"/>
                <a:ea typeface="LMMathSymbols8"/>
              </a:rPr>
              <a:t>−</a:t>
            </a:r>
            <a:r>
              <a:rPr b="0" lang="en-US" sz="790" spc="-1" strike="noStrike">
                <a:solidFill>
                  <a:srgbClr val="0a3a66"/>
                </a:solidFill>
                <a:latin typeface="Font Awesome 5 Free Solid"/>
                <a:ea typeface="Font Awesome 5 Free Solid"/>
              </a:rPr>
              <a:t>Ñ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0" name=""/>
          <p:cNvSpPr txBox="1"/>
          <p:nvPr/>
        </p:nvSpPr>
        <p:spPr>
          <a:xfrm>
            <a:off x="3697920" y="880200"/>
            <a:ext cx="3834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2,017 Cr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1" name=""/>
          <p:cNvSpPr txBox="1"/>
          <p:nvPr/>
        </p:nvSpPr>
        <p:spPr>
          <a:xfrm>
            <a:off x="4289760" y="880200"/>
            <a:ext cx="189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3.16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2" name=""/>
          <p:cNvSpPr txBox="1"/>
          <p:nvPr/>
        </p:nvSpPr>
        <p:spPr>
          <a:xfrm>
            <a:off x="4480920" y="88884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Symbols8"/>
                <a:ea typeface="LMMathSymbols8"/>
              </a:rPr>
              <a:t>×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3" name=""/>
          <p:cNvSpPr txBox="1"/>
          <p:nvPr/>
        </p:nvSpPr>
        <p:spPr>
          <a:xfrm>
            <a:off x="4895640" y="880200"/>
            <a:ext cx="107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—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4" name=""/>
          <p:cNvSpPr txBox="1"/>
          <p:nvPr/>
        </p:nvSpPr>
        <p:spPr>
          <a:xfrm>
            <a:off x="5155200" y="880200"/>
            <a:ext cx="107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—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5" name=""/>
          <p:cNvSpPr txBox="1"/>
          <p:nvPr/>
        </p:nvSpPr>
        <p:spPr>
          <a:xfrm>
            <a:off x="360000" y="1000080"/>
            <a:ext cx="11055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NSDP per-capita growth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6" name=""/>
          <p:cNvSpPr txBox="1"/>
          <p:nvPr/>
        </p:nvSpPr>
        <p:spPr>
          <a:xfrm>
            <a:off x="1624680" y="100872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Symbols8"/>
                <a:ea typeface="LMMathSymbols8"/>
              </a:rPr>
              <a:t>↓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7" name=""/>
          <p:cNvSpPr txBox="1"/>
          <p:nvPr/>
        </p:nvSpPr>
        <p:spPr>
          <a:xfrm>
            <a:off x="1714320" y="1000080"/>
            <a:ext cx="535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(suggestive)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8" name=""/>
          <p:cNvSpPr txBox="1"/>
          <p:nvPr/>
        </p:nvSpPr>
        <p:spPr>
          <a:xfrm>
            <a:off x="3662280" y="100872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Symbols8"/>
                <a:ea typeface="LMMathSymbols8"/>
              </a:rPr>
              <a:t>−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9" name=""/>
          <p:cNvSpPr txBox="1"/>
          <p:nvPr/>
        </p:nvSpPr>
        <p:spPr>
          <a:xfrm>
            <a:off x="3746160" y="1000080"/>
            <a:ext cx="100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2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0" name=""/>
          <p:cNvSpPr txBox="1"/>
          <p:nvPr/>
        </p:nvSpPr>
        <p:spPr>
          <a:xfrm>
            <a:off x="3799800" y="100872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Italic8"/>
                <a:ea typeface="LMMathItalic8"/>
              </a:rPr>
              <a:t>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1" name=""/>
          <p:cNvSpPr txBox="1"/>
          <p:nvPr/>
        </p:nvSpPr>
        <p:spPr>
          <a:xfrm>
            <a:off x="3829680" y="1000080"/>
            <a:ext cx="2523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99 pp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2" name=""/>
          <p:cNvSpPr txBox="1"/>
          <p:nvPr/>
        </p:nvSpPr>
        <p:spPr>
          <a:xfrm>
            <a:off x="4236120" y="1000080"/>
            <a:ext cx="2430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83.86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3" name=""/>
          <p:cNvSpPr txBox="1"/>
          <p:nvPr/>
        </p:nvSpPr>
        <p:spPr>
          <a:xfrm>
            <a:off x="4480920" y="100872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a3a66"/>
                </a:solidFill>
                <a:latin typeface="LMMathSymbols8"/>
                <a:ea typeface="LMMathSymbols8"/>
              </a:rPr>
              <a:t>×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4" name=""/>
          <p:cNvSpPr txBox="1"/>
          <p:nvPr/>
        </p:nvSpPr>
        <p:spPr>
          <a:xfrm>
            <a:off x="4716360" y="1000080"/>
            <a:ext cx="284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6 / 14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5" name=""/>
          <p:cNvSpPr/>
          <p:nvPr/>
        </p:nvSpPr>
        <p:spPr>
          <a:xfrm>
            <a:off x="359640" y="1182960"/>
            <a:ext cx="5040000" cy="0"/>
          </a:xfrm>
          <a:prstGeom prst="line">
            <a:avLst/>
          </a:prstGeom>
          <a:ln w="10800">
            <a:solidFill>
              <a:srgbClr val="0a3a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00" rIns="5400" tIns="-5400" bIns="-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6" name=""/>
          <p:cNvSpPr/>
          <p:nvPr/>
        </p:nvSpPr>
        <p:spPr>
          <a:xfrm>
            <a:off x="359640" y="1423440"/>
            <a:ext cx="2419920" cy="1281600"/>
          </a:xfrm>
          <a:custGeom>
            <a:avLst/>
            <a:gdLst/>
            <a:ahLst/>
            <a:rect l="0" t="0" r="r" b="b"/>
            <a:pathLst>
              <a:path w="6722" h="3560">
                <a:moveTo>
                  <a:pt x="0" y="3433"/>
                </a:moveTo>
                <a:lnTo>
                  <a:pt x="0" y="126"/>
                </a:lnTo>
                <a:cubicBezTo>
                  <a:pt x="0" y="56"/>
                  <a:pt x="57" y="0"/>
                  <a:pt x="127" y="0"/>
                </a:cubicBezTo>
                <a:lnTo>
                  <a:pt x="6595" y="0"/>
                </a:lnTo>
                <a:cubicBezTo>
                  <a:pt x="6665" y="0"/>
                  <a:pt x="6722" y="56"/>
                  <a:pt x="6722" y="126"/>
                </a:cubicBezTo>
                <a:lnTo>
                  <a:pt x="6722" y="3433"/>
                </a:lnTo>
                <a:cubicBezTo>
                  <a:pt x="6722" y="3503"/>
                  <a:pt x="6665" y="3560"/>
                  <a:pt x="6595" y="3560"/>
                </a:cubicBezTo>
                <a:lnTo>
                  <a:pt x="127" y="3560"/>
                </a:lnTo>
                <a:cubicBezTo>
                  <a:pt x="57" y="3560"/>
                  <a:pt x="0" y="3503"/>
                  <a:pt x="0" y="3433"/>
                </a:cubicBezTo>
                <a:close/>
              </a:path>
            </a:pathLst>
          </a:custGeom>
          <a:solidFill>
            <a:srgbClr val="6fd99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7" name=""/>
          <p:cNvSpPr/>
          <p:nvPr/>
        </p:nvSpPr>
        <p:spPr>
          <a:xfrm>
            <a:off x="367560" y="1638720"/>
            <a:ext cx="2404080" cy="1058760"/>
          </a:xfrm>
          <a:custGeom>
            <a:avLst/>
            <a:gdLst/>
            <a:ahLst/>
            <a:rect l="0" t="0" r="r" b="b"/>
            <a:pathLst>
              <a:path w="6678" h="2941">
                <a:moveTo>
                  <a:pt x="0" y="2835"/>
                </a:moveTo>
                <a:lnTo>
                  <a:pt x="0" y="0"/>
                </a:lnTo>
                <a:lnTo>
                  <a:pt x="6678" y="0"/>
                </a:lnTo>
                <a:lnTo>
                  <a:pt x="6678" y="2835"/>
                </a:lnTo>
                <a:cubicBezTo>
                  <a:pt x="6678" y="2894"/>
                  <a:pt x="6631" y="2941"/>
                  <a:pt x="6573" y="2941"/>
                </a:cubicBezTo>
                <a:lnTo>
                  <a:pt x="105" y="2941"/>
                </a:lnTo>
                <a:cubicBezTo>
                  <a:pt x="47" y="2941"/>
                  <a:pt x="0" y="2894"/>
                  <a:pt x="0" y="2835"/>
                </a:cubicBezTo>
                <a:close/>
              </a:path>
            </a:pathLst>
          </a:custGeom>
          <a:solidFill>
            <a:srgbClr val="e9f9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8" name=""/>
          <p:cNvSpPr/>
          <p:nvPr/>
        </p:nvSpPr>
        <p:spPr>
          <a:xfrm>
            <a:off x="367560" y="1431000"/>
            <a:ext cx="2404080" cy="208080"/>
          </a:xfrm>
          <a:custGeom>
            <a:avLst/>
            <a:gdLst/>
            <a:ahLst/>
            <a:rect l="0" t="0" r="r" b="b"/>
            <a:pathLst>
              <a:path w="6678" h="578">
                <a:moveTo>
                  <a:pt x="0" y="578"/>
                </a:moveTo>
                <a:lnTo>
                  <a:pt x="0" y="105"/>
                </a:lnTo>
                <a:cubicBezTo>
                  <a:pt x="0" y="47"/>
                  <a:pt x="47" y="0"/>
                  <a:pt x="105" y="0"/>
                </a:cubicBezTo>
                <a:lnTo>
                  <a:pt x="6573" y="0"/>
                </a:lnTo>
                <a:cubicBezTo>
                  <a:pt x="6631" y="0"/>
                  <a:pt x="6678" y="47"/>
                  <a:pt x="6678" y="105"/>
                </a:cubicBezTo>
                <a:lnTo>
                  <a:pt x="6678" y="578"/>
                </a:lnTo>
                <a:lnTo>
                  <a:pt x="0" y="578"/>
                </a:lnTo>
                <a:close/>
              </a:path>
            </a:pathLst>
          </a:custGeom>
          <a:solidFill>
            <a:srgbClr val="6fd99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9" name=""/>
          <p:cNvSpPr txBox="1"/>
          <p:nvPr/>
        </p:nvSpPr>
        <p:spPr>
          <a:xfrm>
            <a:off x="5154840" y="1000080"/>
            <a:ext cx="189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a3a66"/>
                </a:solidFill>
                <a:latin typeface="LMSans8"/>
                <a:ea typeface="LMSans8"/>
              </a:rPr>
              <a:t>0.43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0" name=""/>
          <p:cNvSpPr txBox="1"/>
          <p:nvPr/>
        </p:nvSpPr>
        <p:spPr>
          <a:xfrm>
            <a:off x="466920" y="145584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fffff"/>
                </a:solidFill>
                <a:latin typeface="Font Awesome 5 Free Solid"/>
                <a:ea typeface="Font Awesome 5 Free Solid"/>
              </a:rPr>
              <a:t>¥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1" name=""/>
          <p:cNvSpPr txBox="1"/>
          <p:nvPr/>
        </p:nvSpPr>
        <p:spPr>
          <a:xfrm>
            <a:off x="643320" y="1446120"/>
            <a:ext cx="10112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ffffff"/>
                </a:solidFill>
                <a:latin typeface="LMSans10"/>
                <a:ea typeface="LMSans10"/>
              </a:rPr>
              <a:t>What we can claim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2" name=""/>
          <p:cNvSpPr txBox="1"/>
          <p:nvPr/>
        </p:nvSpPr>
        <p:spPr>
          <a:xfrm>
            <a:off x="603360" y="168228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3" name=""/>
          <p:cNvSpPr txBox="1"/>
          <p:nvPr/>
        </p:nvSpPr>
        <p:spPr>
          <a:xfrm>
            <a:off x="744120" y="1672560"/>
            <a:ext cx="18799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Significant short-run reduction in road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4" name=""/>
          <p:cNvSpPr txBox="1"/>
          <p:nvPr/>
        </p:nvSpPr>
        <p:spPr>
          <a:xfrm>
            <a:off x="744120" y="1811880"/>
            <a:ext cx="8586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deaths (2016–17)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5" name=""/>
          <p:cNvSpPr txBox="1"/>
          <p:nvPr/>
        </p:nvSpPr>
        <p:spPr>
          <a:xfrm>
            <a:off x="603360" y="201132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6" name=""/>
          <p:cNvSpPr txBox="1"/>
          <p:nvPr/>
        </p:nvSpPr>
        <p:spPr>
          <a:xfrm>
            <a:off x="744120" y="2001600"/>
            <a:ext cx="16984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Composite tax gap consistent with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7" name=""/>
          <p:cNvSpPr txBox="1"/>
          <p:nvPr/>
        </p:nvSpPr>
        <p:spPr>
          <a:xfrm>
            <a:off x="744120" y="2150280"/>
            <a:ext cx="1836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Symbols9"/>
                <a:ea typeface="LMMathSymbols9"/>
              </a:rPr>
              <a:t>∼</a:t>
            </a:r>
            <a:r>
              <a:rPr b="0" lang="en-US" sz="900" spc="-1" strike="noStrike">
                <a:solidFill>
                  <a:srgbClr val="0a3a66"/>
                </a:solidFill>
                <a:latin typeface="Font Awesome 5 Free Solid"/>
                <a:ea typeface="Font Awesome 5 Free Solid"/>
              </a:rPr>
              <a:t>Ñ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8" name=""/>
          <p:cNvSpPr txBox="1"/>
          <p:nvPr/>
        </p:nvSpPr>
        <p:spPr>
          <a:xfrm>
            <a:off x="925560" y="2140560"/>
            <a:ext cx="9608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4,000 Cr excise loss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9" name=""/>
          <p:cNvSpPr txBox="1"/>
          <p:nvPr/>
        </p:nvSpPr>
        <p:spPr>
          <a:xfrm>
            <a:off x="603360" y="234036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0" name=""/>
          <p:cNvSpPr txBox="1"/>
          <p:nvPr/>
        </p:nvSpPr>
        <p:spPr>
          <a:xfrm>
            <a:off x="739800" y="2330280"/>
            <a:ext cx="16297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Three outcomes paint a coherent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1" name=""/>
          <p:cNvSpPr/>
          <p:nvPr/>
        </p:nvSpPr>
        <p:spPr>
          <a:xfrm>
            <a:off x="2980800" y="1423440"/>
            <a:ext cx="2419560" cy="1148760"/>
          </a:xfrm>
          <a:custGeom>
            <a:avLst/>
            <a:gdLst/>
            <a:ahLst/>
            <a:rect l="0" t="0" r="r" b="b"/>
            <a:pathLst>
              <a:path w="6721" h="3191">
                <a:moveTo>
                  <a:pt x="0" y="3064"/>
                </a:moveTo>
                <a:lnTo>
                  <a:pt x="0" y="126"/>
                </a:lnTo>
                <a:cubicBezTo>
                  <a:pt x="0" y="56"/>
                  <a:pt x="56" y="0"/>
                  <a:pt x="126" y="0"/>
                </a:cubicBezTo>
                <a:lnTo>
                  <a:pt x="6594" y="0"/>
                </a:lnTo>
                <a:cubicBezTo>
                  <a:pt x="6664" y="0"/>
                  <a:pt x="6721" y="56"/>
                  <a:pt x="6721" y="126"/>
                </a:cubicBezTo>
                <a:lnTo>
                  <a:pt x="6721" y="3064"/>
                </a:lnTo>
                <a:cubicBezTo>
                  <a:pt x="6721" y="3134"/>
                  <a:pt x="6664" y="3191"/>
                  <a:pt x="6594" y="3191"/>
                </a:cubicBezTo>
                <a:lnTo>
                  <a:pt x="126" y="3191"/>
                </a:lnTo>
                <a:cubicBezTo>
                  <a:pt x="56" y="3191"/>
                  <a:pt x="0" y="3134"/>
                  <a:pt x="0" y="3064"/>
                </a:cubicBezTo>
                <a:close/>
              </a:path>
            </a:pathLst>
          </a:custGeom>
          <a:solidFill>
            <a:srgbClr val="f6989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2" name=""/>
          <p:cNvSpPr/>
          <p:nvPr/>
        </p:nvSpPr>
        <p:spPr>
          <a:xfrm>
            <a:off x="2988360" y="1638360"/>
            <a:ext cx="2404080" cy="926280"/>
          </a:xfrm>
          <a:custGeom>
            <a:avLst/>
            <a:gdLst/>
            <a:ahLst/>
            <a:rect l="0" t="0" r="r" b="b"/>
            <a:pathLst>
              <a:path w="6678" h="2573">
                <a:moveTo>
                  <a:pt x="0" y="2467"/>
                </a:moveTo>
                <a:lnTo>
                  <a:pt x="0" y="0"/>
                </a:lnTo>
                <a:lnTo>
                  <a:pt x="6678" y="0"/>
                </a:lnTo>
                <a:lnTo>
                  <a:pt x="6678" y="2467"/>
                </a:lnTo>
                <a:cubicBezTo>
                  <a:pt x="6678" y="2525"/>
                  <a:pt x="6631" y="2573"/>
                  <a:pt x="6573" y="2573"/>
                </a:cubicBezTo>
                <a:lnTo>
                  <a:pt x="105" y="2573"/>
                </a:lnTo>
                <a:cubicBezTo>
                  <a:pt x="47" y="2573"/>
                  <a:pt x="0" y="2525"/>
                  <a:pt x="0" y="2467"/>
                </a:cubicBezTo>
                <a:close/>
              </a:path>
            </a:pathLst>
          </a:custGeom>
          <a:solidFill>
            <a:srgbClr val="fef0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3" name=""/>
          <p:cNvSpPr/>
          <p:nvPr/>
        </p:nvSpPr>
        <p:spPr>
          <a:xfrm>
            <a:off x="2988360" y="1431000"/>
            <a:ext cx="2404080" cy="207720"/>
          </a:xfrm>
          <a:custGeom>
            <a:avLst/>
            <a:gdLst/>
            <a:ahLst/>
            <a:rect l="0" t="0" r="r" b="b"/>
            <a:pathLst>
              <a:path w="6678" h="577">
                <a:moveTo>
                  <a:pt x="0" y="577"/>
                </a:moveTo>
                <a:lnTo>
                  <a:pt x="0" y="105"/>
                </a:lnTo>
                <a:cubicBezTo>
                  <a:pt x="0" y="47"/>
                  <a:pt x="47" y="0"/>
                  <a:pt x="105" y="0"/>
                </a:cubicBezTo>
                <a:lnTo>
                  <a:pt x="6573" y="0"/>
                </a:lnTo>
                <a:cubicBezTo>
                  <a:pt x="6631" y="0"/>
                  <a:pt x="6678" y="47"/>
                  <a:pt x="6678" y="105"/>
                </a:cubicBezTo>
                <a:lnTo>
                  <a:pt x="6678" y="577"/>
                </a:lnTo>
                <a:lnTo>
                  <a:pt x="0" y="577"/>
                </a:lnTo>
                <a:close/>
              </a:path>
            </a:pathLst>
          </a:custGeom>
          <a:solidFill>
            <a:srgbClr val="f6989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4" name=""/>
          <p:cNvSpPr txBox="1"/>
          <p:nvPr/>
        </p:nvSpPr>
        <p:spPr>
          <a:xfrm>
            <a:off x="744120" y="2469600"/>
            <a:ext cx="3358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picture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5" name=""/>
          <p:cNvSpPr txBox="1"/>
          <p:nvPr/>
        </p:nvSpPr>
        <p:spPr>
          <a:xfrm>
            <a:off x="3087720" y="145584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fffff"/>
                </a:solidFill>
                <a:latin typeface="Font Awesome 5 Free Solid"/>
                <a:ea typeface="Font Awesome 5 Free Solid"/>
              </a:rPr>
              <a:t>q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6" name=""/>
          <p:cNvSpPr txBox="1"/>
          <p:nvPr/>
        </p:nvSpPr>
        <p:spPr>
          <a:xfrm>
            <a:off x="3264120" y="1446120"/>
            <a:ext cx="118476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ffffff"/>
                </a:solidFill>
                <a:latin typeface="LMSans10"/>
                <a:ea typeface="LMSans10"/>
              </a:rPr>
              <a:t>What we cannot claim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7" name=""/>
          <p:cNvSpPr txBox="1"/>
          <p:nvPr/>
        </p:nvSpPr>
        <p:spPr>
          <a:xfrm>
            <a:off x="3224160" y="168228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8" name=""/>
          <p:cNvSpPr txBox="1"/>
          <p:nvPr/>
        </p:nvSpPr>
        <p:spPr>
          <a:xfrm>
            <a:off x="3364920" y="1672560"/>
            <a:ext cx="18342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Long-run reduction in road deaths —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9" name=""/>
          <p:cNvSpPr txBox="1"/>
          <p:nvPr/>
        </p:nvSpPr>
        <p:spPr>
          <a:xfrm>
            <a:off x="3364920" y="1811520"/>
            <a:ext cx="6879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effect reverses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0" name=""/>
          <p:cNvSpPr txBox="1"/>
          <p:nvPr/>
        </p:nvSpPr>
        <p:spPr>
          <a:xfrm>
            <a:off x="3224160" y="201132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1" name=""/>
          <p:cNvSpPr txBox="1"/>
          <p:nvPr/>
        </p:nvSpPr>
        <p:spPr>
          <a:xfrm>
            <a:off x="3364920" y="2001600"/>
            <a:ext cx="18723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Pure-excise impact (proxy attenuates)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2" name=""/>
          <p:cNvSpPr txBox="1"/>
          <p:nvPr/>
        </p:nvSpPr>
        <p:spPr>
          <a:xfrm>
            <a:off x="3224160" y="220104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3" name=""/>
          <p:cNvSpPr txBox="1"/>
          <p:nvPr/>
        </p:nvSpPr>
        <p:spPr>
          <a:xfrm>
            <a:off x="3364920" y="2191320"/>
            <a:ext cx="17899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Statistically significant growth effect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4" name=""/>
          <p:cNvSpPr txBox="1"/>
          <p:nvPr/>
        </p:nvSpPr>
        <p:spPr>
          <a:xfrm>
            <a:off x="3360240" y="2330280"/>
            <a:ext cx="113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(</a:t>
            </a:r>
            <a:r>
              <a:rPr b="0" i="1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p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5" name=""/>
          <p:cNvSpPr txBox="1"/>
          <p:nvPr/>
        </p:nvSpPr>
        <p:spPr>
          <a:xfrm>
            <a:off x="3503880" y="234036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Symbols9"/>
                <a:ea typeface="LMMathSymbols9"/>
              </a:rPr>
              <a:t>≈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6" name=""/>
          <p:cNvSpPr txBox="1"/>
          <p:nvPr/>
        </p:nvSpPr>
        <p:spPr>
          <a:xfrm>
            <a:off x="3627360" y="2330280"/>
            <a:ext cx="113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0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7" name=""/>
          <p:cNvSpPr txBox="1"/>
          <p:nvPr/>
        </p:nvSpPr>
        <p:spPr>
          <a:xfrm>
            <a:off x="3686040" y="234036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Italic9"/>
                <a:ea typeface="LMMathItalic9"/>
              </a:rPr>
              <a:t>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8" name=""/>
          <p:cNvSpPr txBox="1"/>
          <p:nvPr/>
        </p:nvSpPr>
        <p:spPr>
          <a:xfrm>
            <a:off x="3718440" y="2330280"/>
            <a:ext cx="1638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43)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9" name=""/>
          <p:cNvSpPr txBox="1"/>
          <p:nvPr/>
        </p:nvSpPr>
        <p:spPr>
          <a:xfrm>
            <a:off x="5379480" y="3047400"/>
            <a:ext cx="337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20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1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802" name="" descr=""/>
          <p:cNvPicPr/>
          <p:nvPr/>
        </p:nvPicPr>
        <p:blipFill>
          <a:blip r:embed="rId1"/>
          <a:stretch/>
        </p:blipFill>
        <p:spPr>
          <a:xfrm>
            <a:off x="421920" y="424800"/>
            <a:ext cx="2345760" cy="1050120"/>
          </a:xfrm>
          <a:prstGeom prst="rect">
            <a:avLst/>
          </a:prstGeom>
          <a:ln w="0">
            <a:noFill/>
          </a:ln>
        </p:spPr>
      </p:pic>
      <p:sp>
        <p:nvSpPr>
          <p:cNvPr id="803" name=""/>
          <p:cNvSpPr txBox="1"/>
          <p:nvPr/>
        </p:nvSpPr>
        <p:spPr>
          <a:xfrm>
            <a:off x="100080" y="5760"/>
            <a:ext cx="324396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Robustness — In-Time Placebo &amp; Spec Curve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4" name=""/>
          <p:cNvSpPr txBox="1"/>
          <p:nvPr/>
        </p:nvSpPr>
        <p:spPr>
          <a:xfrm>
            <a:off x="711360" y="1503720"/>
            <a:ext cx="16754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False treatment in 2015 — ratio 0.42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05" name="" descr=""/>
          <p:cNvPicPr/>
          <p:nvPr/>
        </p:nvPicPr>
        <p:blipFill>
          <a:blip r:embed="rId2"/>
          <a:stretch/>
        </p:blipFill>
        <p:spPr>
          <a:xfrm>
            <a:off x="2991960" y="424800"/>
            <a:ext cx="2345760" cy="1615680"/>
          </a:xfrm>
          <a:prstGeom prst="rect">
            <a:avLst/>
          </a:prstGeom>
          <a:ln w="0">
            <a:noFill/>
          </a:ln>
        </p:spPr>
      </p:pic>
      <p:sp>
        <p:nvSpPr>
          <p:cNvPr id="806" name=""/>
          <p:cNvSpPr txBox="1"/>
          <p:nvPr/>
        </p:nvSpPr>
        <p:spPr>
          <a:xfrm>
            <a:off x="2394360" y="151236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6b7280"/>
                </a:solidFill>
                <a:latin typeface="LMMathSymbols8"/>
                <a:ea typeface="LMMathSymbols8"/>
              </a:rPr>
              <a:t>×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7" name=""/>
          <p:cNvSpPr txBox="1"/>
          <p:nvPr/>
        </p:nvSpPr>
        <p:spPr>
          <a:xfrm>
            <a:off x="3356640" y="2069280"/>
            <a:ext cx="1262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7 specifications, 6 with ratio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8" name=""/>
          <p:cNvSpPr txBox="1"/>
          <p:nvPr/>
        </p:nvSpPr>
        <p:spPr>
          <a:xfrm>
            <a:off x="4666320" y="207792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6b7280"/>
                </a:solidFill>
                <a:latin typeface="LMMathItalic8"/>
                <a:ea typeface="LMMathItalic8"/>
              </a:rPr>
              <a:t>&gt;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9" name=""/>
          <p:cNvSpPr txBox="1"/>
          <p:nvPr/>
        </p:nvSpPr>
        <p:spPr>
          <a:xfrm>
            <a:off x="4780080" y="2069280"/>
            <a:ext cx="107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17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0" name=""/>
          <p:cNvSpPr/>
          <p:nvPr/>
        </p:nvSpPr>
        <p:spPr>
          <a:xfrm>
            <a:off x="359640" y="2327760"/>
            <a:ext cx="5040720" cy="499320"/>
          </a:xfrm>
          <a:custGeom>
            <a:avLst/>
            <a:gdLst/>
            <a:ahLst/>
            <a:rect l="0" t="0" r="r" b="b"/>
            <a:pathLst>
              <a:path w="14002" h="1387">
                <a:moveTo>
                  <a:pt x="0" y="1261"/>
                </a:moveTo>
                <a:lnTo>
                  <a:pt x="0" y="126"/>
                </a:lnTo>
                <a:cubicBezTo>
                  <a:pt x="0" y="56"/>
                  <a:pt x="57" y="0"/>
                  <a:pt x="127" y="0"/>
                </a:cubicBezTo>
                <a:lnTo>
                  <a:pt x="13875" y="0"/>
                </a:lnTo>
                <a:cubicBezTo>
                  <a:pt x="13945" y="0"/>
                  <a:pt x="14002" y="56"/>
                  <a:pt x="14002" y="126"/>
                </a:cubicBezTo>
                <a:lnTo>
                  <a:pt x="14002" y="1261"/>
                </a:lnTo>
                <a:cubicBezTo>
                  <a:pt x="14002" y="1330"/>
                  <a:pt x="13945" y="1387"/>
                  <a:pt x="13875" y="1387"/>
                </a:cubicBezTo>
                <a:lnTo>
                  <a:pt x="127" y="1387"/>
                </a:lnTo>
                <a:cubicBezTo>
                  <a:pt x="57" y="1387"/>
                  <a:pt x="0" y="1330"/>
                  <a:pt x="0" y="1261"/>
                </a:cubicBezTo>
                <a:close/>
              </a:path>
            </a:pathLst>
          </a:custGeom>
          <a:solidFill>
            <a:srgbClr val="6fd99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1" name=""/>
          <p:cNvSpPr/>
          <p:nvPr/>
        </p:nvSpPr>
        <p:spPr>
          <a:xfrm>
            <a:off x="367560" y="2335320"/>
            <a:ext cx="5025240" cy="484200"/>
          </a:xfrm>
          <a:custGeom>
            <a:avLst/>
            <a:gdLst/>
            <a:ahLst/>
            <a:rect l="0" t="0" r="r" b="b"/>
            <a:pathLst>
              <a:path w="13959" h="1345">
                <a:moveTo>
                  <a:pt x="0" y="1240"/>
                </a:moveTo>
                <a:lnTo>
                  <a:pt x="0" y="105"/>
                </a:lnTo>
                <a:cubicBezTo>
                  <a:pt x="0" y="47"/>
                  <a:pt x="47" y="0"/>
                  <a:pt x="105" y="0"/>
                </a:cubicBezTo>
                <a:lnTo>
                  <a:pt x="13853" y="0"/>
                </a:lnTo>
                <a:cubicBezTo>
                  <a:pt x="13911" y="0"/>
                  <a:pt x="13959" y="47"/>
                  <a:pt x="13959" y="105"/>
                </a:cubicBezTo>
                <a:lnTo>
                  <a:pt x="13959" y="1240"/>
                </a:lnTo>
                <a:cubicBezTo>
                  <a:pt x="13959" y="1298"/>
                  <a:pt x="13911" y="1345"/>
                  <a:pt x="13853" y="1345"/>
                </a:cubicBezTo>
                <a:lnTo>
                  <a:pt x="105" y="1345"/>
                </a:lnTo>
                <a:cubicBezTo>
                  <a:pt x="47" y="1345"/>
                  <a:pt x="0" y="1298"/>
                  <a:pt x="0" y="1240"/>
                </a:cubicBezTo>
                <a:close/>
              </a:path>
            </a:pathLst>
          </a:custGeom>
          <a:solidFill>
            <a:srgbClr val="e9f9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2" name=""/>
          <p:cNvSpPr txBox="1"/>
          <p:nvPr/>
        </p:nvSpPr>
        <p:spPr>
          <a:xfrm>
            <a:off x="4887360" y="207792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6b7280"/>
                </a:solidFill>
                <a:latin typeface="LMMathSymbols8"/>
                <a:ea typeface="LMMathSymbols8"/>
              </a:rPr>
              <a:t>×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3" name=""/>
          <p:cNvSpPr txBox="1"/>
          <p:nvPr/>
        </p:nvSpPr>
        <p:spPr>
          <a:xfrm>
            <a:off x="466920" y="2363040"/>
            <a:ext cx="75816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In-time placebo.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4" name=""/>
          <p:cNvSpPr txBox="1"/>
          <p:nvPr/>
        </p:nvSpPr>
        <p:spPr>
          <a:xfrm>
            <a:off x="1297800" y="2363040"/>
            <a:ext cx="12063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Pretend treatment in 2015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5" name=""/>
          <p:cNvSpPr txBox="1"/>
          <p:nvPr/>
        </p:nvSpPr>
        <p:spPr>
          <a:xfrm>
            <a:off x="2566440" y="237132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MathSymbols8"/>
                <a:ea typeface="LMMathSymbols8"/>
              </a:rPr>
              <a:t>⇒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6" name=""/>
          <p:cNvSpPr txBox="1"/>
          <p:nvPr/>
        </p:nvSpPr>
        <p:spPr>
          <a:xfrm>
            <a:off x="2713320" y="2363040"/>
            <a:ext cx="9957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ratio collapses to 0.42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7" name=""/>
          <p:cNvSpPr txBox="1"/>
          <p:nvPr/>
        </p:nvSpPr>
        <p:spPr>
          <a:xfrm>
            <a:off x="3730320" y="237132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MathSymbols8"/>
                <a:ea typeface="LMMathSymbols8"/>
              </a:rPr>
              <a:t>×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8" name=""/>
          <p:cNvSpPr txBox="1"/>
          <p:nvPr/>
        </p:nvSpPr>
        <p:spPr>
          <a:xfrm>
            <a:off x="3853440" y="2363040"/>
            <a:ext cx="4046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vs. 22.87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9" name=""/>
          <p:cNvSpPr txBox="1"/>
          <p:nvPr/>
        </p:nvSpPr>
        <p:spPr>
          <a:xfrm>
            <a:off x="4266000" y="237132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MathSymbols8"/>
                <a:ea typeface="LMMathSymbols8"/>
              </a:rPr>
              <a:t>×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0" name=""/>
          <p:cNvSpPr txBox="1"/>
          <p:nvPr/>
        </p:nvSpPr>
        <p:spPr>
          <a:xfrm>
            <a:off x="4389120" y="2363040"/>
            <a:ext cx="5036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for the real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1" name=""/>
          <p:cNvSpPr txBox="1"/>
          <p:nvPr/>
        </p:nvSpPr>
        <p:spPr>
          <a:xfrm>
            <a:off x="4940640" y="2363040"/>
            <a:ext cx="361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2016 —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2" name=""/>
          <p:cNvSpPr txBox="1"/>
          <p:nvPr/>
        </p:nvSpPr>
        <p:spPr>
          <a:xfrm>
            <a:off x="466920" y="2482920"/>
            <a:ext cx="7794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1b9e4b"/>
                </a:solidFill>
                <a:latin typeface="LMSans10"/>
                <a:ea typeface="LMSans10"/>
              </a:rPr>
              <a:t>no false positive</a:t>
            </a:r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3" name=""/>
          <p:cNvSpPr txBox="1"/>
          <p:nvPr/>
        </p:nvSpPr>
        <p:spPr>
          <a:xfrm>
            <a:off x="1317240" y="2482920"/>
            <a:ext cx="53856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Spec curve.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4" name=""/>
          <p:cNvSpPr txBox="1"/>
          <p:nvPr/>
        </p:nvSpPr>
        <p:spPr>
          <a:xfrm>
            <a:off x="1920960" y="2482920"/>
            <a:ext cx="1252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6 of 7 alt. specs yield ratios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5" name=""/>
          <p:cNvSpPr txBox="1"/>
          <p:nvPr/>
        </p:nvSpPr>
        <p:spPr>
          <a:xfrm>
            <a:off x="3237120" y="249156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MathItalic8"/>
                <a:ea typeface="LMMathItalic8"/>
              </a:rPr>
              <a:t>&gt;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6" name=""/>
          <p:cNvSpPr txBox="1"/>
          <p:nvPr/>
        </p:nvSpPr>
        <p:spPr>
          <a:xfrm>
            <a:off x="3358800" y="2482920"/>
            <a:ext cx="109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17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7" name=""/>
          <p:cNvSpPr txBox="1"/>
          <p:nvPr/>
        </p:nvSpPr>
        <p:spPr>
          <a:xfrm>
            <a:off x="3468600" y="2491560"/>
            <a:ext cx="100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MathSymbols8"/>
                <a:ea typeface="LMMathSymbols8"/>
              </a:rPr>
              <a:t>×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8" name=""/>
          <p:cNvSpPr txBox="1"/>
          <p:nvPr/>
        </p:nvSpPr>
        <p:spPr>
          <a:xfrm>
            <a:off x="3552120" y="2482920"/>
            <a:ext cx="17136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, avg effects +354 to +469 deaths/yr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9" name=""/>
          <p:cNvSpPr txBox="1"/>
          <p:nvPr/>
        </p:nvSpPr>
        <p:spPr>
          <a:xfrm>
            <a:off x="462600" y="2603160"/>
            <a:ext cx="13892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(literacy-only outlier excluded).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0" name=""/>
          <p:cNvSpPr txBox="1"/>
          <p:nvPr/>
        </p:nvSpPr>
        <p:spPr>
          <a:xfrm>
            <a:off x="5379480" y="3047400"/>
            <a:ext cx="337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21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2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3" name=""/>
          <p:cNvSpPr/>
          <p:nvPr/>
        </p:nvSpPr>
        <p:spPr>
          <a:xfrm>
            <a:off x="359640" y="497160"/>
            <a:ext cx="2419920" cy="1281600"/>
          </a:xfrm>
          <a:custGeom>
            <a:avLst/>
            <a:gdLst/>
            <a:ahLst/>
            <a:rect l="0" t="0" r="r" b="b"/>
            <a:pathLst>
              <a:path w="6722" h="3560">
                <a:moveTo>
                  <a:pt x="0" y="3433"/>
                </a:moveTo>
                <a:lnTo>
                  <a:pt x="0" y="126"/>
                </a:lnTo>
                <a:cubicBezTo>
                  <a:pt x="0" y="57"/>
                  <a:pt x="57" y="0"/>
                  <a:pt x="127" y="0"/>
                </a:cubicBezTo>
                <a:lnTo>
                  <a:pt x="6595" y="0"/>
                </a:lnTo>
                <a:cubicBezTo>
                  <a:pt x="6665" y="0"/>
                  <a:pt x="6722" y="57"/>
                  <a:pt x="6722" y="126"/>
                </a:cubicBezTo>
                <a:lnTo>
                  <a:pt x="6722" y="3433"/>
                </a:lnTo>
                <a:cubicBezTo>
                  <a:pt x="6722" y="3503"/>
                  <a:pt x="6665" y="3560"/>
                  <a:pt x="6595" y="3560"/>
                </a:cubicBezTo>
                <a:lnTo>
                  <a:pt x="127" y="3560"/>
                </a:lnTo>
                <a:cubicBezTo>
                  <a:pt x="57" y="3560"/>
                  <a:pt x="0" y="3503"/>
                  <a:pt x="0" y="3433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4" name=""/>
          <p:cNvSpPr/>
          <p:nvPr/>
        </p:nvSpPr>
        <p:spPr>
          <a:xfrm>
            <a:off x="367560" y="712080"/>
            <a:ext cx="2404080" cy="1059120"/>
          </a:xfrm>
          <a:custGeom>
            <a:avLst/>
            <a:gdLst/>
            <a:ahLst/>
            <a:rect l="0" t="0" r="r" b="b"/>
            <a:pathLst>
              <a:path w="6678" h="2942">
                <a:moveTo>
                  <a:pt x="0" y="2836"/>
                </a:moveTo>
                <a:lnTo>
                  <a:pt x="0" y="0"/>
                </a:lnTo>
                <a:lnTo>
                  <a:pt x="6678" y="0"/>
                </a:lnTo>
                <a:lnTo>
                  <a:pt x="6678" y="2836"/>
                </a:lnTo>
                <a:cubicBezTo>
                  <a:pt x="6678" y="2895"/>
                  <a:pt x="6631" y="2942"/>
                  <a:pt x="6573" y="2942"/>
                </a:cubicBezTo>
                <a:lnTo>
                  <a:pt x="105" y="2942"/>
                </a:lnTo>
                <a:cubicBezTo>
                  <a:pt x="47" y="2942"/>
                  <a:pt x="0" y="2895"/>
                  <a:pt x="0" y="2836"/>
                </a:cubicBezTo>
                <a:close/>
              </a:path>
            </a:pathLst>
          </a:custGeom>
          <a:solidFill>
            <a:srgbClr val="ecf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5" name=""/>
          <p:cNvSpPr/>
          <p:nvPr/>
        </p:nvSpPr>
        <p:spPr>
          <a:xfrm>
            <a:off x="367560" y="504720"/>
            <a:ext cx="2404080" cy="207720"/>
          </a:xfrm>
          <a:custGeom>
            <a:avLst/>
            <a:gdLst/>
            <a:ahLst/>
            <a:rect l="0" t="0" r="r" b="b"/>
            <a:pathLst>
              <a:path w="6678" h="577">
                <a:moveTo>
                  <a:pt x="0" y="577"/>
                </a:moveTo>
                <a:lnTo>
                  <a:pt x="0" y="106"/>
                </a:lnTo>
                <a:cubicBezTo>
                  <a:pt x="0" y="48"/>
                  <a:pt x="47" y="0"/>
                  <a:pt x="105" y="0"/>
                </a:cubicBezTo>
                <a:lnTo>
                  <a:pt x="6573" y="0"/>
                </a:lnTo>
                <a:cubicBezTo>
                  <a:pt x="6631" y="0"/>
                  <a:pt x="6678" y="48"/>
                  <a:pt x="6678" y="106"/>
                </a:cubicBezTo>
                <a:lnTo>
                  <a:pt x="6678" y="577"/>
                </a:lnTo>
                <a:lnTo>
                  <a:pt x="0" y="577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6" name=""/>
          <p:cNvSpPr txBox="1"/>
          <p:nvPr/>
        </p:nvSpPr>
        <p:spPr>
          <a:xfrm>
            <a:off x="100080" y="5760"/>
            <a:ext cx="77508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Limitations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7" name=""/>
          <p:cNvSpPr txBox="1"/>
          <p:nvPr/>
        </p:nvSpPr>
        <p:spPr>
          <a:xfrm>
            <a:off x="466920" y="52956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fffff"/>
                </a:solidFill>
                <a:latin typeface="Font Awesome 5 Free Solid"/>
                <a:ea typeface="Font Awesome 5 Free Solid"/>
              </a:rPr>
              <a:t>-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8" name=""/>
          <p:cNvSpPr txBox="1"/>
          <p:nvPr/>
        </p:nvSpPr>
        <p:spPr>
          <a:xfrm>
            <a:off x="643320" y="519840"/>
            <a:ext cx="256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ffffff"/>
                </a:solidFill>
                <a:latin typeface="LMSans10"/>
                <a:ea typeface="LMSans10"/>
              </a:rPr>
              <a:t>Data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9" name=""/>
          <p:cNvSpPr txBox="1"/>
          <p:nvPr/>
        </p:nvSpPr>
        <p:spPr>
          <a:xfrm>
            <a:off x="603360" y="75600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0" name=""/>
          <p:cNvSpPr txBox="1"/>
          <p:nvPr/>
        </p:nvSpPr>
        <p:spPr>
          <a:xfrm>
            <a:off x="744120" y="746280"/>
            <a:ext cx="14515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NSDP T19 starts FY 2011–12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1" name=""/>
          <p:cNvSpPr txBox="1"/>
          <p:nvPr/>
        </p:nvSpPr>
        <p:spPr>
          <a:xfrm>
            <a:off x="2229480" y="75600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Symbols9"/>
                <a:ea typeface="LMMathSymbols9"/>
              </a:rPr>
              <a:t>⇒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2" name=""/>
          <p:cNvSpPr txBox="1"/>
          <p:nvPr/>
        </p:nvSpPr>
        <p:spPr>
          <a:xfrm>
            <a:off x="2383920" y="746280"/>
            <a:ext cx="2919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only 4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3" name=""/>
          <p:cNvSpPr txBox="1"/>
          <p:nvPr/>
        </p:nvSpPr>
        <p:spPr>
          <a:xfrm>
            <a:off x="744120" y="885240"/>
            <a:ext cx="779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pre-period years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4" name=""/>
          <p:cNvSpPr txBox="1"/>
          <p:nvPr/>
        </p:nvSpPr>
        <p:spPr>
          <a:xfrm>
            <a:off x="603360" y="108504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5" name=""/>
          <p:cNvSpPr txBox="1"/>
          <p:nvPr/>
        </p:nvSpPr>
        <p:spPr>
          <a:xfrm>
            <a:off x="744120" y="1075320"/>
            <a:ext cx="15688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Census 2021 delayed; predictors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6" name=""/>
          <p:cNvSpPr txBox="1"/>
          <p:nvPr/>
        </p:nvSpPr>
        <p:spPr>
          <a:xfrm>
            <a:off x="744120" y="1214280"/>
            <a:ext cx="14925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interpolated from 2011 anchor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7" name=""/>
          <p:cNvSpPr txBox="1"/>
          <p:nvPr/>
        </p:nvSpPr>
        <p:spPr>
          <a:xfrm>
            <a:off x="603360" y="141408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8" name=""/>
          <p:cNvSpPr txBox="1"/>
          <p:nvPr/>
        </p:nvSpPr>
        <p:spPr>
          <a:xfrm>
            <a:off x="744120" y="1404000"/>
            <a:ext cx="14821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Excise sub-head WAF-blocked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9" name=""/>
          <p:cNvSpPr txBox="1"/>
          <p:nvPr/>
        </p:nvSpPr>
        <p:spPr>
          <a:xfrm>
            <a:off x="2249640" y="141408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Symbols9"/>
                <a:ea typeface="LMMathSymbols9"/>
              </a:rPr>
              <a:t>⇒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0" name=""/>
          <p:cNvSpPr/>
          <p:nvPr/>
        </p:nvSpPr>
        <p:spPr>
          <a:xfrm>
            <a:off x="359640" y="2022480"/>
            <a:ext cx="2419920" cy="1003320"/>
          </a:xfrm>
          <a:custGeom>
            <a:avLst/>
            <a:gdLst/>
            <a:ahLst/>
            <a:rect l="0" t="0" r="r" b="b"/>
            <a:pathLst>
              <a:path w="6722" h="2787">
                <a:moveTo>
                  <a:pt x="0" y="2660"/>
                </a:moveTo>
                <a:lnTo>
                  <a:pt x="0" y="126"/>
                </a:lnTo>
                <a:cubicBezTo>
                  <a:pt x="0" y="56"/>
                  <a:pt x="57" y="0"/>
                  <a:pt x="127" y="0"/>
                </a:cubicBezTo>
                <a:lnTo>
                  <a:pt x="6595" y="0"/>
                </a:lnTo>
                <a:cubicBezTo>
                  <a:pt x="6665" y="0"/>
                  <a:pt x="6722" y="56"/>
                  <a:pt x="6722" y="126"/>
                </a:cubicBezTo>
                <a:lnTo>
                  <a:pt x="6722" y="2660"/>
                </a:lnTo>
                <a:cubicBezTo>
                  <a:pt x="6722" y="2730"/>
                  <a:pt x="6665" y="2787"/>
                  <a:pt x="6595" y="2787"/>
                </a:cubicBezTo>
                <a:lnTo>
                  <a:pt x="127" y="2787"/>
                </a:lnTo>
                <a:cubicBezTo>
                  <a:pt x="57" y="2787"/>
                  <a:pt x="0" y="2730"/>
                  <a:pt x="0" y="2660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1" name=""/>
          <p:cNvSpPr/>
          <p:nvPr/>
        </p:nvSpPr>
        <p:spPr>
          <a:xfrm>
            <a:off x="367560" y="2237400"/>
            <a:ext cx="2404080" cy="780480"/>
          </a:xfrm>
          <a:custGeom>
            <a:avLst/>
            <a:gdLst/>
            <a:ahLst/>
            <a:rect l="0" t="0" r="r" b="b"/>
            <a:pathLst>
              <a:path w="6678" h="2168">
                <a:moveTo>
                  <a:pt x="0" y="2063"/>
                </a:moveTo>
                <a:lnTo>
                  <a:pt x="0" y="0"/>
                </a:lnTo>
                <a:lnTo>
                  <a:pt x="6678" y="0"/>
                </a:lnTo>
                <a:lnTo>
                  <a:pt x="6678" y="2063"/>
                </a:lnTo>
                <a:cubicBezTo>
                  <a:pt x="6678" y="2121"/>
                  <a:pt x="6631" y="2168"/>
                  <a:pt x="6573" y="2168"/>
                </a:cubicBezTo>
                <a:lnTo>
                  <a:pt x="105" y="2168"/>
                </a:lnTo>
                <a:cubicBezTo>
                  <a:pt x="47" y="2168"/>
                  <a:pt x="0" y="2121"/>
                  <a:pt x="0" y="2063"/>
                </a:cubicBezTo>
                <a:close/>
              </a:path>
            </a:pathLst>
          </a:custGeom>
          <a:solidFill>
            <a:srgbClr val="ecf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2" name=""/>
          <p:cNvSpPr/>
          <p:nvPr/>
        </p:nvSpPr>
        <p:spPr>
          <a:xfrm>
            <a:off x="367560" y="2030040"/>
            <a:ext cx="2404080" cy="207720"/>
          </a:xfrm>
          <a:custGeom>
            <a:avLst/>
            <a:gdLst/>
            <a:ahLst/>
            <a:rect l="0" t="0" r="r" b="b"/>
            <a:pathLst>
              <a:path w="6678" h="577">
                <a:moveTo>
                  <a:pt x="0" y="577"/>
                </a:moveTo>
                <a:lnTo>
                  <a:pt x="0" y="105"/>
                </a:lnTo>
                <a:cubicBezTo>
                  <a:pt x="0" y="47"/>
                  <a:pt x="47" y="0"/>
                  <a:pt x="105" y="0"/>
                </a:cubicBezTo>
                <a:lnTo>
                  <a:pt x="6573" y="0"/>
                </a:lnTo>
                <a:cubicBezTo>
                  <a:pt x="6631" y="0"/>
                  <a:pt x="6678" y="47"/>
                  <a:pt x="6678" y="105"/>
                </a:cubicBezTo>
                <a:lnTo>
                  <a:pt x="6678" y="577"/>
                </a:lnTo>
                <a:lnTo>
                  <a:pt x="0" y="577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3" name=""/>
          <p:cNvSpPr txBox="1"/>
          <p:nvPr/>
        </p:nvSpPr>
        <p:spPr>
          <a:xfrm>
            <a:off x="744120" y="1543320"/>
            <a:ext cx="7977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composite proxy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4" name=""/>
          <p:cNvSpPr txBox="1"/>
          <p:nvPr/>
        </p:nvSpPr>
        <p:spPr>
          <a:xfrm>
            <a:off x="466920" y="205488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fffff"/>
                </a:solidFill>
                <a:latin typeface="Font Awesome 5 Free Solid"/>
                <a:ea typeface="Font Awesome 5 Free Solid"/>
              </a:rPr>
              <a:t>-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5" name=""/>
          <p:cNvSpPr txBox="1"/>
          <p:nvPr/>
        </p:nvSpPr>
        <p:spPr>
          <a:xfrm>
            <a:off x="643320" y="2045160"/>
            <a:ext cx="6850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ffffff"/>
                </a:solidFill>
                <a:latin typeface="LMSans10"/>
                <a:ea typeface="LMSans10"/>
              </a:rPr>
              <a:t>Identification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6" name=""/>
          <p:cNvSpPr txBox="1"/>
          <p:nvPr/>
        </p:nvSpPr>
        <p:spPr>
          <a:xfrm>
            <a:off x="603360" y="228132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7" name=""/>
          <p:cNvSpPr txBox="1"/>
          <p:nvPr/>
        </p:nvSpPr>
        <p:spPr>
          <a:xfrm>
            <a:off x="744120" y="2271600"/>
            <a:ext cx="18158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Bihar near edge of donor convex hull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8" name=""/>
          <p:cNvSpPr txBox="1"/>
          <p:nvPr/>
        </p:nvSpPr>
        <p:spPr>
          <a:xfrm>
            <a:off x="603360" y="247104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9" name=""/>
          <p:cNvSpPr txBox="1"/>
          <p:nvPr/>
        </p:nvSpPr>
        <p:spPr>
          <a:xfrm>
            <a:off x="744120" y="2461320"/>
            <a:ext cx="15886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COVID-19 (2020–21) confounds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0" name=""/>
          <p:cNvSpPr txBox="1"/>
          <p:nvPr/>
        </p:nvSpPr>
        <p:spPr>
          <a:xfrm>
            <a:off x="744120" y="2600640"/>
            <a:ext cx="9777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post-2020 estimates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1" name=""/>
          <p:cNvSpPr txBox="1"/>
          <p:nvPr/>
        </p:nvSpPr>
        <p:spPr>
          <a:xfrm>
            <a:off x="603360" y="280008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2" name=""/>
          <p:cNvSpPr/>
          <p:nvPr/>
        </p:nvSpPr>
        <p:spPr>
          <a:xfrm>
            <a:off x="2980800" y="497160"/>
            <a:ext cx="2419560" cy="1287720"/>
          </a:xfrm>
          <a:custGeom>
            <a:avLst/>
            <a:gdLst/>
            <a:ahLst/>
            <a:rect l="0" t="0" r="r" b="b"/>
            <a:pathLst>
              <a:path w="6721" h="3577">
                <a:moveTo>
                  <a:pt x="0" y="3451"/>
                </a:moveTo>
                <a:lnTo>
                  <a:pt x="0" y="126"/>
                </a:lnTo>
                <a:cubicBezTo>
                  <a:pt x="0" y="57"/>
                  <a:pt x="56" y="0"/>
                  <a:pt x="126" y="0"/>
                </a:cubicBezTo>
                <a:lnTo>
                  <a:pt x="6594" y="0"/>
                </a:lnTo>
                <a:cubicBezTo>
                  <a:pt x="6664" y="0"/>
                  <a:pt x="6721" y="57"/>
                  <a:pt x="6721" y="126"/>
                </a:cubicBezTo>
                <a:lnTo>
                  <a:pt x="6721" y="3451"/>
                </a:lnTo>
                <a:cubicBezTo>
                  <a:pt x="6721" y="3521"/>
                  <a:pt x="6664" y="3577"/>
                  <a:pt x="6594" y="3577"/>
                </a:cubicBezTo>
                <a:lnTo>
                  <a:pt x="126" y="3577"/>
                </a:lnTo>
                <a:cubicBezTo>
                  <a:pt x="56" y="3577"/>
                  <a:pt x="0" y="3521"/>
                  <a:pt x="0" y="3451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3" name=""/>
          <p:cNvSpPr/>
          <p:nvPr/>
        </p:nvSpPr>
        <p:spPr>
          <a:xfrm>
            <a:off x="2988360" y="712440"/>
            <a:ext cx="2404080" cy="1064880"/>
          </a:xfrm>
          <a:custGeom>
            <a:avLst/>
            <a:gdLst/>
            <a:ahLst/>
            <a:rect l="0" t="0" r="r" b="b"/>
            <a:pathLst>
              <a:path w="6678" h="2958">
                <a:moveTo>
                  <a:pt x="0" y="2853"/>
                </a:moveTo>
                <a:lnTo>
                  <a:pt x="0" y="0"/>
                </a:lnTo>
                <a:lnTo>
                  <a:pt x="6678" y="0"/>
                </a:lnTo>
                <a:lnTo>
                  <a:pt x="6678" y="2853"/>
                </a:lnTo>
                <a:cubicBezTo>
                  <a:pt x="6678" y="2911"/>
                  <a:pt x="6631" y="2958"/>
                  <a:pt x="6573" y="2958"/>
                </a:cubicBezTo>
                <a:lnTo>
                  <a:pt x="105" y="2958"/>
                </a:lnTo>
                <a:cubicBezTo>
                  <a:pt x="47" y="2958"/>
                  <a:pt x="0" y="2911"/>
                  <a:pt x="0" y="2853"/>
                </a:cubicBezTo>
                <a:close/>
              </a:path>
            </a:pathLst>
          </a:custGeom>
          <a:solidFill>
            <a:srgbClr val="ecf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4" name=""/>
          <p:cNvSpPr/>
          <p:nvPr/>
        </p:nvSpPr>
        <p:spPr>
          <a:xfrm>
            <a:off x="2988360" y="504720"/>
            <a:ext cx="2404080" cy="208080"/>
          </a:xfrm>
          <a:custGeom>
            <a:avLst/>
            <a:gdLst/>
            <a:ahLst/>
            <a:rect l="0" t="0" r="r" b="b"/>
            <a:pathLst>
              <a:path w="6678" h="578">
                <a:moveTo>
                  <a:pt x="0" y="578"/>
                </a:moveTo>
                <a:lnTo>
                  <a:pt x="0" y="106"/>
                </a:lnTo>
                <a:cubicBezTo>
                  <a:pt x="0" y="48"/>
                  <a:pt x="47" y="0"/>
                  <a:pt x="105" y="0"/>
                </a:cubicBezTo>
                <a:lnTo>
                  <a:pt x="6573" y="0"/>
                </a:lnTo>
                <a:cubicBezTo>
                  <a:pt x="6631" y="0"/>
                  <a:pt x="6678" y="48"/>
                  <a:pt x="6678" y="106"/>
                </a:cubicBezTo>
                <a:lnTo>
                  <a:pt x="6678" y="578"/>
                </a:lnTo>
                <a:lnTo>
                  <a:pt x="0" y="578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5" name=""/>
          <p:cNvSpPr txBox="1"/>
          <p:nvPr/>
        </p:nvSpPr>
        <p:spPr>
          <a:xfrm>
            <a:off x="744120" y="2790360"/>
            <a:ext cx="16772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Inter-state migration not captured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6" name=""/>
          <p:cNvSpPr txBox="1"/>
          <p:nvPr/>
        </p:nvSpPr>
        <p:spPr>
          <a:xfrm>
            <a:off x="3087720" y="52956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fffff"/>
                </a:solidFill>
                <a:latin typeface="Font Awesome 5 Free Solid"/>
                <a:ea typeface="Font Awesome 5 Free Solid"/>
              </a:rPr>
              <a:t>-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7" name=""/>
          <p:cNvSpPr txBox="1"/>
          <p:nvPr/>
        </p:nvSpPr>
        <p:spPr>
          <a:xfrm>
            <a:off x="3264120" y="519840"/>
            <a:ext cx="40752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ffffff"/>
                </a:solidFill>
                <a:latin typeface="LMSans10"/>
                <a:ea typeface="LMSans10"/>
              </a:rPr>
              <a:t>Method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8" name=""/>
          <p:cNvSpPr txBox="1"/>
          <p:nvPr/>
        </p:nvSpPr>
        <p:spPr>
          <a:xfrm>
            <a:off x="3224160" y="75600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9" name=""/>
          <p:cNvSpPr txBox="1"/>
          <p:nvPr/>
        </p:nvSpPr>
        <p:spPr>
          <a:xfrm>
            <a:off x="3364920" y="746280"/>
            <a:ext cx="8283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BSTS overfits (</a:t>
            </a:r>
            <a:r>
              <a:rPr b="0" i="1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n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0" name=""/>
          <p:cNvSpPr txBox="1"/>
          <p:nvPr/>
        </p:nvSpPr>
        <p:spPr>
          <a:xfrm>
            <a:off x="4191120" y="802800"/>
            <a:ext cx="105840" cy="11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a3a66"/>
                </a:solidFill>
                <a:latin typeface="LMSans8"/>
                <a:ea typeface="LMSans8"/>
              </a:rPr>
              <a:t>pre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1" name=""/>
          <p:cNvSpPr txBox="1"/>
          <p:nvPr/>
        </p:nvSpPr>
        <p:spPr>
          <a:xfrm>
            <a:off x="4332960" y="746280"/>
            <a:ext cx="1897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= 6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2" name=""/>
          <p:cNvSpPr txBox="1"/>
          <p:nvPr/>
        </p:nvSpPr>
        <p:spPr>
          <a:xfrm>
            <a:off x="4547520" y="75600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Italic9"/>
                <a:ea typeface="LMMathItalic9"/>
              </a:rPr>
              <a:t>&lt;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3" name=""/>
          <p:cNvSpPr txBox="1"/>
          <p:nvPr/>
        </p:nvSpPr>
        <p:spPr>
          <a:xfrm>
            <a:off x="4671000" y="746280"/>
            <a:ext cx="3877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J</a:t>
            </a:r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 = 13)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4" name=""/>
          <p:cNvSpPr txBox="1"/>
          <p:nvPr/>
        </p:nvSpPr>
        <p:spPr>
          <a:xfrm>
            <a:off x="5094000" y="75600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Symbols9"/>
                <a:ea typeface="LMMathSymbols9"/>
              </a:rPr>
              <a:t>⇒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5" name=""/>
          <p:cNvSpPr txBox="1"/>
          <p:nvPr/>
        </p:nvSpPr>
        <p:spPr>
          <a:xfrm>
            <a:off x="3364920" y="901080"/>
            <a:ext cx="7200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Mono9"/>
                <a:ea typeface="LMMono9"/>
              </a:rPr>
              <a:t>max_donors=3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6" name=""/>
          <p:cNvSpPr txBox="1"/>
          <p:nvPr/>
        </p:nvSpPr>
        <p:spPr>
          <a:xfrm>
            <a:off x="4121280" y="885240"/>
            <a:ext cx="5706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(subjective)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7" name=""/>
          <p:cNvSpPr txBox="1"/>
          <p:nvPr/>
        </p:nvSpPr>
        <p:spPr>
          <a:xfrm>
            <a:off x="3224160" y="108504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8" name=""/>
          <p:cNvSpPr txBox="1"/>
          <p:nvPr/>
        </p:nvSpPr>
        <p:spPr>
          <a:xfrm>
            <a:off x="3364920" y="1075320"/>
            <a:ext cx="1939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Growth BSTS uses single donor + 2017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9" name=""/>
          <p:cNvSpPr txBox="1"/>
          <p:nvPr/>
        </p:nvSpPr>
        <p:spPr>
          <a:xfrm>
            <a:off x="3364920" y="1214280"/>
            <a:ext cx="2826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cutoff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0" name=""/>
          <p:cNvSpPr txBox="1"/>
          <p:nvPr/>
        </p:nvSpPr>
        <p:spPr>
          <a:xfrm>
            <a:off x="3224160" y="141408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1" name=""/>
          <p:cNvSpPr txBox="1"/>
          <p:nvPr/>
        </p:nvSpPr>
        <p:spPr>
          <a:xfrm>
            <a:off x="3364920" y="1404000"/>
            <a:ext cx="18126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Permutation</a:t>
            </a:r>
            <a:r>
              <a:rPr b="0" i="1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 p</a:t>
            </a:r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 from</a:t>
            </a:r>
            <a:r>
              <a:rPr b="0" i="1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 J</a:t>
            </a:r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 = 14 is coarse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2" name=""/>
          <p:cNvSpPr txBox="1"/>
          <p:nvPr/>
        </p:nvSpPr>
        <p:spPr>
          <a:xfrm>
            <a:off x="3360240" y="1543320"/>
            <a:ext cx="113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(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3" name=""/>
          <p:cNvSpPr txBox="1"/>
          <p:nvPr/>
        </p:nvSpPr>
        <p:spPr>
          <a:xfrm>
            <a:off x="3405600" y="155304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Symbols9"/>
                <a:ea typeface="LMMathSymbols9"/>
              </a:rPr>
              <a:t>≥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4" name=""/>
          <p:cNvSpPr txBox="1"/>
          <p:nvPr/>
        </p:nvSpPr>
        <p:spPr>
          <a:xfrm>
            <a:off x="3529080" y="1543320"/>
            <a:ext cx="113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1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5" name=""/>
          <p:cNvSpPr txBox="1"/>
          <p:nvPr/>
        </p:nvSpPr>
        <p:spPr>
          <a:xfrm>
            <a:off x="3587760" y="155304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MathItalic9"/>
                <a:ea typeface="LMMathItalic9"/>
              </a:rPr>
              <a:t>/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6" name=""/>
          <p:cNvSpPr/>
          <p:nvPr/>
        </p:nvSpPr>
        <p:spPr>
          <a:xfrm>
            <a:off x="2980800" y="2028600"/>
            <a:ext cx="2419560" cy="614160"/>
          </a:xfrm>
          <a:custGeom>
            <a:avLst/>
            <a:gdLst/>
            <a:ahLst/>
            <a:rect l="0" t="0" r="r" b="b"/>
            <a:pathLst>
              <a:path w="6721" h="1706">
                <a:moveTo>
                  <a:pt x="0" y="1580"/>
                </a:moveTo>
                <a:lnTo>
                  <a:pt x="0" y="127"/>
                </a:lnTo>
                <a:cubicBezTo>
                  <a:pt x="0" y="57"/>
                  <a:pt x="56" y="0"/>
                  <a:pt x="126" y="0"/>
                </a:cubicBezTo>
                <a:lnTo>
                  <a:pt x="6594" y="0"/>
                </a:lnTo>
                <a:cubicBezTo>
                  <a:pt x="6664" y="0"/>
                  <a:pt x="6721" y="57"/>
                  <a:pt x="6721" y="127"/>
                </a:cubicBezTo>
                <a:lnTo>
                  <a:pt x="6721" y="1580"/>
                </a:lnTo>
                <a:cubicBezTo>
                  <a:pt x="6721" y="1649"/>
                  <a:pt x="6664" y="1706"/>
                  <a:pt x="6594" y="1706"/>
                </a:cubicBezTo>
                <a:lnTo>
                  <a:pt x="126" y="1706"/>
                </a:lnTo>
                <a:cubicBezTo>
                  <a:pt x="56" y="1706"/>
                  <a:pt x="0" y="1649"/>
                  <a:pt x="0" y="1580"/>
                </a:cubicBezTo>
                <a:close/>
              </a:path>
            </a:pathLst>
          </a:custGeom>
          <a:solidFill>
            <a:srgbClr val="dc823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7" name=""/>
          <p:cNvSpPr/>
          <p:nvPr/>
        </p:nvSpPr>
        <p:spPr>
          <a:xfrm>
            <a:off x="2988360" y="2036520"/>
            <a:ext cx="2404080" cy="598680"/>
          </a:xfrm>
          <a:custGeom>
            <a:avLst/>
            <a:gdLst/>
            <a:ahLst/>
            <a:rect l="0" t="0" r="r" b="b"/>
            <a:pathLst>
              <a:path w="6678" h="1663">
                <a:moveTo>
                  <a:pt x="0" y="1558"/>
                </a:moveTo>
                <a:lnTo>
                  <a:pt x="0" y="105"/>
                </a:lnTo>
                <a:cubicBezTo>
                  <a:pt x="0" y="47"/>
                  <a:pt x="47" y="0"/>
                  <a:pt x="105" y="0"/>
                </a:cubicBezTo>
                <a:lnTo>
                  <a:pt x="6573" y="0"/>
                </a:lnTo>
                <a:cubicBezTo>
                  <a:pt x="6631" y="0"/>
                  <a:pt x="6678" y="47"/>
                  <a:pt x="6678" y="105"/>
                </a:cubicBezTo>
                <a:lnTo>
                  <a:pt x="6678" y="1558"/>
                </a:lnTo>
                <a:cubicBezTo>
                  <a:pt x="6678" y="1616"/>
                  <a:pt x="6631" y="1663"/>
                  <a:pt x="6573" y="1663"/>
                </a:cubicBezTo>
                <a:lnTo>
                  <a:pt x="105" y="1663"/>
                </a:lnTo>
                <a:cubicBezTo>
                  <a:pt x="47" y="1663"/>
                  <a:pt x="0" y="1616"/>
                  <a:pt x="0" y="1558"/>
                </a:cubicBezTo>
                <a:close/>
              </a:path>
            </a:pathLst>
          </a:custGeom>
          <a:solidFill>
            <a:srgbClr val="fdf1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8" name=""/>
          <p:cNvSpPr txBox="1"/>
          <p:nvPr/>
        </p:nvSpPr>
        <p:spPr>
          <a:xfrm>
            <a:off x="3646440" y="1543320"/>
            <a:ext cx="1638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14)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9" name=""/>
          <p:cNvSpPr txBox="1"/>
          <p:nvPr/>
        </p:nvSpPr>
        <p:spPr>
          <a:xfrm>
            <a:off x="3087720" y="2063880"/>
            <a:ext cx="75348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dc823c"/>
                </a:solidFill>
                <a:latin typeface="LMSans10"/>
                <a:ea typeface="LMSans10"/>
              </a:rPr>
              <a:t>Honest framing: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0" name=""/>
          <p:cNvSpPr txBox="1"/>
          <p:nvPr/>
        </p:nvSpPr>
        <p:spPr>
          <a:xfrm>
            <a:off x="3931920" y="2063880"/>
            <a:ext cx="13039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Bihar is a hard SCM case —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1" name=""/>
          <p:cNvSpPr txBox="1"/>
          <p:nvPr/>
        </p:nvSpPr>
        <p:spPr>
          <a:xfrm>
            <a:off x="3087720" y="2184120"/>
            <a:ext cx="2278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short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2" name=""/>
          <p:cNvSpPr txBox="1"/>
          <p:nvPr/>
        </p:nvSpPr>
        <p:spPr>
          <a:xfrm>
            <a:off x="3367800" y="2184120"/>
            <a:ext cx="485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pre-period,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3" name=""/>
          <p:cNvSpPr txBox="1"/>
          <p:nvPr/>
        </p:nvSpPr>
        <p:spPr>
          <a:xfrm>
            <a:off x="3918240" y="2184120"/>
            <a:ext cx="285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outlier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4" name=""/>
          <p:cNvSpPr txBox="1"/>
          <p:nvPr/>
        </p:nvSpPr>
        <p:spPr>
          <a:xfrm>
            <a:off x="4260240" y="2184120"/>
            <a:ext cx="625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on covariates,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5" name=""/>
          <p:cNvSpPr txBox="1"/>
          <p:nvPr/>
        </p:nvSpPr>
        <p:spPr>
          <a:xfrm>
            <a:off x="4962240" y="2184120"/>
            <a:ext cx="3297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COVID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6" name=""/>
          <p:cNvSpPr txBox="1"/>
          <p:nvPr/>
        </p:nvSpPr>
        <p:spPr>
          <a:xfrm>
            <a:off x="3087720" y="2304360"/>
            <a:ext cx="5220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confounder.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7" name=""/>
          <p:cNvSpPr txBox="1"/>
          <p:nvPr/>
        </p:nvSpPr>
        <p:spPr>
          <a:xfrm>
            <a:off x="3660480" y="2304360"/>
            <a:ext cx="1631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Triangulating SCM and BSTS is the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8" name=""/>
          <p:cNvSpPr txBox="1"/>
          <p:nvPr/>
        </p:nvSpPr>
        <p:spPr>
          <a:xfrm>
            <a:off x="3087720" y="2424600"/>
            <a:ext cx="8038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strongest defence.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9" name=""/>
          <p:cNvSpPr txBox="1"/>
          <p:nvPr/>
        </p:nvSpPr>
        <p:spPr>
          <a:xfrm>
            <a:off x="5379480" y="3047400"/>
            <a:ext cx="337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22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1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2" name=""/>
          <p:cNvSpPr txBox="1"/>
          <p:nvPr/>
        </p:nvSpPr>
        <p:spPr>
          <a:xfrm>
            <a:off x="100080" y="5760"/>
            <a:ext cx="115740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Companion Tool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3" name=""/>
          <p:cNvSpPr/>
          <p:nvPr/>
        </p:nvSpPr>
        <p:spPr>
          <a:xfrm>
            <a:off x="359640" y="799920"/>
            <a:ext cx="2520720" cy="1771560"/>
          </a:xfrm>
          <a:custGeom>
            <a:avLst/>
            <a:gdLst/>
            <a:ahLst/>
            <a:rect l="0" t="0" r="r" b="b"/>
            <a:pathLst>
              <a:path w="7002" h="4921">
                <a:moveTo>
                  <a:pt x="0" y="4794"/>
                </a:moveTo>
                <a:lnTo>
                  <a:pt x="0" y="126"/>
                </a:lnTo>
                <a:cubicBezTo>
                  <a:pt x="0" y="57"/>
                  <a:pt x="57" y="0"/>
                  <a:pt x="127" y="0"/>
                </a:cubicBezTo>
                <a:lnTo>
                  <a:pt x="6875" y="0"/>
                </a:lnTo>
                <a:cubicBezTo>
                  <a:pt x="6945" y="0"/>
                  <a:pt x="7002" y="57"/>
                  <a:pt x="7002" y="126"/>
                </a:cubicBezTo>
                <a:lnTo>
                  <a:pt x="7002" y="4794"/>
                </a:lnTo>
                <a:cubicBezTo>
                  <a:pt x="7002" y="4864"/>
                  <a:pt x="6945" y="4921"/>
                  <a:pt x="6875" y="4921"/>
                </a:cubicBezTo>
                <a:lnTo>
                  <a:pt x="127" y="4921"/>
                </a:lnTo>
                <a:cubicBezTo>
                  <a:pt x="57" y="4921"/>
                  <a:pt x="0" y="4864"/>
                  <a:pt x="0" y="4794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4" name=""/>
          <p:cNvSpPr/>
          <p:nvPr/>
        </p:nvSpPr>
        <p:spPr>
          <a:xfrm>
            <a:off x="367560" y="1024920"/>
            <a:ext cx="2504880" cy="1539000"/>
          </a:xfrm>
          <a:custGeom>
            <a:avLst/>
            <a:gdLst/>
            <a:ahLst/>
            <a:rect l="0" t="0" r="r" b="b"/>
            <a:pathLst>
              <a:path w="6958" h="4275">
                <a:moveTo>
                  <a:pt x="0" y="4169"/>
                </a:moveTo>
                <a:lnTo>
                  <a:pt x="0" y="0"/>
                </a:lnTo>
                <a:lnTo>
                  <a:pt x="6958" y="0"/>
                </a:lnTo>
                <a:lnTo>
                  <a:pt x="6958" y="4169"/>
                </a:lnTo>
                <a:cubicBezTo>
                  <a:pt x="6958" y="4228"/>
                  <a:pt x="6911" y="4275"/>
                  <a:pt x="6853" y="4275"/>
                </a:cubicBezTo>
                <a:lnTo>
                  <a:pt x="105" y="4275"/>
                </a:lnTo>
                <a:cubicBezTo>
                  <a:pt x="47" y="4275"/>
                  <a:pt x="0" y="4228"/>
                  <a:pt x="0" y="4169"/>
                </a:cubicBezTo>
                <a:close/>
              </a:path>
            </a:pathLst>
          </a:custGeom>
          <a:solidFill>
            <a:srgbClr val="ecf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5" name=""/>
          <p:cNvSpPr/>
          <p:nvPr/>
        </p:nvSpPr>
        <p:spPr>
          <a:xfrm>
            <a:off x="367560" y="807480"/>
            <a:ext cx="2504880" cy="217800"/>
          </a:xfrm>
          <a:custGeom>
            <a:avLst/>
            <a:gdLst/>
            <a:ahLst/>
            <a:rect l="0" t="0" r="r" b="b"/>
            <a:pathLst>
              <a:path w="6958" h="605">
                <a:moveTo>
                  <a:pt x="0" y="605"/>
                </a:moveTo>
                <a:lnTo>
                  <a:pt x="0" y="105"/>
                </a:lnTo>
                <a:cubicBezTo>
                  <a:pt x="0" y="47"/>
                  <a:pt x="47" y="0"/>
                  <a:pt x="105" y="0"/>
                </a:cubicBezTo>
                <a:lnTo>
                  <a:pt x="6853" y="0"/>
                </a:lnTo>
                <a:cubicBezTo>
                  <a:pt x="6911" y="0"/>
                  <a:pt x="6958" y="47"/>
                  <a:pt x="6958" y="105"/>
                </a:cubicBezTo>
                <a:lnTo>
                  <a:pt x="6958" y="605"/>
                </a:lnTo>
                <a:lnTo>
                  <a:pt x="0" y="605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6" name=""/>
          <p:cNvSpPr txBox="1"/>
          <p:nvPr/>
        </p:nvSpPr>
        <p:spPr>
          <a:xfrm>
            <a:off x="1298880" y="5760"/>
            <a:ext cx="158400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— </a:t>
            </a:r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Interactive Website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7" name=""/>
          <p:cNvSpPr txBox="1"/>
          <p:nvPr/>
        </p:nvSpPr>
        <p:spPr>
          <a:xfrm>
            <a:off x="466920" y="83232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fffff"/>
                </a:solidFill>
                <a:latin typeface="Font Awesome 5 Free Solid"/>
                <a:ea typeface="Font Awesome 5 Free Solid"/>
              </a:rPr>
              <a:t>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8" name=""/>
          <p:cNvSpPr txBox="1"/>
          <p:nvPr/>
        </p:nvSpPr>
        <p:spPr>
          <a:xfrm>
            <a:off x="639720" y="822600"/>
            <a:ext cx="120456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ffffff"/>
                </a:solidFill>
                <a:latin typeface="LMSans10"/>
                <a:ea typeface="LMSans10"/>
              </a:rPr>
              <a:t>Live, reproducible deck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9" name=""/>
          <p:cNvSpPr txBox="1"/>
          <p:nvPr/>
        </p:nvSpPr>
        <p:spPr>
          <a:xfrm>
            <a:off x="466920" y="1052280"/>
            <a:ext cx="29340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Stack.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0" name=""/>
          <p:cNvSpPr txBox="1"/>
          <p:nvPr/>
        </p:nvSpPr>
        <p:spPr>
          <a:xfrm>
            <a:off x="916200" y="1052280"/>
            <a:ext cx="366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FastAPI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1" name=""/>
          <p:cNvSpPr txBox="1"/>
          <p:nvPr/>
        </p:nvSpPr>
        <p:spPr>
          <a:xfrm>
            <a:off x="1355040" y="1052280"/>
            <a:ext cx="1340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backend serving precomputed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2" name=""/>
          <p:cNvSpPr txBox="1"/>
          <p:nvPr/>
        </p:nvSpPr>
        <p:spPr>
          <a:xfrm>
            <a:off x="466920" y="1172520"/>
            <a:ext cx="1500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SCM/BSTS JSONs + a live SCM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3" name=""/>
          <p:cNvSpPr txBox="1"/>
          <p:nvPr/>
        </p:nvSpPr>
        <p:spPr>
          <a:xfrm>
            <a:off x="2019600" y="1186920"/>
            <a:ext cx="3207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Mono8"/>
                <a:ea typeface="LMMono8"/>
              </a:rPr>
              <a:t>/refit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4" name=""/>
          <p:cNvSpPr txBox="1"/>
          <p:nvPr/>
        </p:nvSpPr>
        <p:spPr>
          <a:xfrm>
            <a:off x="2377800" y="1172520"/>
            <a:ext cx="4093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endpoint.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5" name=""/>
          <p:cNvSpPr txBox="1"/>
          <p:nvPr/>
        </p:nvSpPr>
        <p:spPr>
          <a:xfrm>
            <a:off x="466920" y="1292760"/>
            <a:ext cx="2204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Next.js 16 / React 19 / Tailwind 4 / Recharts /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6" name=""/>
          <p:cNvSpPr txBox="1"/>
          <p:nvPr/>
        </p:nvSpPr>
        <p:spPr>
          <a:xfrm>
            <a:off x="466920" y="1413000"/>
            <a:ext cx="8010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Zustand frontend.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7" name=""/>
          <p:cNvSpPr txBox="1"/>
          <p:nvPr/>
        </p:nvSpPr>
        <p:spPr>
          <a:xfrm>
            <a:off x="463320" y="1587240"/>
            <a:ext cx="96228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Three outcome tabs.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8" name=""/>
          <p:cNvSpPr txBox="1"/>
          <p:nvPr/>
        </p:nvSpPr>
        <p:spPr>
          <a:xfrm>
            <a:off x="1482480" y="1587240"/>
            <a:ext cx="1300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Road accidents, own tax rev-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9" name=""/>
          <p:cNvSpPr txBox="1"/>
          <p:nvPr/>
        </p:nvSpPr>
        <p:spPr>
          <a:xfrm>
            <a:off x="466920" y="1707480"/>
            <a:ext cx="22806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enue, NSDP growth — each with main chart, gap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0" name=""/>
          <p:cNvSpPr txBox="1"/>
          <p:nvPr/>
        </p:nvSpPr>
        <p:spPr>
          <a:xfrm>
            <a:off x="466920" y="1827720"/>
            <a:ext cx="262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chart,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1" name=""/>
          <p:cNvSpPr txBox="1"/>
          <p:nvPr/>
        </p:nvSpPr>
        <p:spPr>
          <a:xfrm>
            <a:off x="786960" y="1827720"/>
            <a:ext cx="371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placebo,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2" name=""/>
          <p:cNvSpPr txBox="1"/>
          <p:nvPr/>
        </p:nvSpPr>
        <p:spPr>
          <a:xfrm>
            <a:off x="1222920" y="1827720"/>
            <a:ext cx="2581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donor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3" name=""/>
          <p:cNvSpPr txBox="1"/>
          <p:nvPr/>
        </p:nvSpPr>
        <p:spPr>
          <a:xfrm>
            <a:off x="1533600" y="1827720"/>
            <a:ext cx="3693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weights,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4" name=""/>
          <p:cNvSpPr txBox="1"/>
          <p:nvPr/>
        </p:nvSpPr>
        <p:spPr>
          <a:xfrm>
            <a:off x="1961640" y="1827720"/>
            <a:ext cx="4014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predictor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5" name=""/>
          <p:cNvSpPr txBox="1"/>
          <p:nvPr/>
        </p:nvSpPr>
        <p:spPr>
          <a:xfrm>
            <a:off x="2415240" y="1827720"/>
            <a:ext cx="3679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balance,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6" name=""/>
          <p:cNvSpPr txBox="1"/>
          <p:nvPr/>
        </p:nvSpPr>
        <p:spPr>
          <a:xfrm>
            <a:off x="466920" y="1947960"/>
            <a:ext cx="866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downloadable CSV.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7" name=""/>
          <p:cNvSpPr txBox="1"/>
          <p:nvPr/>
        </p:nvSpPr>
        <p:spPr>
          <a:xfrm>
            <a:off x="463320" y="2121840"/>
            <a:ext cx="95472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AI assistant (Gemini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8" name=""/>
          <p:cNvSpPr txBox="1"/>
          <p:nvPr/>
        </p:nvSpPr>
        <p:spPr>
          <a:xfrm>
            <a:off x="1478520" y="2121840"/>
            <a:ext cx="47016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2.5-flash).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9" name=""/>
          <p:cNvSpPr txBox="1"/>
          <p:nvPr/>
        </p:nvSpPr>
        <p:spPr>
          <a:xfrm>
            <a:off x="2015280" y="2121840"/>
            <a:ext cx="749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Per-tab dynamic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0" name=""/>
          <p:cNvSpPr txBox="1"/>
          <p:nvPr/>
        </p:nvSpPr>
        <p:spPr>
          <a:xfrm>
            <a:off x="466920" y="2242080"/>
            <a:ext cx="23248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context — the model answers questions on the active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1" name=""/>
          <p:cNvSpPr/>
          <p:nvPr/>
        </p:nvSpPr>
        <p:spPr>
          <a:xfrm>
            <a:off x="3081240" y="799920"/>
            <a:ext cx="2319120" cy="1158480"/>
          </a:xfrm>
          <a:custGeom>
            <a:avLst/>
            <a:gdLst/>
            <a:ahLst/>
            <a:rect l="0" t="0" r="r" b="b"/>
            <a:pathLst>
              <a:path w="6442" h="3218">
                <a:moveTo>
                  <a:pt x="0" y="3092"/>
                </a:moveTo>
                <a:lnTo>
                  <a:pt x="0" y="127"/>
                </a:lnTo>
                <a:cubicBezTo>
                  <a:pt x="0" y="57"/>
                  <a:pt x="57" y="0"/>
                  <a:pt x="127" y="0"/>
                </a:cubicBezTo>
                <a:lnTo>
                  <a:pt x="6315" y="0"/>
                </a:lnTo>
                <a:cubicBezTo>
                  <a:pt x="6385" y="0"/>
                  <a:pt x="6442" y="57"/>
                  <a:pt x="6442" y="127"/>
                </a:cubicBezTo>
                <a:lnTo>
                  <a:pt x="6442" y="3092"/>
                </a:lnTo>
                <a:cubicBezTo>
                  <a:pt x="6442" y="3161"/>
                  <a:pt x="6385" y="3218"/>
                  <a:pt x="6315" y="3218"/>
                </a:cubicBezTo>
                <a:lnTo>
                  <a:pt x="127" y="3218"/>
                </a:lnTo>
                <a:cubicBezTo>
                  <a:pt x="57" y="3218"/>
                  <a:pt x="0" y="3161"/>
                  <a:pt x="0" y="3092"/>
                </a:cubicBezTo>
                <a:close/>
              </a:path>
            </a:pathLst>
          </a:custGeom>
          <a:solidFill>
            <a:srgbClr val="dc823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2" name=""/>
          <p:cNvSpPr/>
          <p:nvPr/>
        </p:nvSpPr>
        <p:spPr>
          <a:xfrm>
            <a:off x="3088800" y="1025280"/>
            <a:ext cx="2303640" cy="925560"/>
          </a:xfrm>
          <a:custGeom>
            <a:avLst/>
            <a:gdLst/>
            <a:ahLst/>
            <a:rect l="0" t="0" r="r" b="b"/>
            <a:pathLst>
              <a:path w="6399" h="2571">
                <a:moveTo>
                  <a:pt x="0" y="2466"/>
                </a:moveTo>
                <a:lnTo>
                  <a:pt x="0" y="0"/>
                </a:lnTo>
                <a:lnTo>
                  <a:pt x="6399" y="0"/>
                </a:lnTo>
                <a:lnTo>
                  <a:pt x="6399" y="2466"/>
                </a:lnTo>
                <a:cubicBezTo>
                  <a:pt x="6399" y="2524"/>
                  <a:pt x="6352" y="2571"/>
                  <a:pt x="6294" y="2571"/>
                </a:cubicBezTo>
                <a:lnTo>
                  <a:pt x="106" y="2571"/>
                </a:lnTo>
                <a:cubicBezTo>
                  <a:pt x="48" y="2571"/>
                  <a:pt x="0" y="2524"/>
                  <a:pt x="0" y="2466"/>
                </a:cubicBezTo>
                <a:close/>
              </a:path>
            </a:pathLst>
          </a:custGeom>
          <a:solidFill>
            <a:srgbClr val="fdf1e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3" name=""/>
          <p:cNvSpPr txBox="1"/>
          <p:nvPr/>
        </p:nvSpPr>
        <p:spPr>
          <a:xfrm>
            <a:off x="466920" y="2362320"/>
            <a:ext cx="20505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outcome with the correct numbers + caveats.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4" name=""/>
          <p:cNvSpPr txBox="1"/>
          <p:nvPr/>
        </p:nvSpPr>
        <p:spPr>
          <a:xfrm>
            <a:off x="3188520" y="806760"/>
            <a:ext cx="1382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90" spc="-1" strike="noStrike">
                <a:solidFill>
                  <a:srgbClr val="ffffff"/>
                </a:solidFill>
                <a:latin typeface="Font Awesome 5 Free Solid"/>
                <a:ea typeface="Font Awesome 5 Free Solid"/>
              </a:rPr>
              <a:t>_</a:t>
            </a:r>
            <a:endParaRPr b="0" lang="en-US" sz="10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5" name=""/>
          <p:cNvSpPr txBox="1"/>
          <p:nvPr/>
        </p:nvSpPr>
        <p:spPr>
          <a:xfrm>
            <a:off x="3430800" y="794880"/>
            <a:ext cx="575280" cy="20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90" spc="-1" strike="noStrike">
                <a:solidFill>
                  <a:srgbClr val="ffffff"/>
                </a:solidFill>
                <a:latin typeface="LMSans10"/>
                <a:ea typeface="LMSans10"/>
              </a:rPr>
              <a:t>Endpoints</a:t>
            </a:r>
            <a:endParaRPr b="0" lang="en-US" sz="10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6" name=""/>
          <p:cNvSpPr txBox="1"/>
          <p:nvPr/>
        </p:nvSpPr>
        <p:spPr>
          <a:xfrm>
            <a:off x="3188520" y="1074240"/>
            <a:ext cx="1209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LMMono8"/>
                <a:ea typeface="LMMono8"/>
              </a:rPr>
              <a:t>GET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7" name=""/>
          <p:cNvSpPr txBox="1"/>
          <p:nvPr/>
        </p:nvSpPr>
        <p:spPr>
          <a:xfrm>
            <a:off x="3363120" y="1074240"/>
            <a:ext cx="6073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LMMono8"/>
                <a:ea typeface="LMMono8"/>
              </a:rPr>
              <a:t>/api/case/bihar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8" name=""/>
          <p:cNvSpPr txBox="1"/>
          <p:nvPr/>
        </p:nvSpPr>
        <p:spPr>
          <a:xfrm>
            <a:off x="3188520" y="1162800"/>
            <a:ext cx="1209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LMMono8"/>
                <a:ea typeface="LMMono8"/>
              </a:rPr>
              <a:t>GET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9" name=""/>
          <p:cNvSpPr txBox="1"/>
          <p:nvPr/>
        </p:nvSpPr>
        <p:spPr>
          <a:xfrm>
            <a:off x="3363120" y="1162800"/>
            <a:ext cx="7689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LMMono8"/>
                <a:ea typeface="LMMono8"/>
              </a:rPr>
              <a:t>/api/case/bihar/scm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0" name=""/>
          <p:cNvSpPr txBox="1"/>
          <p:nvPr/>
        </p:nvSpPr>
        <p:spPr>
          <a:xfrm>
            <a:off x="3188520" y="1251360"/>
            <a:ext cx="1209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LMMono8"/>
                <a:ea typeface="LMMono8"/>
              </a:rPr>
              <a:t>GET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1" name=""/>
          <p:cNvSpPr txBox="1"/>
          <p:nvPr/>
        </p:nvSpPr>
        <p:spPr>
          <a:xfrm>
            <a:off x="3363120" y="1251360"/>
            <a:ext cx="9302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LMMono8"/>
                <a:ea typeface="LMMono8"/>
              </a:rPr>
              <a:t>/api/case/bihar/scm/tax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2" name=""/>
          <p:cNvSpPr txBox="1"/>
          <p:nvPr/>
        </p:nvSpPr>
        <p:spPr>
          <a:xfrm>
            <a:off x="3188520" y="1339920"/>
            <a:ext cx="1209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LMMono8"/>
                <a:ea typeface="LMMono8"/>
              </a:rPr>
              <a:t>GET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3" name=""/>
          <p:cNvSpPr txBox="1"/>
          <p:nvPr/>
        </p:nvSpPr>
        <p:spPr>
          <a:xfrm>
            <a:off x="3363120" y="1339920"/>
            <a:ext cx="10522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LMMono8"/>
                <a:ea typeface="LMMono8"/>
              </a:rPr>
              <a:t>/api/case/bihar/scm/growth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4" name=""/>
          <p:cNvSpPr txBox="1"/>
          <p:nvPr/>
        </p:nvSpPr>
        <p:spPr>
          <a:xfrm>
            <a:off x="3188520" y="1428480"/>
            <a:ext cx="1209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LMMono8"/>
                <a:ea typeface="LMMono8"/>
              </a:rPr>
              <a:t>GET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5" name=""/>
          <p:cNvSpPr txBox="1"/>
          <p:nvPr/>
        </p:nvSpPr>
        <p:spPr>
          <a:xfrm>
            <a:off x="3363120" y="1428480"/>
            <a:ext cx="8100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LMMono8"/>
                <a:ea typeface="LMMono8"/>
              </a:rPr>
              <a:t>/api/case/bihar/bsts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6" name=""/>
          <p:cNvSpPr txBox="1"/>
          <p:nvPr/>
        </p:nvSpPr>
        <p:spPr>
          <a:xfrm>
            <a:off x="3188520" y="1517040"/>
            <a:ext cx="1209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LMMono8"/>
                <a:ea typeface="LMMono8"/>
              </a:rPr>
              <a:t>GET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7" name=""/>
          <p:cNvSpPr txBox="1"/>
          <p:nvPr/>
        </p:nvSpPr>
        <p:spPr>
          <a:xfrm>
            <a:off x="3363120" y="1517040"/>
            <a:ext cx="9716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LMMono8"/>
                <a:ea typeface="LMMono8"/>
              </a:rPr>
              <a:t>/api/case/bihar/bsts/tax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8" name=""/>
          <p:cNvSpPr txBox="1"/>
          <p:nvPr/>
        </p:nvSpPr>
        <p:spPr>
          <a:xfrm>
            <a:off x="3188520" y="1605600"/>
            <a:ext cx="1209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LMMono8"/>
                <a:ea typeface="LMMono8"/>
              </a:rPr>
              <a:t>GET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9" name=""/>
          <p:cNvSpPr txBox="1"/>
          <p:nvPr/>
        </p:nvSpPr>
        <p:spPr>
          <a:xfrm>
            <a:off x="3363120" y="1605600"/>
            <a:ext cx="10918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LMMono8"/>
                <a:ea typeface="LMMono8"/>
              </a:rPr>
              <a:t>/api/case/bihar/bsts/growth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0" name=""/>
          <p:cNvSpPr txBox="1"/>
          <p:nvPr/>
        </p:nvSpPr>
        <p:spPr>
          <a:xfrm>
            <a:off x="3188520" y="1694160"/>
            <a:ext cx="10522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LMMono8"/>
                <a:ea typeface="LMMono8"/>
              </a:rPr>
              <a:t>POST /api/case/bihar/refit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1" name=""/>
          <p:cNvSpPr/>
          <p:nvPr/>
        </p:nvSpPr>
        <p:spPr>
          <a:xfrm>
            <a:off x="3081240" y="2194920"/>
            <a:ext cx="2319120" cy="242640"/>
          </a:xfrm>
          <a:custGeom>
            <a:avLst/>
            <a:gdLst/>
            <a:ahLst/>
            <a:rect l="0" t="0" r="r" b="b"/>
            <a:pathLst>
              <a:path w="6442" h="674">
                <a:moveTo>
                  <a:pt x="0" y="551"/>
                </a:moveTo>
                <a:lnTo>
                  <a:pt x="0" y="123"/>
                </a:lnTo>
                <a:cubicBezTo>
                  <a:pt x="0" y="55"/>
                  <a:pt x="55" y="0"/>
                  <a:pt x="123" y="0"/>
                </a:cubicBezTo>
                <a:lnTo>
                  <a:pt x="6319" y="0"/>
                </a:lnTo>
                <a:cubicBezTo>
                  <a:pt x="6387" y="0"/>
                  <a:pt x="6442" y="55"/>
                  <a:pt x="6442" y="123"/>
                </a:cubicBezTo>
                <a:lnTo>
                  <a:pt x="6442" y="551"/>
                </a:lnTo>
                <a:cubicBezTo>
                  <a:pt x="6442" y="619"/>
                  <a:pt x="6387" y="674"/>
                  <a:pt x="6319" y="674"/>
                </a:cubicBezTo>
                <a:lnTo>
                  <a:pt x="123" y="674"/>
                </a:lnTo>
                <a:cubicBezTo>
                  <a:pt x="55" y="674"/>
                  <a:pt x="0" y="619"/>
                  <a:pt x="0" y="551"/>
                </a:cubicBez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2" name=""/>
          <p:cNvSpPr/>
          <p:nvPr/>
        </p:nvSpPr>
        <p:spPr>
          <a:xfrm>
            <a:off x="3087720" y="2201400"/>
            <a:ext cx="2306160" cy="229680"/>
          </a:xfrm>
          <a:custGeom>
            <a:avLst/>
            <a:gdLst/>
            <a:ahLst/>
            <a:rect l="0" t="0" r="r" b="b"/>
            <a:pathLst>
              <a:path w="6406" h="638">
                <a:moveTo>
                  <a:pt x="0" y="532"/>
                </a:moveTo>
                <a:lnTo>
                  <a:pt x="0" y="105"/>
                </a:lnTo>
                <a:cubicBezTo>
                  <a:pt x="0" y="47"/>
                  <a:pt x="47" y="0"/>
                  <a:pt x="105" y="0"/>
                </a:cubicBezTo>
                <a:lnTo>
                  <a:pt x="6301" y="0"/>
                </a:lnTo>
                <a:cubicBezTo>
                  <a:pt x="6359" y="0"/>
                  <a:pt x="6406" y="47"/>
                  <a:pt x="6406" y="105"/>
                </a:cubicBezTo>
                <a:lnTo>
                  <a:pt x="6406" y="532"/>
                </a:lnTo>
                <a:cubicBezTo>
                  <a:pt x="6406" y="591"/>
                  <a:pt x="6359" y="638"/>
                  <a:pt x="6301" y="638"/>
                </a:cubicBezTo>
                <a:lnTo>
                  <a:pt x="105" y="638"/>
                </a:lnTo>
                <a:cubicBezTo>
                  <a:pt x="47" y="638"/>
                  <a:pt x="0" y="591"/>
                  <a:pt x="0" y="532"/>
                </a:cubicBezTo>
                <a:close/>
              </a:path>
            </a:pathLst>
          </a:custGeom>
          <a:solidFill>
            <a:srgbClr val="f5f5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3" name=""/>
          <p:cNvSpPr txBox="1"/>
          <p:nvPr/>
        </p:nvSpPr>
        <p:spPr>
          <a:xfrm>
            <a:off x="3188520" y="1782720"/>
            <a:ext cx="5266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LMMono8"/>
                <a:ea typeface="LMMono8"/>
              </a:rPr>
              <a:t>POST /api/ask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4" name=""/>
          <p:cNvSpPr txBox="1"/>
          <p:nvPr/>
        </p:nvSpPr>
        <p:spPr>
          <a:xfrm>
            <a:off x="3174480" y="2259000"/>
            <a:ext cx="7560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Font Awesome 5 Brands Regular"/>
                <a:ea typeface="Font Awesome 5 Brands Regular"/>
              </a:rPr>
              <a:t>§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5" name=""/>
          <p:cNvSpPr txBox="1"/>
          <p:nvPr/>
        </p:nvSpPr>
        <p:spPr>
          <a:xfrm>
            <a:off x="3288240" y="2262960"/>
            <a:ext cx="16178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000000"/>
                </a:solidFill>
                <a:latin typeface="LMMono8"/>
                <a:ea typeface="LMMono8"/>
              </a:rPr>
              <a:t>github.com/amsorrytola/scm-policy-india-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6" name=""/>
          <p:cNvSpPr txBox="1"/>
          <p:nvPr/>
        </p:nvSpPr>
        <p:spPr>
          <a:xfrm>
            <a:off x="5379480" y="3047400"/>
            <a:ext cx="337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23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8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9" name=""/>
          <p:cNvSpPr/>
          <p:nvPr/>
        </p:nvSpPr>
        <p:spPr>
          <a:xfrm>
            <a:off x="359640" y="686880"/>
            <a:ext cx="5040720" cy="899280"/>
          </a:xfrm>
          <a:custGeom>
            <a:avLst/>
            <a:gdLst/>
            <a:ahLst/>
            <a:rect l="0" t="0" r="r" b="b"/>
            <a:pathLst>
              <a:path w="14002" h="2498">
                <a:moveTo>
                  <a:pt x="0" y="2372"/>
                </a:moveTo>
                <a:lnTo>
                  <a:pt x="0" y="126"/>
                </a:lnTo>
                <a:cubicBezTo>
                  <a:pt x="0" y="57"/>
                  <a:pt x="57" y="0"/>
                  <a:pt x="127" y="0"/>
                </a:cubicBezTo>
                <a:lnTo>
                  <a:pt x="13875" y="0"/>
                </a:lnTo>
                <a:cubicBezTo>
                  <a:pt x="13945" y="0"/>
                  <a:pt x="14002" y="57"/>
                  <a:pt x="14002" y="126"/>
                </a:cubicBezTo>
                <a:lnTo>
                  <a:pt x="14002" y="2372"/>
                </a:lnTo>
                <a:cubicBezTo>
                  <a:pt x="14002" y="2442"/>
                  <a:pt x="13945" y="2498"/>
                  <a:pt x="13875" y="2498"/>
                </a:cubicBezTo>
                <a:lnTo>
                  <a:pt x="127" y="2498"/>
                </a:lnTo>
                <a:cubicBezTo>
                  <a:pt x="57" y="2498"/>
                  <a:pt x="0" y="2442"/>
                  <a:pt x="0" y="2372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0" name=""/>
          <p:cNvSpPr/>
          <p:nvPr/>
        </p:nvSpPr>
        <p:spPr>
          <a:xfrm>
            <a:off x="367560" y="905400"/>
            <a:ext cx="5025240" cy="673200"/>
          </a:xfrm>
          <a:custGeom>
            <a:avLst/>
            <a:gdLst/>
            <a:ahLst/>
            <a:rect l="0" t="0" r="r" b="b"/>
            <a:pathLst>
              <a:path w="13959" h="1870">
                <a:moveTo>
                  <a:pt x="0" y="1765"/>
                </a:moveTo>
                <a:lnTo>
                  <a:pt x="0" y="0"/>
                </a:lnTo>
                <a:lnTo>
                  <a:pt x="13959" y="0"/>
                </a:lnTo>
                <a:lnTo>
                  <a:pt x="13959" y="1765"/>
                </a:lnTo>
                <a:cubicBezTo>
                  <a:pt x="13959" y="1823"/>
                  <a:pt x="13911" y="1870"/>
                  <a:pt x="13853" y="1870"/>
                </a:cubicBezTo>
                <a:lnTo>
                  <a:pt x="105" y="1870"/>
                </a:lnTo>
                <a:cubicBezTo>
                  <a:pt x="47" y="1870"/>
                  <a:pt x="0" y="1823"/>
                  <a:pt x="0" y="1765"/>
                </a:cubicBezTo>
                <a:close/>
              </a:path>
            </a:pathLst>
          </a:custGeom>
          <a:solidFill>
            <a:srgbClr val="ecf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1" name=""/>
          <p:cNvSpPr/>
          <p:nvPr/>
        </p:nvSpPr>
        <p:spPr>
          <a:xfrm>
            <a:off x="367560" y="694440"/>
            <a:ext cx="5025240" cy="211320"/>
          </a:xfrm>
          <a:custGeom>
            <a:avLst/>
            <a:gdLst/>
            <a:ahLst/>
            <a:rect l="0" t="0" r="r" b="b"/>
            <a:pathLst>
              <a:path w="13959" h="587">
                <a:moveTo>
                  <a:pt x="0" y="587"/>
                </a:moveTo>
                <a:lnTo>
                  <a:pt x="0" y="105"/>
                </a:lnTo>
                <a:cubicBezTo>
                  <a:pt x="0" y="47"/>
                  <a:pt x="47" y="0"/>
                  <a:pt x="105" y="0"/>
                </a:cubicBezTo>
                <a:lnTo>
                  <a:pt x="13853" y="0"/>
                </a:lnTo>
                <a:cubicBezTo>
                  <a:pt x="13911" y="0"/>
                  <a:pt x="13959" y="47"/>
                  <a:pt x="13959" y="105"/>
                </a:cubicBezTo>
                <a:lnTo>
                  <a:pt x="13959" y="587"/>
                </a:lnTo>
                <a:lnTo>
                  <a:pt x="0" y="587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2" name=""/>
          <p:cNvSpPr txBox="1"/>
          <p:nvPr/>
        </p:nvSpPr>
        <p:spPr>
          <a:xfrm>
            <a:off x="100080" y="5760"/>
            <a:ext cx="81288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Conclusions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3" name=""/>
          <p:cNvSpPr txBox="1"/>
          <p:nvPr/>
        </p:nvSpPr>
        <p:spPr>
          <a:xfrm>
            <a:off x="466920" y="72072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fffff"/>
                </a:solidFill>
                <a:latin typeface="Font Awesome 5 Free Solid"/>
                <a:ea typeface="Font Awesome 5 Free Solid"/>
              </a:rPr>
              <a:t>/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4" name=""/>
          <p:cNvSpPr txBox="1"/>
          <p:nvPr/>
        </p:nvSpPr>
        <p:spPr>
          <a:xfrm>
            <a:off x="614880" y="711000"/>
            <a:ext cx="4550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ffffff"/>
                </a:solidFill>
                <a:latin typeface="LMSans10"/>
                <a:ea typeface="LMSans10"/>
              </a:rPr>
              <a:t>Headline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5" name=""/>
          <p:cNvSpPr txBox="1"/>
          <p:nvPr/>
        </p:nvSpPr>
        <p:spPr>
          <a:xfrm>
            <a:off x="466920" y="927000"/>
            <a:ext cx="1715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Bihar’s 2016 prohibition produced a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6" name=""/>
          <p:cNvSpPr txBox="1"/>
          <p:nvPr/>
        </p:nvSpPr>
        <p:spPr>
          <a:xfrm>
            <a:off x="2228760" y="927000"/>
            <a:ext cx="116496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1b9e4b"/>
                </a:solidFill>
                <a:latin typeface="LMSans10"/>
                <a:ea typeface="LMSans10"/>
              </a:rPr>
              <a:t>statistically meaningful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7" name=""/>
          <p:cNvSpPr txBox="1"/>
          <p:nvPr/>
        </p:nvSpPr>
        <p:spPr>
          <a:xfrm>
            <a:off x="3443760" y="927000"/>
            <a:ext cx="183852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1b9e4b"/>
                </a:solidFill>
                <a:latin typeface="LMSans10"/>
                <a:ea typeface="LMSans10"/>
              </a:rPr>
              <a:t>short-run reduction in road-accident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8" name=""/>
          <p:cNvSpPr txBox="1"/>
          <p:nvPr/>
        </p:nvSpPr>
        <p:spPr>
          <a:xfrm>
            <a:off x="466920" y="1066320"/>
            <a:ext cx="34056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1b9e4b"/>
                </a:solidFill>
                <a:latin typeface="LMSans10"/>
                <a:ea typeface="LMSans10"/>
              </a:rPr>
              <a:t>deaths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9" name=""/>
          <p:cNvSpPr txBox="1"/>
          <p:nvPr/>
        </p:nvSpPr>
        <p:spPr>
          <a:xfrm>
            <a:off x="844560" y="1066320"/>
            <a:ext cx="7444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(rank 2 / 14,</a:t>
            </a:r>
            <a:r>
              <a:rPr b="0" i="1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 p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0" name=""/>
          <p:cNvSpPr txBox="1"/>
          <p:nvPr/>
        </p:nvSpPr>
        <p:spPr>
          <a:xfrm>
            <a:off x="1621800" y="107604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00000"/>
                </a:solidFill>
                <a:latin typeface="LMMathSymbols9"/>
                <a:ea typeface="LMMathSymbols9"/>
              </a:rPr>
              <a:t>≈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1" name=""/>
          <p:cNvSpPr txBox="1"/>
          <p:nvPr/>
        </p:nvSpPr>
        <p:spPr>
          <a:xfrm>
            <a:off x="1745280" y="1066320"/>
            <a:ext cx="1130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0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2" name=""/>
          <p:cNvSpPr txBox="1"/>
          <p:nvPr/>
        </p:nvSpPr>
        <p:spPr>
          <a:xfrm>
            <a:off x="1803600" y="107604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00000"/>
                </a:solidFill>
                <a:latin typeface="LMMathItalic9"/>
                <a:ea typeface="LMMathItalic9"/>
              </a:rPr>
              <a:t>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3" name=""/>
          <p:cNvSpPr txBox="1"/>
          <p:nvPr/>
        </p:nvSpPr>
        <p:spPr>
          <a:xfrm>
            <a:off x="1836360" y="1066320"/>
            <a:ext cx="4626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071) that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4" name=""/>
          <p:cNvSpPr txBox="1"/>
          <p:nvPr/>
        </p:nvSpPr>
        <p:spPr>
          <a:xfrm>
            <a:off x="2334600" y="1066320"/>
            <a:ext cx="88632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ef4444"/>
                </a:solidFill>
                <a:latin typeface="LMSans10"/>
                <a:ea typeface="LMSans10"/>
              </a:rPr>
              <a:t>reversed by 2018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5" name=""/>
          <p:cNvSpPr txBox="1"/>
          <p:nvPr/>
        </p:nvSpPr>
        <p:spPr>
          <a:xfrm>
            <a:off x="3210840" y="1066320"/>
            <a:ext cx="616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, alongside a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6" name=""/>
          <p:cNvSpPr txBox="1"/>
          <p:nvPr/>
        </p:nvSpPr>
        <p:spPr>
          <a:xfrm>
            <a:off x="3861000" y="1066320"/>
            <a:ext cx="80856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ef4444"/>
                </a:solidFill>
                <a:latin typeface="LMSans10"/>
                <a:ea typeface="LMSans10"/>
              </a:rPr>
              <a:t>persistent fiscal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7" name=""/>
          <p:cNvSpPr txBox="1"/>
          <p:nvPr/>
        </p:nvSpPr>
        <p:spPr>
          <a:xfrm>
            <a:off x="4707720" y="1066320"/>
            <a:ext cx="5904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ef4444"/>
                </a:solidFill>
                <a:latin typeface="LMSans10"/>
                <a:ea typeface="LMSans10"/>
              </a:rPr>
              <a:t>contraction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8" name=""/>
          <p:cNvSpPr txBox="1"/>
          <p:nvPr/>
        </p:nvSpPr>
        <p:spPr>
          <a:xfrm>
            <a:off x="462240" y="1205280"/>
            <a:ext cx="1159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(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9" name=""/>
          <p:cNvSpPr txBox="1"/>
          <p:nvPr/>
        </p:nvSpPr>
        <p:spPr>
          <a:xfrm>
            <a:off x="508680" y="1215000"/>
            <a:ext cx="1836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00000"/>
                </a:solidFill>
                <a:latin typeface="LMMathSymbols9"/>
                <a:ea typeface="LMMathSymbols9"/>
              </a:rPr>
              <a:t>−</a:t>
            </a:r>
            <a:r>
              <a:rPr b="0" lang="en-US" sz="900" spc="-1" strike="noStrike">
                <a:solidFill>
                  <a:srgbClr val="000000"/>
                </a:solidFill>
                <a:latin typeface="Font Awesome 5 Free Solid"/>
                <a:ea typeface="Font Awesome 5 Free Solid"/>
              </a:rPr>
              <a:t>Ñ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0" name=""/>
          <p:cNvSpPr txBox="1"/>
          <p:nvPr/>
        </p:nvSpPr>
        <p:spPr>
          <a:xfrm>
            <a:off x="690480" y="1205280"/>
            <a:ext cx="6238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2,017 Cr/yr,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1" name=""/>
          <p:cNvSpPr txBox="1"/>
          <p:nvPr/>
        </p:nvSpPr>
        <p:spPr>
          <a:xfrm>
            <a:off x="1370880" y="1205280"/>
            <a:ext cx="38685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attenuated composite) and a</a:t>
            </a:r>
            <a:r>
              <a:rPr b="0" i="1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 suggestive but not significant</a:t>
            </a:r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 growth headwind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2" name=""/>
          <p:cNvSpPr txBox="1"/>
          <p:nvPr/>
        </p:nvSpPr>
        <p:spPr>
          <a:xfrm>
            <a:off x="462240" y="1344600"/>
            <a:ext cx="113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(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3" name=""/>
          <p:cNvSpPr txBox="1"/>
          <p:nvPr/>
        </p:nvSpPr>
        <p:spPr>
          <a:xfrm>
            <a:off x="507960" y="135432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00000"/>
                </a:solidFill>
                <a:latin typeface="LMMathSymbols9"/>
                <a:ea typeface="LMMathSymbols9"/>
              </a:rPr>
              <a:t>−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4" name=""/>
          <p:cNvSpPr txBox="1"/>
          <p:nvPr/>
        </p:nvSpPr>
        <p:spPr>
          <a:xfrm>
            <a:off x="598680" y="1344600"/>
            <a:ext cx="5036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3 pp/yr,</a:t>
            </a:r>
            <a:r>
              <a:rPr b="0" i="1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 p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5" name=""/>
          <p:cNvSpPr txBox="1"/>
          <p:nvPr/>
        </p:nvSpPr>
        <p:spPr>
          <a:xfrm>
            <a:off x="1119960" y="135432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00000"/>
                </a:solidFill>
                <a:latin typeface="LMMathSymbols9"/>
                <a:ea typeface="LMMathSymbols9"/>
              </a:rPr>
              <a:t>≈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6" name=""/>
          <p:cNvSpPr txBox="1"/>
          <p:nvPr/>
        </p:nvSpPr>
        <p:spPr>
          <a:xfrm>
            <a:off x="1243440" y="1344600"/>
            <a:ext cx="113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0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7" name=""/>
          <p:cNvSpPr txBox="1"/>
          <p:nvPr/>
        </p:nvSpPr>
        <p:spPr>
          <a:xfrm>
            <a:off x="1302120" y="135432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00000"/>
                </a:solidFill>
                <a:latin typeface="LMMathItalic9"/>
                <a:ea typeface="LMMathItalic9"/>
              </a:rPr>
              <a:t>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8" name=""/>
          <p:cNvSpPr txBox="1"/>
          <p:nvPr/>
        </p:nvSpPr>
        <p:spPr>
          <a:xfrm>
            <a:off x="1334520" y="1344600"/>
            <a:ext cx="1958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LMSans9"/>
                <a:ea typeface="LMSans9"/>
              </a:rPr>
              <a:t>43).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9" name=""/>
          <p:cNvSpPr txBox="1"/>
          <p:nvPr/>
        </p:nvSpPr>
        <p:spPr>
          <a:xfrm>
            <a:off x="360000" y="1734480"/>
            <a:ext cx="88452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0f4c81"/>
                </a:solidFill>
                <a:latin typeface="LMSans10"/>
                <a:ea typeface="LMSans10"/>
              </a:rPr>
              <a:t>Methodological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0" name=""/>
          <p:cNvSpPr txBox="1"/>
          <p:nvPr/>
        </p:nvSpPr>
        <p:spPr>
          <a:xfrm>
            <a:off x="1295280" y="1734480"/>
            <a:ext cx="63180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89" spc="-1" strike="noStrike">
                <a:solidFill>
                  <a:srgbClr val="0f4c81"/>
                </a:solidFill>
                <a:latin typeface="LMSans10"/>
                <a:ea typeface="LMSans10"/>
              </a:rPr>
              <a:t>takeaways:</a:t>
            </a:r>
            <a:endParaRPr b="0" lang="en-US" sz="98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1" name=""/>
          <p:cNvSpPr txBox="1"/>
          <p:nvPr/>
        </p:nvSpPr>
        <p:spPr>
          <a:xfrm>
            <a:off x="496800" y="194868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2" name=""/>
          <p:cNvSpPr txBox="1"/>
          <p:nvPr/>
        </p:nvSpPr>
        <p:spPr>
          <a:xfrm>
            <a:off x="637200" y="1938960"/>
            <a:ext cx="18860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Lagged-outcome anchoring is essential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3" name=""/>
          <p:cNvSpPr txBox="1"/>
          <p:nvPr/>
        </p:nvSpPr>
        <p:spPr>
          <a:xfrm>
            <a:off x="2549160" y="1938960"/>
            <a:ext cx="26067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when the treated unit lies near the donor convex-hull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4" name=""/>
          <p:cNvSpPr txBox="1"/>
          <p:nvPr/>
        </p:nvSpPr>
        <p:spPr>
          <a:xfrm>
            <a:off x="5176440" y="1938960"/>
            <a:ext cx="2232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edge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5" name=""/>
          <p:cNvSpPr txBox="1"/>
          <p:nvPr/>
        </p:nvSpPr>
        <p:spPr>
          <a:xfrm>
            <a:off x="496800" y="213840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6" name=""/>
          <p:cNvSpPr txBox="1"/>
          <p:nvPr/>
        </p:nvSpPr>
        <p:spPr>
          <a:xfrm>
            <a:off x="637200" y="2128680"/>
            <a:ext cx="21967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BSTS and SCM agree on direction across all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7" name=""/>
          <p:cNvSpPr txBox="1"/>
          <p:nvPr/>
        </p:nvSpPr>
        <p:spPr>
          <a:xfrm>
            <a:off x="2864520" y="2128680"/>
            <a:ext cx="22381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three outcomes; triangulation strengthens the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8" name=""/>
          <p:cNvSpPr txBox="1"/>
          <p:nvPr/>
        </p:nvSpPr>
        <p:spPr>
          <a:xfrm>
            <a:off x="637200" y="2268000"/>
            <a:ext cx="8067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qualitative claim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9" name=""/>
          <p:cNvSpPr txBox="1"/>
          <p:nvPr/>
        </p:nvSpPr>
        <p:spPr>
          <a:xfrm>
            <a:off x="496800" y="246744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0" name=""/>
          <p:cNvSpPr txBox="1"/>
          <p:nvPr/>
        </p:nvSpPr>
        <p:spPr>
          <a:xfrm>
            <a:off x="637200" y="2457720"/>
            <a:ext cx="42069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For short pre-periods, sparse BSTS specifications (1–3 donors) dominate the full-pool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1" name=""/>
          <p:cNvSpPr txBox="1"/>
          <p:nvPr/>
        </p:nvSpPr>
        <p:spPr>
          <a:xfrm>
            <a:off x="4862880" y="2457720"/>
            <a:ext cx="3358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default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2" name=""/>
          <p:cNvSpPr txBox="1"/>
          <p:nvPr/>
        </p:nvSpPr>
        <p:spPr>
          <a:xfrm>
            <a:off x="5379480" y="3047400"/>
            <a:ext cx="337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24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4" name=""/>
          <p:cNvSpPr/>
          <p:nvPr/>
        </p:nvSpPr>
        <p:spPr>
          <a:xfrm>
            <a:off x="-360" y="0"/>
            <a:ext cx="5760720" cy="720360"/>
          </a:xfrm>
          <a:custGeom>
            <a:avLst/>
            <a:gdLst/>
            <a:ahLst/>
            <a:rect l="0" t="0" r="r" b="b"/>
            <a:pathLst>
              <a:path w="16002" h="2001">
                <a:moveTo>
                  <a:pt x="0" y="2001"/>
                </a:moveTo>
                <a:lnTo>
                  <a:pt x="0" y="0"/>
                </a:lnTo>
                <a:lnTo>
                  <a:pt x="16002" y="0"/>
                </a:lnTo>
                <a:lnTo>
                  <a:pt x="16002" y="2001"/>
                </a:lnTo>
                <a:lnTo>
                  <a:pt x="0" y="2001"/>
                </a:lnTo>
                <a:close/>
              </a:path>
            </a:pathLst>
          </a:custGeom>
          <a:solidFill>
            <a:srgbClr val="0a3a66">
              <a:alpha val="55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5" name=""/>
          <p:cNvSpPr/>
          <p:nvPr/>
        </p:nvSpPr>
        <p:spPr>
          <a:xfrm>
            <a:off x="2880000" y="360000"/>
            <a:ext cx="3600360" cy="3600360"/>
          </a:xfrm>
          <a:custGeom>
            <a:avLst/>
            <a:gdLst/>
            <a:ahLst/>
            <a:rect l="0" t="0" r="r" b="b"/>
            <a:pathLst>
              <a:path w="10001" h="10001">
                <a:moveTo>
                  <a:pt x="10001" y="5001"/>
                </a:moveTo>
                <a:cubicBezTo>
                  <a:pt x="10001" y="2238"/>
                  <a:pt x="7762" y="0"/>
                  <a:pt x="5000" y="0"/>
                </a:cubicBezTo>
                <a:cubicBezTo>
                  <a:pt x="2238" y="0"/>
                  <a:pt x="0" y="2238"/>
                  <a:pt x="0" y="5001"/>
                </a:cubicBezTo>
                <a:cubicBezTo>
                  <a:pt x="0" y="7762"/>
                  <a:pt x="2238" y="10001"/>
                  <a:pt x="5000" y="10001"/>
                </a:cubicBezTo>
                <a:cubicBezTo>
                  <a:pt x="7762" y="10001"/>
                  <a:pt x="10001" y="7762"/>
                  <a:pt x="10001" y="5001"/>
                </a:cubicBezTo>
                <a:close/>
              </a:path>
            </a:pathLst>
          </a:custGeom>
          <a:solidFill>
            <a:srgbClr val="1a6ab5">
              <a:alpha val="1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6" name=""/>
          <p:cNvSpPr/>
          <p:nvPr/>
        </p:nvSpPr>
        <p:spPr>
          <a:xfrm>
            <a:off x="305640" y="432000"/>
            <a:ext cx="0" cy="2376000"/>
          </a:xfrm>
          <a:prstGeom prst="line">
            <a:avLst/>
          </a:prstGeom>
          <a:ln w="25200">
            <a:solidFill>
              <a:srgbClr val="f4a26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7" name=""/>
          <p:cNvSpPr txBox="1"/>
          <p:nvPr/>
        </p:nvSpPr>
        <p:spPr>
          <a:xfrm>
            <a:off x="1681200" y="604440"/>
            <a:ext cx="2494080" cy="687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780" spc="-1" strike="noStrike">
                <a:solidFill>
                  <a:srgbClr val="ffffff"/>
                </a:solidFill>
                <a:latin typeface="LMSans10"/>
                <a:ea typeface="LMSans10"/>
              </a:rPr>
              <a:t>Thank you.</a:t>
            </a:r>
            <a:endParaRPr b="0" lang="en-US" sz="37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8" name=""/>
          <p:cNvSpPr/>
          <p:nvPr/>
        </p:nvSpPr>
        <p:spPr>
          <a:xfrm>
            <a:off x="359640" y="2203200"/>
            <a:ext cx="1613520" cy="397080"/>
          </a:xfrm>
          <a:custGeom>
            <a:avLst/>
            <a:gdLst/>
            <a:ahLst/>
            <a:rect l="0" t="0" r="r" b="b"/>
            <a:pathLst>
              <a:path w="4482" h="1103">
                <a:moveTo>
                  <a:pt x="0" y="961"/>
                </a:moveTo>
                <a:lnTo>
                  <a:pt x="0" y="140"/>
                </a:lnTo>
                <a:cubicBezTo>
                  <a:pt x="0" y="63"/>
                  <a:pt x="63" y="0"/>
                  <a:pt x="141" y="0"/>
                </a:cubicBezTo>
                <a:lnTo>
                  <a:pt x="4341" y="0"/>
                </a:lnTo>
                <a:cubicBezTo>
                  <a:pt x="4419" y="0"/>
                  <a:pt x="4482" y="63"/>
                  <a:pt x="4482" y="140"/>
                </a:cubicBezTo>
                <a:lnTo>
                  <a:pt x="4482" y="961"/>
                </a:lnTo>
                <a:cubicBezTo>
                  <a:pt x="4482" y="1040"/>
                  <a:pt x="4419" y="1103"/>
                  <a:pt x="4341" y="1103"/>
                </a:cubicBezTo>
                <a:lnTo>
                  <a:pt x="141" y="1103"/>
                </a:lnTo>
                <a:cubicBezTo>
                  <a:pt x="63" y="1103"/>
                  <a:pt x="0" y="1040"/>
                  <a:pt x="0" y="961"/>
                </a:cubicBezTo>
                <a:close/>
              </a:path>
            </a:pathLst>
          </a:custGeom>
          <a:solidFill>
            <a:srgbClr val="0a3a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9" name=""/>
          <p:cNvSpPr/>
          <p:nvPr/>
        </p:nvSpPr>
        <p:spPr>
          <a:xfrm>
            <a:off x="359640" y="2203200"/>
            <a:ext cx="1613520" cy="397080"/>
          </a:xfrm>
          <a:custGeom>
            <a:avLst/>
            <a:gdLst/>
            <a:ahLst/>
            <a:rect l="0" t="0" r="r" b="b"/>
            <a:pathLst>
              <a:path w="4482" h="1103">
                <a:moveTo>
                  <a:pt x="0" y="961"/>
                </a:moveTo>
                <a:lnTo>
                  <a:pt x="0" y="140"/>
                </a:lnTo>
                <a:cubicBezTo>
                  <a:pt x="0" y="63"/>
                  <a:pt x="63" y="0"/>
                  <a:pt x="141" y="0"/>
                </a:cubicBezTo>
                <a:lnTo>
                  <a:pt x="4341" y="0"/>
                </a:lnTo>
                <a:cubicBezTo>
                  <a:pt x="4419" y="0"/>
                  <a:pt x="4482" y="63"/>
                  <a:pt x="4482" y="140"/>
                </a:cubicBezTo>
                <a:lnTo>
                  <a:pt x="4482" y="961"/>
                </a:lnTo>
                <a:cubicBezTo>
                  <a:pt x="4482" y="1040"/>
                  <a:pt x="4419" y="1103"/>
                  <a:pt x="4341" y="1103"/>
                </a:cubicBezTo>
                <a:lnTo>
                  <a:pt x="141" y="1103"/>
                </a:lnTo>
                <a:cubicBezTo>
                  <a:pt x="63" y="1103"/>
                  <a:pt x="0" y="1040"/>
                  <a:pt x="0" y="961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0" name=""/>
          <p:cNvSpPr txBox="1"/>
          <p:nvPr/>
        </p:nvSpPr>
        <p:spPr>
          <a:xfrm>
            <a:off x="2005560" y="1338840"/>
            <a:ext cx="175500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30" spc="-1" strike="noStrike">
                <a:solidFill>
                  <a:srgbClr val="f4a261"/>
                </a:solidFill>
                <a:latin typeface="LMSans12"/>
                <a:ea typeface="LMSans12"/>
              </a:rPr>
              <a:t>Questions &amp; Discussion</a:t>
            </a:r>
            <a:endParaRPr b="0" lang="en-US" sz="14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1" name=""/>
          <p:cNvSpPr txBox="1"/>
          <p:nvPr/>
        </p:nvSpPr>
        <p:spPr>
          <a:xfrm>
            <a:off x="1099440" y="2259720"/>
            <a:ext cx="1382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90" spc="-1" strike="noStrike">
                <a:solidFill>
                  <a:srgbClr val="f4a261"/>
                </a:solidFill>
                <a:latin typeface="Font Awesome 5 Brands Regular"/>
                <a:ea typeface="Font Awesome 5 Brands Regular"/>
              </a:rPr>
              <a:t>§</a:t>
            </a:r>
            <a:endParaRPr b="0" lang="en-US" sz="10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2" name=""/>
          <p:cNvSpPr/>
          <p:nvPr/>
        </p:nvSpPr>
        <p:spPr>
          <a:xfrm>
            <a:off x="2073240" y="2203200"/>
            <a:ext cx="1613520" cy="378720"/>
          </a:xfrm>
          <a:custGeom>
            <a:avLst/>
            <a:gdLst/>
            <a:ahLst/>
            <a:rect l="0" t="0" r="r" b="b"/>
            <a:pathLst>
              <a:path w="4482" h="1052">
                <a:moveTo>
                  <a:pt x="0" y="912"/>
                </a:moveTo>
                <a:lnTo>
                  <a:pt x="0" y="140"/>
                </a:lnTo>
                <a:cubicBezTo>
                  <a:pt x="0" y="63"/>
                  <a:pt x="63" y="0"/>
                  <a:pt x="141" y="0"/>
                </a:cubicBezTo>
                <a:lnTo>
                  <a:pt x="4341" y="0"/>
                </a:lnTo>
                <a:cubicBezTo>
                  <a:pt x="4419" y="0"/>
                  <a:pt x="4482" y="63"/>
                  <a:pt x="4482" y="140"/>
                </a:cubicBezTo>
                <a:lnTo>
                  <a:pt x="4482" y="912"/>
                </a:lnTo>
                <a:cubicBezTo>
                  <a:pt x="4482" y="989"/>
                  <a:pt x="4419" y="1052"/>
                  <a:pt x="4341" y="1052"/>
                </a:cubicBezTo>
                <a:lnTo>
                  <a:pt x="141" y="1052"/>
                </a:lnTo>
                <a:cubicBezTo>
                  <a:pt x="63" y="1052"/>
                  <a:pt x="0" y="989"/>
                  <a:pt x="0" y="912"/>
                </a:cubicBezTo>
                <a:close/>
              </a:path>
            </a:pathLst>
          </a:custGeom>
          <a:solidFill>
            <a:srgbClr val="0a3a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3" name=""/>
          <p:cNvSpPr/>
          <p:nvPr/>
        </p:nvSpPr>
        <p:spPr>
          <a:xfrm>
            <a:off x="2073240" y="2203200"/>
            <a:ext cx="1613520" cy="378720"/>
          </a:xfrm>
          <a:custGeom>
            <a:avLst/>
            <a:gdLst/>
            <a:ahLst/>
            <a:rect l="0" t="0" r="r" b="b"/>
            <a:pathLst>
              <a:path w="4482" h="1052">
                <a:moveTo>
                  <a:pt x="0" y="912"/>
                </a:moveTo>
                <a:lnTo>
                  <a:pt x="0" y="140"/>
                </a:lnTo>
                <a:cubicBezTo>
                  <a:pt x="0" y="63"/>
                  <a:pt x="63" y="0"/>
                  <a:pt x="141" y="0"/>
                </a:cubicBezTo>
                <a:lnTo>
                  <a:pt x="4341" y="0"/>
                </a:lnTo>
                <a:cubicBezTo>
                  <a:pt x="4419" y="0"/>
                  <a:pt x="4482" y="63"/>
                  <a:pt x="4482" y="140"/>
                </a:cubicBezTo>
                <a:lnTo>
                  <a:pt x="4482" y="912"/>
                </a:lnTo>
                <a:cubicBezTo>
                  <a:pt x="4482" y="989"/>
                  <a:pt x="4419" y="1052"/>
                  <a:pt x="4341" y="1052"/>
                </a:cubicBezTo>
                <a:lnTo>
                  <a:pt x="141" y="1052"/>
                </a:lnTo>
                <a:cubicBezTo>
                  <a:pt x="63" y="1052"/>
                  <a:pt x="0" y="989"/>
                  <a:pt x="0" y="912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4" name=""/>
          <p:cNvSpPr txBox="1"/>
          <p:nvPr/>
        </p:nvSpPr>
        <p:spPr>
          <a:xfrm>
            <a:off x="591840" y="2419560"/>
            <a:ext cx="11725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ffffff"/>
                </a:solidFill>
                <a:latin typeface="LMMono8"/>
                <a:ea typeface="LMMono8"/>
              </a:rPr>
              <a:t>amsorrytola/scm-policy-india-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5" name=""/>
          <p:cNvSpPr txBox="1"/>
          <p:nvPr/>
        </p:nvSpPr>
        <p:spPr>
          <a:xfrm>
            <a:off x="2810880" y="2245680"/>
            <a:ext cx="1382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9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#</a:t>
            </a:r>
            <a:endParaRPr b="0" lang="en-US" sz="10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6" name=""/>
          <p:cNvSpPr/>
          <p:nvPr/>
        </p:nvSpPr>
        <p:spPr>
          <a:xfrm>
            <a:off x="3786840" y="2203200"/>
            <a:ext cx="1613520" cy="397800"/>
          </a:xfrm>
          <a:custGeom>
            <a:avLst/>
            <a:gdLst/>
            <a:ahLst/>
            <a:rect l="0" t="0" r="r" b="b"/>
            <a:pathLst>
              <a:path w="4482" h="1105">
                <a:moveTo>
                  <a:pt x="0" y="964"/>
                </a:moveTo>
                <a:lnTo>
                  <a:pt x="0" y="140"/>
                </a:lnTo>
                <a:cubicBezTo>
                  <a:pt x="0" y="63"/>
                  <a:pt x="63" y="0"/>
                  <a:pt x="141" y="0"/>
                </a:cubicBezTo>
                <a:lnTo>
                  <a:pt x="4341" y="0"/>
                </a:lnTo>
                <a:cubicBezTo>
                  <a:pt x="4419" y="0"/>
                  <a:pt x="4482" y="63"/>
                  <a:pt x="4482" y="140"/>
                </a:cubicBezTo>
                <a:lnTo>
                  <a:pt x="4482" y="964"/>
                </a:lnTo>
                <a:cubicBezTo>
                  <a:pt x="4482" y="1041"/>
                  <a:pt x="4419" y="1105"/>
                  <a:pt x="4341" y="1105"/>
                </a:cubicBezTo>
                <a:lnTo>
                  <a:pt x="141" y="1105"/>
                </a:lnTo>
                <a:cubicBezTo>
                  <a:pt x="63" y="1105"/>
                  <a:pt x="0" y="1041"/>
                  <a:pt x="0" y="964"/>
                </a:cubicBezTo>
                <a:close/>
              </a:path>
            </a:pathLst>
          </a:custGeom>
          <a:solidFill>
            <a:srgbClr val="0a3a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7" name=""/>
          <p:cNvSpPr/>
          <p:nvPr/>
        </p:nvSpPr>
        <p:spPr>
          <a:xfrm>
            <a:off x="3786840" y="2203200"/>
            <a:ext cx="1613520" cy="397800"/>
          </a:xfrm>
          <a:custGeom>
            <a:avLst/>
            <a:gdLst/>
            <a:ahLst/>
            <a:rect l="0" t="0" r="r" b="b"/>
            <a:pathLst>
              <a:path w="4482" h="1105">
                <a:moveTo>
                  <a:pt x="0" y="964"/>
                </a:moveTo>
                <a:lnTo>
                  <a:pt x="0" y="140"/>
                </a:lnTo>
                <a:cubicBezTo>
                  <a:pt x="0" y="63"/>
                  <a:pt x="63" y="0"/>
                  <a:pt x="141" y="0"/>
                </a:cubicBezTo>
                <a:lnTo>
                  <a:pt x="4341" y="0"/>
                </a:lnTo>
                <a:cubicBezTo>
                  <a:pt x="4419" y="0"/>
                  <a:pt x="4482" y="63"/>
                  <a:pt x="4482" y="140"/>
                </a:cubicBezTo>
                <a:lnTo>
                  <a:pt x="4482" y="964"/>
                </a:lnTo>
                <a:cubicBezTo>
                  <a:pt x="4482" y="1041"/>
                  <a:pt x="4419" y="1105"/>
                  <a:pt x="4341" y="1105"/>
                </a:cubicBezTo>
                <a:lnTo>
                  <a:pt x="141" y="1105"/>
                </a:lnTo>
                <a:cubicBezTo>
                  <a:pt x="63" y="1105"/>
                  <a:pt x="0" y="1041"/>
                  <a:pt x="0" y="964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8" name=""/>
          <p:cNvSpPr txBox="1"/>
          <p:nvPr/>
        </p:nvSpPr>
        <p:spPr>
          <a:xfrm>
            <a:off x="2402640" y="2394720"/>
            <a:ext cx="957960" cy="11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ffffff"/>
                </a:solidFill>
                <a:latin typeface="LMSans8"/>
                <a:ea typeface="LMSans8"/>
              </a:rPr>
              <a:t>mohammed_ta@hs.iitr.ac.in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9" name=""/>
          <p:cNvSpPr txBox="1"/>
          <p:nvPr/>
        </p:nvSpPr>
        <p:spPr>
          <a:xfrm>
            <a:off x="4526640" y="2260800"/>
            <a:ext cx="1382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9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</a:t>
            </a:r>
            <a:endParaRPr b="0" lang="en-US" sz="10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0" name=""/>
          <p:cNvSpPr txBox="1"/>
          <p:nvPr/>
        </p:nvSpPr>
        <p:spPr>
          <a:xfrm>
            <a:off x="4049280" y="2420640"/>
            <a:ext cx="10918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ffffff"/>
                </a:solidFill>
                <a:latin typeface="LMMono8"/>
                <a:ea typeface="LMMono8"/>
              </a:rPr>
              <a:t>scm-policy-india.vercel.app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1" name=""/>
          <p:cNvSpPr txBox="1"/>
          <p:nvPr/>
        </p:nvSpPr>
        <p:spPr>
          <a:xfrm>
            <a:off x="1838880" y="2902680"/>
            <a:ext cx="858600" cy="11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e5e7eb"/>
                </a:solidFill>
                <a:latin typeface="LMSans8"/>
                <a:ea typeface="LMSans8"/>
              </a:rPr>
              <a:t>Mohammed Talha Ansari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2" name=""/>
          <p:cNvSpPr txBox="1"/>
          <p:nvPr/>
        </p:nvSpPr>
        <p:spPr>
          <a:xfrm>
            <a:off x="2753280" y="2909160"/>
            <a:ext cx="7560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00" spc="-1" strike="noStrike">
                <a:solidFill>
                  <a:srgbClr val="e5e7eb"/>
                </a:solidFill>
                <a:latin typeface="LMMathSymbols6"/>
                <a:ea typeface="LMMathSymbols6"/>
              </a:rPr>
              <a:t>·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3" name=""/>
          <p:cNvSpPr txBox="1"/>
          <p:nvPr/>
        </p:nvSpPr>
        <p:spPr>
          <a:xfrm>
            <a:off x="2849040" y="2902680"/>
            <a:ext cx="1075320" cy="11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00" spc="-1" strike="noStrike">
                <a:solidFill>
                  <a:srgbClr val="e5e7eb"/>
                </a:solidFill>
                <a:latin typeface="LMSans8"/>
                <a:ea typeface="LMSans8"/>
              </a:rPr>
              <a:t>BS-MS Economics, IIT Roorkee</a:t>
            </a:r>
            <a:endParaRPr b="0" lang="en-US" sz="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"/>
          <p:cNvSpPr/>
          <p:nvPr/>
        </p:nvSpPr>
        <p:spPr>
          <a:xfrm>
            <a:off x="0" y="0"/>
            <a:ext cx="5760000" cy="3240000"/>
          </a:xfrm>
          <a:custGeom>
            <a:avLst/>
            <a:gdLst/>
            <a:ahLst/>
            <a:rect l="0" t="0" r="r" b="b"/>
            <a:pathLst>
              <a:path w="16000" h="9000">
                <a:moveTo>
                  <a:pt x="0" y="9000"/>
                </a:moveTo>
                <a:lnTo>
                  <a:pt x="16000" y="9000"/>
                </a:lnTo>
                <a:lnTo>
                  <a:pt x="16000" y="0"/>
                </a:lnTo>
                <a:lnTo>
                  <a:pt x="0" y="0"/>
                </a:lnTo>
                <a:lnTo>
                  <a:pt x="0" y="900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5" name=""/>
          <p:cNvSpPr/>
          <p:nvPr/>
        </p:nvSpPr>
        <p:spPr>
          <a:xfrm>
            <a:off x="0" y="0"/>
            <a:ext cx="5760000" cy="250560"/>
          </a:xfrm>
          <a:custGeom>
            <a:avLst/>
            <a:gdLst/>
            <a:ahLst/>
            <a:rect l="0" t="0" r="r" b="b"/>
            <a:pathLst>
              <a:path w="16000" h="696">
                <a:moveTo>
                  <a:pt x="0" y="696"/>
                </a:moveTo>
                <a:lnTo>
                  <a:pt x="16000" y="696"/>
                </a:lnTo>
                <a:lnTo>
                  <a:pt x="16000" y="0"/>
                </a:lnTo>
                <a:lnTo>
                  <a:pt x="0" y="0"/>
                </a:lnTo>
                <a:lnTo>
                  <a:pt x="0" y="696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6" name=""/>
          <p:cNvSpPr/>
          <p:nvPr/>
        </p:nvSpPr>
        <p:spPr>
          <a:xfrm>
            <a:off x="359640" y="457920"/>
            <a:ext cx="5040720" cy="1532880"/>
          </a:xfrm>
          <a:custGeom>
            <a:avLst/>
            <a:gdLst/>
            <a:ahLst/>
            <a:rect l="0" t="0" r="r" b="b"/>
            <a:pathLst>
              <a:path w="14002" h="4258">
                <a:moveTo>
                  <a:pt x="0" y="4131"/>
                </a:moveTo>
                <a:lnTo>
                  <a:pt x="0" y="127"/>
                </a:lnTo>
                <a:cubicBezTo>
                  <a:pt x="0" y="57"/>
                  <a:pt x="57" y="0"/>
                  <a:pt x="127" y="0"/>
                </a:cubicBezTo>
                <a:lnTo>
                  <a:pt x="13875" y="0"/>
                </a:lnTo>
                <a:cubicBezTo>
                  <a:pt x="13945" y="0"/>
                  <a:pt x="14002" y="57"/>
                  <a:pt x="14002" y="127"/>
                </a:cubicBezTo>
                <a:lnTo>
                  <a:pt x="14002" y="4131"/>
                </a:lnTo>
                <a:cubicBezTo>
                  <a:pt x="14002" y="4201"/>
                  <a:pt x="13945" y="4258"/>
                  <a:pt x="13875" y="4258"/>
                </a:cubicBezTo>
                <a:lnTo>
                  <a:pt x="127" y="4258"/>
                </a:lnTo>
                <a:cubicBezTo>
                  <a:pt x="57" y="4258"/>
                  <a:pt x="0" y="4201"/>
                  <a:pt x="0" y="4131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7" name=""/>
          <p:cNvSpPr/>
          <p:nvPr/>
        </p:nvSpPr>
        <p:spPr>
          <a:xfrm>
            <a:off x="367560" y="677520"/>
            <a:ext cx="5025240" cy="1305720"/>
          </a:xfrm>
          <a:custGeom>
            <a:avLst/>
            <a:gdLst/>
            <a:ahLst/>
            <a:rect l="0" t="0" r="r" b="b"/>
            <a:pathLst>
              <a:path w="13959" h="3627">
                <a:moveTo>
                  <a:pt x="0" y="3520"/>
                </a:moveTo>
                <a:lnTo>
                  <a:pt x="0" y="0"/>
                </a:lnTo>
                <a:lnTo>
                  <a:pt x="13959" y="0"/>
                </a:lnTo>
                <a:lnTo>
                  <a:pt x="13959" y="3520"/>
                </a:lnTo>
                <a:cubicBezTo>
                  <a:pt x="13959" y="3580"/>
                  <a:pt x="13911" y="3627"/>
                  <a:pt x="13853" y="3627"/>
                </a:cubicBezTo>
                <a:lnTo>
                  <a:pt x="105" y="3627"/>
                </a:lnTo>
                <a:cubicBezTo>
                  <a:pt x="47" y="3627"/>
                  <a:pt x="0" y="3580"/>
                  <a:pt x="0" y="3520"/>
                </a:cubicBezTo>
                <a:close/>
              </a:path>
            </a:pathLst>
          </a:custGeom>
          <a:solidFill>
            <a:srgbClr val="ecf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8" name=""/>
          <p:cNvSpPr/>
          <p:nvPr/>
        </p:nvSpPr>
        <p:spPr>
          <a:xfrm>
            <a:off x="367560" y="465480"/>
            <a:ext cx="5025240" cy="212400"/>
          </a:xfrm>
          <a:custGeom>
            <a:avLst/>
            <a:gdLst/>
            <a:ahLst/>
            <a:rect l="0" t="0" r="r" b="b"/>
            <a:pathLst>
              <a:path w="13959" h="590">
                <a:moveTo>
                  <a:pt x="0" y="590"/>
                </a:moveTo>
                <a:lnTo>
                  <a:pt x="0" y="106"/>
                </a:lnTo>
                <a:cubicBezTo>
                  <a:pt x="0" y="48"/>
                  <a:pt x="47" y="0"/>
                  <a:pt x="105" y="0"/>
                </a:cubicBezTo>
                <a:lnTo>
                  <a:pt x="13853" y="0"/>
                </a:lnTo>
                <a:cubicBezTo>
                  <a:pt x="13911" y="0"/>
                  <a:pt x="13959" y="48"/>
                  <a:pt x="13959" y="106"/>
                </a:cubicBezTo>
                <a:lnTo>
                  <a:pt x="13959" y="590"/>
                </a:lnTo>
                <a:lnTo>
                  <a:pt x="0" y="590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9" name=""/>
          <p:cNvSpPr txBox="1"/>
          <p:nvPr/>
        </p:nvSpPr>
        <p:spPr>
          <a:xfrm>
            <a:off x="100080" y="5760"/>
            <a:ext cx="750600" cy="21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LMSans10"/>
                <a:ea typeface="LMSans10"/>
              </a:rPr>
              <a:t>References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0" name=""/>
          <p:cNvSpPr txBox="1"/>
          <p:nvPr/>
        </p:nvSpPr>
        <p:spPr>
          <a:xfrm>
            <a:off x="466920" y="48528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fffff"/>
                </a:solidFill>
                <a:latin typeface="Font Awesome 5 Free Solid"/>
                <a:ea typeface="Font Awesome 5 Free Solid"/>
              </a:rPr>
              <a:t>_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1" name=""/>
          <p:cNvSpPr txBox="1"/>
          <p:nvPr/>
        </p:nvSpPr>
        <p:spPr>
          <a:xfrm>
            <a:off x="657720" y="475560"/>
            <a:ext cx="6818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ffffff"/>
                </a:solidFill>
                <a:latin typeface="LMSans10"/>
                <a:ea typeface="LMSans10"/>
              </a:rPr>
              <a:t>Methodology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2" name=""/>
          <p:cNvSpPr txBox="1"/>
          <p:nvPr/>
        </p:nvSpPr>
        <p:spPr>
          <a:xfrm>
            <a:off x="603360" y="72144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3" name=""/>
          <p:cNvSpPr txBox="1"/>
          <p:nvPr/>
        </p:nvSpPr>
        <p:spPr>
          <a:xfrm>
            <a:off x="740160" y="711360"/>
            <a:ext cx="20001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Abadie, Diamond &amp; Hainmueller (2010).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4" name=""/>
          <p:cNvSpPr txBox="1"/>
          <p:nvPr/>
        </p:nvSpPr>
        <p:spPr>
          <a:xfrm>
            <a:off x="2784240" y="711360"/>
            <a:ext cx="8618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Synthetic Control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5" name=""/>
          <p:cNvSpPr txBox="1"/>
          <p:nvPr/>
        </p:nvSpPr>
        <p:spPr>
          <a:xfrm>
            <a:off x="3681000" y="711360"/>
            <a:ext cx="4550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Methods.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6" name=""/>
          <p:cNvSpPr txBox="1"/>
          <p:nvPr/>
        </p:nvSpPr>
        <p:spPr>
          <a:xfrm>
            <a:off x="4189680" y="711360"/>
            <a:ext cx="8251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JASA</a:t>
            </a:r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, 105(490),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7" name=""/>
          <p:cNvSpPr txBox="1"/>
          <p:nvPr/>
        </p:nvSpPr>
        <p:spPr>
          <a:xfrm>
            <a:off x="740880" y="850680"/>
            <a:ext cx="4442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493–505.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8" name=""/>
          <p:cNvSpPr txBox="1"/>
          <p:nvPr/>
        </p:nvSpPr>
        <p:spPr>
          <a:xfrm>
            <a:off x="603360" y="105012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9" name=""/>
          <p:cNvSpPr txBox="1"/>
          <p:nvPr/>
        </p:nvSpPr>
        <p:spPr>
          <a:xfrm>
            <a:off x="740160" y="1040400"/>
            <a:ext cx="20001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Abadie, Diamond &amp; Hainmueller (2015).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0" name=""/>
          <p:cNvSpPr txBox="1"/>
          <p:nvPr/>
        </p:nvSpPr>
        <p:spPr>
          <a:xfrm>
            <a:off x="2784240" y="1040400"/>
            <a:ext cx="2425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Comparative Politics and the SCM.</a:t>
            </a:r>
            <a:r>
              <a:rPr b="0" i="1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 AJPS</a:t>
            </a:r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, 59(2),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1" name=""/>
          <p:cNvSpPr txBox="1"/>
          <p:nvPr/>
        </p:nvSpPr>
        <p:spPr>
          <a:xfrm>
            <a:off x="740880" y="1179720"/>
            <a:ext cx="4442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495–510.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2" name=""/>
          <p:cNvSpPr txBox="1"/>
          <p:nvPr/>
        </p:nvSpPr>
        <p:spPr>
          <a:xfrm>
            <a:off x="603360" y="137916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3" name=""/>
          <p:cNvSpPr txBox="1"/>
          <p:nvPr/>
        </p:nvSpPr>
        <p:spPr>
          <a:xfrm>
            <a:off x="740160" y="1369440"/>
            <a:ext cx="7351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Abadie (2021).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4" name=""/>
          <p:cNvSpPr txBox="1"/>
          <p:nvPr/>
        </p:nvSpPr>
        <p:spPr>
          <a:xfrm>
            <a:off x="1523880" y="1369440"/>
            <a:ext cx="12520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Using Synthetic Controls.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5" name=""/>
          <p:cNvSpPr txBox="1"/>
          <p:nvPr/>
        </p:nvSpPr>
        <p:spPr>
          <a:xfrm>
            <a:off x="2822400" y="1369440"/>
            <a:ext cx="10447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JEL</a:t>
            </a:r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, 59(2), 391–425.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6" name=""/>
          <p:cNvSpPr txBox="1"/>
          <p:nvPr/>
        </p:nvSpPr>
        <p:spPr>
          <a:xfrm>
            <a:off x="603360" y="156888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7" name=""/>
          <p:cNvSpPr txBox="1"/>
          <p:nvPr/>
        </p:nvSpPr>
        <p:spPr>
          <a:xfrm>
            <a:off x="744120" y="1559160"/>
            <a:ext cx="11772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Brodersen et al. (2015).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8" name=""/>
          <p:cNvSpPr txBox="1"/>
          <p:nvPr/>
        </p:nvSpPr>
        <p:spPr>
          <a:xfrm>
            <a:off x="1971360" y="1559160"/>
            <a:ext cx="770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Inferring Causal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9" name=""/>
          <p:cNvSpPr txBox="1"/>
          <p:nvPr/>
        </p:nvSpPr>
        <p:spPr>
          <a:xfrm>
            <a:off x="2777400" y="1559160"/>
            <a:ext cx="21542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Impact Using BSTS.</a:t>
            </a:r>
            <a:r>
              <a:rPr b="0" i="1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 AOAS</a:t>
            </a:r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, 9(1), 247–274.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0" name=""/>
          <p:cNvSpPr txBox="1"/>
          <p:nvPr/>
        </p:nvSpPr>
        <p:spPr>
          <a:xfrm>
            <a:off x="603360" y="175896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4a261"/>
                </a:solidFill>
                <a:latin typeface="Font Awesome 5 Free Solid"/>
                <a:ea typeface="Font Awesome 5 Free Solid"/>
              </a:rPr>
              <a:t>·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1" name=""/>
          <p:cNvSpPr txBox="1"/>
          <p:nvPr/>
        </p:nvSpPr>
        <p:spPr>
          <a:xfrm>
            <a:off x="744120" y="1748880"/>
            <a:ext cx="15170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Doudchenko &amp; Imbens (2016).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2" name=""/>
          <p:cNvSpPr/>
          <p:nvPr/>
        </p:nvSpPr>
        <p:spPr>
          <a:xfrm>
            <a:off x="359640" y="2198520"/>
            <a:ext cx="5040720" cy="700200"/>
          </a:xfrm>
          <a:custGeom>
            <a:avLst/>
            <a:gdLst/>
            <a:ahLst/>
            <a:rect l="0" t="0" r="r" b="b"/>
            <a:pathLst>
              <a:path w="14002" h="1945">
                <a:moveTo>
                  <a:pt x="0" y="1818"/>
                </a:moveTo>
                <a:lnTo>
                  <a:pt x="0" y="126"/>
                </a:lnTo>
                <a:cubicBezTo>
                  <a:pt x="0" y="56"/>
                  <a:pt x="57" y="0"/>
                  <a:pt x="127" y="0"/>
                </a:cubicBezTo>
                <a:lnTo>
                  <a:pt x="13875" y="0"/>
                </a:lnTo>
                <a:cubicBezTo>
                  <a:pt x="13945" y="0"/>
                  <a:pt x="14002" y="56"/>
                  <a:pt x="14002" y="126"/>
                </a:cubicBezTo>
                <a:lnTo>
                  <a:pt x="14002" y="1818"/>
                </a:lnTo>
                <a:cubicBezTo>
                  <a:pt x="14002" y="1888"/>
                  <a:pt x="13945" y="1945"/>
                  <a:pt x="13875" y="1945"/>
                </a:cubicBezTo>
                <a:lnTo>
                  <a:pt x="127" y="1945"/>
                </a:lnTo>
                <a:cubicBezTo>
                  <a:pt x="57" y="1945"/>
                  <a:pt x="0" y="1888"/>
                  <a:pt x="0" y="1818"/>
                </a:cubicBez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53" name=""/>
          <p:cNvSpPr/>
          <p:nvPr/>
        </p:nvSpPr>
        <p:spPr>
          <a:xfrm>
            <a:off x="367560" y="2418120"/>
            <a:ext cx="5025240" cy="473040"/>
          </a:xfrm>
          <a:custGeom>
            <a:avLst/>
            <a:gdLst/>
            <a:ahLst/>
            <a:rect l="0" t="0" r="r" b="b"/>
            <a:pathLst>
              <a:path w="13959" h="1314">
                <a:moveTo>
                  <a:pt x="0" y="1208"/>
                </a:moveTo>
                <a:lnTo>
                  <a:pt x="0" y="0"/>
                </a:lnTo>
                <a:lnTo>
                  <a:pt x="13959" y="0"/>
                </a:lnTo>
                <a:lnTo>
                  <a:pt x="13959" y="1208"/>
                </a:lnTo>
                <a:cubicBezTo>
                  <a:pt x="13959" y="1266"/>
                  <a:pt x="13911" y="1314"/>
                  <a:pt x="13853" y="1314"/>
                </a:cubicBezTo>
                <a:lnTo>
                  <a:pt x="105" y="1314"/>
                </a:lnTo>
                <a:cubicBezTo>
                  <a:pt x="47" y="1314"/>
                  <a:pt x="0" y="1266"/>
                  <a:pt x="0" y="1208"/>
                </a:cubicBezTo>
                <a:close/>
              </a:path>
            </a:pathLst>
          </a:custGeom>
          <a:solidFill>
            <a:srgbClr val="ecf1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4" name=""/>
          <p:cNvSpPr/>
          <p:nvPr/>
        </p:nvSpPr>
        <p:spPr>
          <a:xfrm>
            <a:off x="367560" y="2206080"/>
            <a:ext cx="5025240" cy="212400"/>
          </a:xfrm>
          <a:custGeom>
            <a:avLst/>
            <a:gdLst/>
            <a:ahLst/>
            <a:rect l="0" t="0" r="r" b="b"/>
            <a:pathLst>
              <a:path w="13959" h="590">
                <a:moveTo>
                  <a:pt x="0" y="590"/>
                </a:moveTo>
                <a:lnTo>
                  <a:pt x="0" y="106"/>
                </a:lnTo>
                <a:cubicBezTo>
                  <a:pt x="0" y="48"/>
                  <a:pt x="47" y="0"/>
                  <a:pt x="105" y="0"/>
                </a:cubicBezTo>
                <a:lnTo>
                  <a:pt x="13853" y="0"/>
                </a:lnTo>
                <a:cubicBezTo>
                  <a:pt x="13911" y="0"/>
                  <a:pt x="13959" y="48"/>
                  <a:pt x="13959" y="106"/>
                </a:cubicBezTo>
                <a:lnTo>
                  <a:pt x="13959" y="590"/>
                </a:lnTo>
                <a:lnTo>
                  <a:pt x="0" y="590"/>
                </a:lnTo>
                <a:close/>
              </a:path>
            </a:pathLst>
          </a:custGeom>
          <a:solidFill>
            <a:srgbClr val="0f4c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55" name=""/>
          <p:cNvSpPr txBox="1"/>
          <p:nvPr/>
        </p:nvSpPr>
        <p:spPr>
          <a:xfrm>
            <a:off x="2307600" y="1748880"/>
            <a:ext cx="28065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Balancing, Regression, DiD and SCM.</a:t>
            </a:r>
            <a:r>
              <a:rPr b="0" i="1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 NBER WP</a:t>
            </a:r>
            <a:r>
              <a:rPr b="0" lang="en-US" sz="900" spc="-1" strike="noStrike">
                <a:solidFill>
                  <a:srgbClr val="0a3a66"/>
                </a:solidFill>
                <a:latin typeface="LMSans9"/>
                <a:ea typeface="LMSans9"/>
              </a:rPr>
              <a:t> 22791.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6" name=""/>
          <p:cNvSpPr txBox="1"/>
          <p:nvPr/>
        </p:nvSpPr>
        <p:spPr>
          <a:xfrm>
            <a:off x="466920" y="2225520"/>
            <a:ext cx="113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ffffff"/>
                </a:solidFill>
                <a:latin typeface="Font Awesome 5 Free Solid"/>
                <a:ea typeface="Font Awesome 5 Free Solid"/>
              </a:rPr>
              <a:t>_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7" name=""/>
          <p:cNvSpPr txBox="1"/>
          <p:nvPr/>
        </p:nvSpPr>
        <p:spPr>
          <a:xfrm>
            <a:off x="657720" y="2216160"/>
            <a:ext cx="102492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ffffff"/>
                </a:solidFill>
                <a:latin typeface="LMSans10"/>
                <a:ea typeface="LMSans10"/>
              </a:rPr>
              <a:t>Application &amp; Data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8" name=""/>
          <p:cNvSpPr txBox="1"/>
          <p:nvPr/>
        </p:nvSpPr>
        <p:spPr>
          <a:xfrm>
            <a:off x="466920" y="2451240"/>
            <a:ext cx="4946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Chaudhuri,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9" name=""/>
          <p:cNvSpPr txBox="1"/>
          <p:nvPr/>
        </p:nvSpPr>
        <p:spPr>
          <a:xfrm>
            <a:off x="1009800" y="2451240"/>
            <a:ext cx="1350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K.,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0" name=""/>
          <p:cNvSpPr txBox="1"/>
          <p:nvPr/>
        </p:nvSpPr>
        <p:spPr>
          <a:xfrm>
            <a:off x="1189800" y="2451240"/>
            <a:ext cx="308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&amp; Jha,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1" name=""/>
          <p:cNvSpPr txBox="1"/>
          <p:nvPr/>
        </p:nvSpPr>
        <p:spPr>
          <a:xfrm>
            <a:off x="1548720" y="2451240"/>
            <a:ext cx="107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N.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2" name=""/>
          <p:cNvSpPr txBox="1"/>
          <p:nvPr/>
        </p:nvSpPr>
        <p:spPr>
          <a:xfrm>
            <a:off x="1698120" y="2451240"/>
            <a:ext cx="3315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(2024).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3" name=""/>
          <p:cNvSpPr txBox="1"/>
          <p:nvPr/>
        </p:nvSpPr>
        <p:spPr>
          <a:xfrm>
            <a:off x="2097720" y="2451240"/>
            <a:ext cx="3358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Alcohol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4" name=""/>
          <p:cNvSpPr txBox="1"/>
          <p:nvPr/>
        </p:nvSpPr>
        <p:spPr>
          <a:xfrm>
            <a:off x="2479680" y="2451240"/>
            <a:ext cx="7138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Ban and Crime: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5" name=""/>
          <p:cNvSpPr txBox="1"/>
          <p:nvPr/>
        </p:nvSpPr>
        <p:spPr>
          <a:xfrm>
            <a:off x="3269880" y="2451240"/>
            <a:ext cx="16192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The ABCs of the Bihar Prohibition.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6" name=""/>
          <p:cNvSpPr txBox="1"/>
          <p:nvPr/>
        </p:nvSpPr>
        <p:spPr>
          <a:xfrm>
            <a:off x="4992480" y="2451240"/>
            <a:ext cx="3117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EDCC,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7" name=""/>
          <p:cNvSpPr txBox="1"/>
          <p:nvPr/>
        </p:nvSpPr>
        <p:spPr>
          <a:xfrm>
            <a:off x="464040" y="2571480"/>
            <a:ext cx="276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72(4).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8" name=""/>
          <p:cNvSpPr txBox="1"/>
          <p:nvPr/>
        </p:nvSpPr>
        <p:spPr>
          <a:xfrm>
            <a:off x="860760" y="2571480"/>
            <a:ext cx="261360" cy="145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90" spc="-1" strike="noStrike">
                <a:solidFill>
                  <a:srgbClr val="000000"/>
                </a:solidFill>
                <a:latin typeface="LMSans10"/>
                <a:ea typeface="LMSans10"/>
              </a:rPr>
              <a:t>Data: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9" name=""/>
          <p:cNvSpPr txBox="1"/>
          <p:nvPr/>
        </p:nvSpPr>
        <p:spPr>
          <a:xfrm>
            <a:off x="1198440" y="2571480"/>
            <a:ext cx="8161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MoRTH 2010–23;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0" name=""/>
          <p:cNvSpPr txBox="1"/>
          <p:nvPr/>
        </p:nvSpPr>
        <p:spPr>
          <a:xfrm>
            <a:off x="2090520" y="2571480"/>
            <a:ext cx="172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RBI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1" name=""/>
          <p:cNvSpPr txBox="1"/>
          <p:nvPr/>
        </p:nvSpPr>
        <p:spPr>
          <a:xfrm>
            <a:off x="2314080" y="2571480"/>
            <a:ext cx="749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Handbook (T19,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2" name=""/>
          <p:cNvSpPr txBox="1"/>
          <p:nvPr/>
        </p:nvSpPr>
        <p:spPr>
          <a:xfrm>
            <a:off x="3141720" y="2571480"/>
            <a:ext cx="3085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T168);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3" name=""/>
          <p:cNvSpPr txBox="1"/>
          <p:nvPr/>
        </p:nvSpPr>
        <p:spPr>
          <a:xfrm>
            <a:off x="3509640" y="2571480"/>
            <a:ext cx="843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Census 2011 PCA.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4" name=""/>
          <p:cNvSpPr txBox="1"/>
          <p:nvPr/>
        </p:nvSpPr>
        <p:spPr>
          <a:xfrm>
            <a:off x="4435200" y="2571480"/>
            <a:ext cx="1699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Full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5" name=""/>
          <p:cNvSpPr txBox="1"/>
          <p:nvPr/>
        </p:nvSpPr>
        <p:spPr>
          <a:xfrm>
            <a:off x="4652640" y="2571480"/>
            <a:ext cx="6238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provenance in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6" name=""/>
          <p:cNvSpPr txBox="1"/>
          <p:nvPr/>
        </p:nvSpPr>
        <p:spPr>
          <a:xfrm>
            <a:off x="466920" y="2705760"/>
            <a:ext cx="13356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Mono8"/>
                <a:ea typeface="LMMono8"/>
              </a:rPr>
              <a:t>data/raw/bihar/SOURCES.md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7" name=""/>
          <p:cNvSpPr txBox="1"/>
          <p:nvPr/>
        </p:nvSpPr>
        <p:spPr>
          <a:xfrm>
            <a:off x="1811160" y="2691720"/>
            <a:ext cx="1008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000000"/>
                </a:solidFill>
                <a:latin typeface="LMSans8"/>
                <a:ea typeface="LMSans8"/>
              </a:rPr>
              <a:t>.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8" name=""/>
          <p:cNvSpPr txBox="1"/>
          <p:nvPr/>
        </p:nvSpPr>
        <p:spPr>
          <a:xfrm>
            <a:off x="5379480" y="3047400"/>
            <a:ext cx="3376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90" spc="-1" strike="noStrike">
                <a:solidFill>
                  <a:srgbClr val="6b7280"/>
                </a:solidFill>
                <a:latin typeface="LMSans8"/>
                <a:ea typeface="LMSans8"/>
              </a:rPr>
              <a:t>26 / 26</a:t>
            </a:r>
            <a:endParaRPr b="0" lang="en-US" sz="79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